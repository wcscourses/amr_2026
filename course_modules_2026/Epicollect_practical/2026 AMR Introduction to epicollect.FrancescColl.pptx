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23"/>
  </p:notesMasterIdLst>
  <p:sldIdLst>
    <p:sldId id="304" r:id="rId3"/>
    <p:sldId id="294" r:id="rId4"/>
    <p:sldId id="288" r:id="rId5"/>
    <p:sldId id="283" r:id="rId6"/>
    <p:sldId id="289" r:id="rId7"/>
    <p:sldId id="295" r:id="rId8"/>
    <p:sldId id="286" r:id="rId9"/>
    <p:sldId id="275" r:id="rId10"/>
    <p:sldId id="296" r:id="rId11"/>
    <p:sldId id="276" r:id="rId12"/>
    <p:sldId id="277" r:id="rId13"/>
    <p:sldId id="297" r:id="rId14"/>
    <p:sldId id="298" r:id="rId15"/>
    <p:sldId id="299" r:id="rId16"/>
    <p:sldId id="300" r:id="rId17"/>
    <p:sldId id="308" r:id="rId18"/>
    <p:sldId id="302" r:id="rId19"/>
    <p:sldId id="303" r:id="rId20"/>
    <p:sldId id="292" r:id="rId21"/>
    <p:sldId id="306" r:id="rId22"/>
  </p:sldIdLst>
  <p:sldSz cx="12192000" cy="6858000"/>
  <p:notesSz cx="6858000" cy="9144000"/>
  <p:embeddedFontLst>
    <p:embeddedFont>
      <p:font typeface="Aptos Narrow" panose="020B0004020202020204" pitchFamily="34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Georgia " panose="02040502050405020303" pitchFamily="18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T3Ju1Zqn74V9TGDhmWZpsOBsf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5"/>
    <p:restoredTop sz="94655"/>
  </p:normalViewPr>
  <p:slideViewPr>
    <p:cSldViewPr snapToGrid="0">
      <p:cViewPr varScale="1">
        <p:scale>
          <a:sx n="94" d="100"/>
          <a:sy n="94" d="100"/>
        </p:scale>
        <p:origin x="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243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Add screenshot</a:t>
            </a:r>
            <a:r>
              <a:rPr lang="en-GB" baseline="0" dirty="0"/>
              <a:t> with location: make sure accuracy is 25m or less (different phones seem to have different accuracies)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784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837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143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00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076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58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518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E2B71-2E76-CD4C-B59B-C4D94CA4CB4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14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9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9161" y="380843"/>
            <a:ext cx="2683317" cy="8433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475312" y="2661920"/>
            <a:ext cx="4279568" cy="76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5312" y="3611880"/>
            <a:ext cx="4279568" cy="542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noAutofit/>
          </a:bodyPr>
          <a:lstStyle>
            <a:lvl1pPr marL="457200" marR="0" lvl="0" indent="-228600" algn="l" rtl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sldNum" idx="12"/>
          </p:nvPr>
        </p:nvSpPr>
        <p:spPr>
          <a:xfrm>
            <a:off x="10535478" y="6086006"/>
            <a:ext cx="1181210" cy="49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body" idx="2"/>
          </p:nvPr>
        </p:nvSpPr>
        <p:spPr>
          <a:xfrm>
            <a:off x="475312" y="6086007"/>
            <a:ext cx="2958768" cy="4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body" idx="1"/>
          </p:nvPr>
        </p:nvSpPr>
        <p:spPr>
          <a:xfrm>
            <a:off x="475312" y="6086007"/>
            <a:ext cx="2958768" cy="4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2"/>
          </p:nvPr>
        </p:nvSpPr>
        <p:spPr>
          <a:xfrm>
            <a:off x="475312" y="2021304"/>
            <a:ext cx="7784768" cy="347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title"/>
          </p:nvPr>
        </p:nvSpPr>
        <p:spPr>
          <a:xfrm>
            <a:off x="475312" y="951054"/>
            <a:ext cx="7784768" cy="95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10535478" y="6086006"/>
            <a:ext cx="1181210" cy="49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3"/>
          </p:nvPr>
        </p:nvSpPr>
        <p:spPr>
          <a:xfrm>
            <a:off x="3604847" y="6086007"/>
            <a:ext cx="2958768" cy="4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bc6d7cb80_0_89"/>
          <p:cNvSpPr txBox="1">
            <a:spLocks noGrp="1"/>
          </p:cNvSpPr>
          <p:nvPr>
            <p:ph type="title"/>
          </p:nvPr>
        </p:nvSpPr>
        <p:spPr>
          <a:xfrm>
            <a:off x="475311" y="951055"/>
            <a:ext cx="112413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g21bc6d7cb80_0_89"/>
          <p:cNvSpPr txBox="1">
            <a:spLocks noGrp="1"/>
          </p:cNvSpPr>
          <p:nvPr>
            <p:ph type="dt" idx="10"/>
          </p:nvPr>
        </p:nvSpPr>
        <p:spPr>
          <a:xfrm>
            <a:off x="479118" y="6086006"/>
            <a:ext cx="29550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g21bc6d7cb80_0_89"/>
          <p:cNvSpPr txBox="1">
            <a:spLocks noGrp="1"/>
          </p:cNvSpPr>
          <p:nvPr>
            <p:ph type="ftr" idx="11"/>
          </p:nvPr>
        </p:nvSpPr>
        <p:spPr>
          <a:xfrm>
            <a:off x="3604847" y="6086006"/>
            <a:ext cx="29589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g21bc6d7cb80_0_89"/>
          <p:cNvSpPr txBox="1">
            <a:spLocks noGrp="1"/>
          </p:cNvSpPr>
          <p:nvPr>
            <p:ph type="sldNum" idx="12"/>
          </p:nvPr>
        </p:nvSpPr>
        <p:spPr>
          <a:xfrm>
            <a:off x="10535478" y="6086006"/>
            <a:ext cx="11811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F2AC-DEC5-2040-A6B9-09DC45503A64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4EBD-4A97-7546-85D7-ABFE3C991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319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F2AC-DEC5-2040-A6B9-09DC45503A64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4EBD-4A97-7546-85D7-ABFE3C991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05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EF70482-B8CE-4942-8769-197FC3B645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312" y="2103437"/>
            <a:ext cx="608076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0000"/>
              </a:lnSpc>
              <a:defRPr sz="5000" b="1" i="0" spc="-1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GB" dirty="0">
              <a:effectLst/>
              <a:latin typeface="Helvetica Neue LT Std" panose="020B0604020202020204" pitchFamily="34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B17F4B7-8F41-BC4C-8896-22A111028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118" y="6086006"/>
            <a:ext cx="2954961" cy="419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May 2021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E490D5-19C5-0A4C-ACBE-16FB5DE187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5312" y="4926511"/>
            <a:ext cx="6080760" cy="667465"/>
          </a:xfrm>
          <a:prstGeom prst="rect">
            <a:avLst/>
          </a:prstGeom>
        </p:spPr>
        <p:txBody>
          <a:bodyPr tIns="0" bIns="90000" anchor="t"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3CAD4B3-8B78-2B4C-849B-A84C8AA7AD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5312" y="5492085"/>
            <a:ext cx="6080760" cy="542953"/>
          </a:xfrm>
          <a:prstGeom prst="rect">
            <a:avLst/>
          </a:prstGeom>
        </p:spPr>
        <p:txBody>
          <a:bodyPr tIns="0" bIns="90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9845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BBDF-6C0B-AB42-BDE7-FAF858C1EF02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B268-6CB4-CF48-A1AE-B59180992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894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0"/>
          <p:cNvGrpSpPr/>
          <p:nvPr/>
        </p:nvGrpSpPr>
        <p:grpSpPr>
          <a:xfrm rot="4462381">
            <a:off x="7265968" y="-3126990"/>
            <a:ext cx="9327323" cy="6253978"/>
            <a:chOff x="-2190568" y="-6468307"/>
            <a:chExt cx="16557151" cy="11101584"/>
          </a:xfrm>
        </p:grpSpPr>
        <p:sp>
          <p:nvSpPr>
            <p:cNvPr id="11" name="Google Shape;11;p20"/>
            <p:cNvSpPr/>
            <p:nvPr/>
          </p:nvSpPr>
          <p:spPr>
            <a:xfrm>
              <a:off x="-2190568" y="-6468307"/>
              <a:ext cx="11206551" cy="11101584"/>
            </a:xfrm>
            <a:prstGeom prst="ellipse">
              <a:avLst/>
            </a:prstGeom>
            <a:noFill/>
            <a:ln w="635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0"/>
            <p:cNvSpPr/>
            <p:nvPr/>
          </p:nvSpPr>
          <p:spPr>
            <a:xfrm>
              <a:off x="6807129" y="-5452267"/>
              <a:ext cx="7559454" cy="7488648"/>
            </a:xfrm>
            <a:prstGeom prst="ellipse">
              <a:avLst/>
            </a:prstGeom>
            <a:noFill/>
            <a:ln w="635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91C00E8-3094-B245-B35E-83917A8601FF}"/>
              </a:ext>
            </a:extLst>
          </p:cNvPr>
          <p:cNvGrpSpPr/>
          <p:nvPr userDrawn="1"/>
        </p:nvGrpSpPr>
        <p:grpSpPr>
          <a:xfrm rot="15076272">
            <a:off x="6229127" y="-1833937"/>
            <a:ext cx="8341697" cy="9746476"/>
            <a:chOff x="6229127" y="-1833937"/>
            <a:chExt cx="8341697" cy="974647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21A5221-8C1A-E244-824C-A73D4F0F7F4C}"/>
                </a:ext>
              </a:extLst>
            </p:cNvPr>
            <p:cNvSpPr/>
            <p:nvPr userDrawn="1"/>
          </p:nvSpPr>
          <p:spPr>
            <a:xfrm rot="12559737">
              <a:off x="7785635" y="1190904"/>
              <a:ext cx="6785189" cy="6721635"/>
            </a:xfrm>
            <a:prstGeom prst="ellipse">
              <a:avLst/>
            </a:prstGeom>
            <a:noFill/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DC4DB0D-0D6A-C545-A0AD-8618E628A5D5}"/>
                </a:ext>
              </a:extLst>
            </p:cNvPr>
            <p:cNvSpPr/>
            <p:nvPr userDrawn="1"/>
          </p:nvSpPr>
          <p:spPr>
            <a:xfrm rot="12559737">
              <a:off x="6229127" y="-1833937"/>
              <a:ext cx="5322740" cy="5272885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D3CBCEC7-2263-0745-B9C4-B1EF1F7D04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312" y="385202"/>
            <a:ext cx="2529502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9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4400" b="1" i="0" kern="1200" smtClean="0">
          <a:solidFill>
            <a:schemeClr val="bg1"/>
          </a:solidFill>
          <a:effectLst/>
          <a:latin typeface="HelveticaNeueLT Std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ive.epicollect.ne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five.epicollect.net/project/south-africa-cpe-outbreak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ive.epicollect.net/project/south-africa-cpe-outbreak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DD4F-4EBC-B74C-9947-5C9996170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2" y="2103437"/>
            <a:ext cx="6796346" cy="1873477"/>
          </a:xfrm>
        </p:spPr>
        <p:txBody>
          <a:bodyPr>
            <a:normAutofit fontScale="90000"/>
          </a:bodyPr>
          <a:lstStyle/>
          <a:p>
            <a:r>
              <a:rPr lang="en-GB" dirty="0"/>
              <a:t>Epicollect practical:</a:t>
            </a:r>
            <a:br>
              <a:rPr lang="en-GB" dirty="0"/>
            </a:br>
            <a:br>
              <a:rPr lang="en-GB" sz="1100" dirty="0"/>
            </a:br>
            <a:r>
              <a:rPr lang="en-GB" dirty="0"/>
              <a:t>CPE outbreak investigation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4A7A6-6770-614F-B5BD-82FA91C38E0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March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11D1E-8EA0-2E44-B0E4-A696C0714E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dirty="0">
                <a:cs typeface="Arial" panose="020B0604020202020204" pitchFamily="34" charset="0"/>
              </a:rPr>
              <a:t>Dr Francesc Coll</a:t>
            </a:r>
          </a:p>
          <a:p>
            <a:r>
              <a:rPr lang="en-GB" dirty="0"/>
              <a:t>IBV-CSIC, Valencia, Spain</a:t>
            </a:r>
          </a:p>
        </p:txBody>
      </p:sp>
    </p:spTree>
    <p:extLst>
      <p:ext uri="{BB962C8B-B14F-4D97-AF65-F5344CB8AC3E}">
        <p14:creationId xmlns:p14="http://schemas.microsoft.com/office/powerpoint/2010/main" val="3014554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865D64-F8AE-AC4D-AF20-986984ECCA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4D3165F-C3CB-1525-B57A-F14DA405C665}"/>
              </a:ext>
            </a:extLst>
          </p:cNvPr>
          <p:cNvGrpSpPr/>
          <p:nvPr/>
        </p:nvGrpSpPr>
        <p:grpSpPr>
          <a:xfrm>
            <a:off x="1228119" y="1714451"/>
            <a:ext cx="9010372" cy="4053016"/>
            <a:chOff x="1649033" y="1569308"/>
            <a:chExt cx="9010372" cy="40530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38F402-BD40-D62B-DCBF-CF47DF4648BC}"/>
                </a:ext>
              </a:extLst>
            </p:cNvPr>
            <p:cNvSpPr/>
            <p:nvPr/>
          </p:nvSpPr>
          <p:spPr>
            <a:xfrm>
              <a:off x="1649033" y="1569308"/>
              <a:ext cx="1507450" cy="4053016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oogle Shape;85;p13">
              <a:extLst>
                <a:ext uri="{FF2B5EF4-FFF2-40B4-BE49-F238E27FC236}">
                  <a16:creationId xmlns:a16="http://schemas.microsoft.com/office/drawing/2014/main" id="{DDF1EE5E-1419-13D9-9D11-46F0C48DC299}"/>
                </a:ext>
              </a:extLst>
            </p:cNvPr>
            <p:cNvGrpSpPr/>
            <p:nvPr/>
          </p:nvGrpSpPr>
          <p:grpSpPr>
            <a:xfrm>
              <a:off x="1692812" y="2051222"/>
              <a:ext cx="8004401" cy="2845642"/>
              <a:chOff x="806592" y="1624982"/>
              <a:chExt cx="11314919" cy="4022564"/>
            </a:xfrm>
          </p:grpSpPr>
          <p:sp>
            <p:nvSpPr>
              <p:cNvPr id="3" name="Google Shape;86;p13">
                <a:extLst>
                  <a:ext uri="{FF2B5EF4-FFF2-40B4-BE49-F238E27FC236}">
                    <a16:creationId xmlns:a16="http://schemas.microsoft.com/office/drawing/2014/main" id="{679C9DEA-04FE-9F03-30D3-8EBED970F34C}"/>
                  </a:ext>
                </a:extLst>
              </p:cNvPr>
              <p:cNvSpPr/>
              <p:nvPr/>
            </p:nvSpPr>
            <p:spPr>
              <a:xfrm>
                <a:off x="1002389" y="5311350"/>
                <a:ext cx="11119122" cy="64628"/>
              </a:xfrm>
              <a:custGeom>
                <a:avLst/>
                <a:gdLst/>
                <a:ahLst/>
                <a:cxnLst/>
                <a:rect l="l" t="t" r="r" b="b"/>
                <a:pathLst>
                  <a:path w="126956" h="128" extrusionOk="0">
                    <a:moveTo>
                      <a:pt x="0" y="1"/>
                    </a:moveTo>
                    <a:lnTo>
                      <a:pt x="0" y="128"/>
                    </a:lnTo>
                    <a:lnTo>
                      <a:pt x="126955" y="128"/>
                    </a:lnTo>
                    <a:lnTo>
                      <a:pt x="126955" y="1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" name="Google Shape;87;p13">
                <a:extLst>
                  <a:ext uri="{FF2B5EF4-FFF2-40B4-BE49-F238E27FC236}">
                    <a16:creationId xmlns:a16="http://schemas.microsoft.com/office/drawing/2014/main" id="{238873D4-AA2F-AC9E-6690-A23025B50536}"/>
                  </a:ext>
                </a:extLst>
              </p:cNvPr>
              <p:cNvSpPr/>
              <p:nvPr/>
            </p:nvSpPr>
            <p:spPr>
              <a:xfrm>
                <a:off x="5145096" y="2611747"/>
                <a:ext cx="1939558" cy="2581002"/>
              </a:xfrm>
              <a:custGeom>
                <a:avLst/>
                <a:gdLst/>
                <a:ahLst/>
                <a:cxnLst/>
                <a:rect l="l" t="t" r="r" b="b"/>
                <a:pathLst>
                  <a:path w="29074" h="30817" extrusionOk="0">
                    <a:moveTo>
                      <a:pt x="185" y="0"/>
                    </a:moveTo>
                    <a:cubicBezTo>
                      <a:pt x="86" y="0"/>
                      <a:pt x="0" y="85"/>
                      <a:pt x="0" y="199"/>
                    </a:cubicBezTo>
                    <a:lnTo>
                      <a:pt x="0" y="30179"/>
                    </a:lnTo>
                    <a:cubicBezTo>
                      <a:pt x="0" y="30533"/>
                      <a:pt x="284" y="30816"/>
                      <a:pt x="639" y="30816"/>
                    </a:cubicBezTo>
                    <a:lnTo>
                      <a:pt x="28435" y="30816"/>
                    </a:lnTo>
                    <a:cubicBezTo>
                      <a:pt x="28789" y="30816"/>
                      <a:pt x="29073" y="30533"/>
                      <a:pt x="29073" y="30179"/>
                    </a:cubicBezTo>
                    <a:lnTo>
                      <a:pt x="29073" y="199"/>
                    </a:lnTo>
                    <a:cubicBezTo>
                      <a:pt x="29073" y="85"/>
                      <a:pt x="28988" y="0"/>
                      <a:pt x="28875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" name="Google Shape;88;p13">
                <a:extLst>
                  <a:ext uri="{FF2B5EF4-FFF2-40B4-BE49-F238E27FC236}">
                    <a16:creationId xmlns:a16="http://schemas.microsoft.com/office/drawing/2014/main" id="{247CE625-DCC8-6253-58C4-9BC1C89A875D}"/>
                  </a:ext>
                </a:extLst>
              </p:cNvPr>
              <p:cNvSpPr/>
              <p:nvPr/>
            </p:nvSpPr>
            <p:spPr>
              <a:xfrm>
                <a:off x="5357021" y="1767872"/>
                <a:ext cx="1514674" cy="1514675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705" extrusionOk="0">
                    <a:moveTo>
                      <a:pt x="11360" y="0"/>
                    </a:moveTo>
                    <a:cubicBezTo>
                      <a:pt x="5091" y="0"/>
                      <a:pt x="1" y="5077"/>
                      <a:pt x="1" y="11345"/>
                    </a:cubicBezTo>
                    <a:cubicBezTo>
                      <a:pt x="1" y="17614"/>
                      <a:pt x="5091" y="22704"/>
                      <a:pt x="11360" y="22704"/>
                    </a:cubicBezTo>
                    <a:cubicBezTo>
                      <a:pt x="17628" y="22704"/>
                      <a:pt x="22705" y="17614"/>
                      <a:pt x="22705" y="11345"/>
                    </a:cubicBezTo>
                    <a:cubicBezTo>
                      <a:pt x="22705" y="5077"/>
                      <a:pt x="17628" y="0"/>
                      <a:pt x="113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89;p13">
                <a:extLst>
                  <a:ext uri="{FF2B5EF4-FFF2-40B4-BE49-F238E27FC236}">
                    <a16:creationId xmlns:a16="http://schemas.microsoft.com/office/drawing/2014/main" id="{27906A15-DF3F-C90E-591C-0FA5908EB04F}"/>
                  </a:ext>
                </a:extLst>
              </p:cNvPr>
              <p:cNvSpPr/>
              <p:nvPr/>
            </p:nvSpPr>
            <p:spPr>
              <a:xfrm>
                <a:off x="5554676" y="1981671"/>
                <a:ext cx="1120279" cy="1086123"/>
              </a:xfrm>
              <a:custGeom>
                <a:avLst/>
                <a:gdLst/>
                <a:ahLst/>
                <a:cxnLst/>
                <a:rect l="l" t="t" r="r" b="b"/>
                <a:pathLst>
                  <a:path w="16793" h="16281" extrusionOk="0">
                    <a:moveTo>
                      <a:pt x="8397" y="0"/>
                    </a:moveTo>
                    <a:cubicBezTo>
                      <a:pt x="3760" y="0"/>
                      <a:pt x="1" y="3644"/>
                      <a:pt x="1" y="8140"/>
                    </a:cubicBezTo>
                    <a:cubicBezTo>
                      <a:pt x="1" y="12635"/>
                      <a:pt x="3760" y="16281"/>
                      <a:pt x="8397" y="16281"/>
                    </a:cubicBezTo>
                    <a:cubicBezTo>
                      <a:pt x="13035" y="16281"/>
                      <a:pt x="16792" y="12635"/>
                      <a:pt x="16792" y="8140"/>
                    </a:cubicBezTo>
                    <a:cubicBezTo>
                      <a:pt x="16792" y="3644"/>
                      <a:pt x="13035" y="0"/>
                      <a:pt x="83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0;p13">
                <a:extLst>
                  <a:ext uri="{FF2B5EF4-FFF2-40B4-BE49-F238E27FC236}">
                    <a16:creationId xmlns:a16="http://schemas.microsoft.com/office/drawing/2014/main" id="{F321169B-2F8A-35BA-7EBB-5677CE9C698E}"/>
                  </a:ext>
                </a:extLst>
              </p:cNvPr>
              <p:cNvSpPr/>
              <p:nvPr/>
            </p:nvSpPr>
            <p:spPr>
              <a:xfrm>
                <a:off x="5756177" y="4930356"/>
                <a:ext cx="717123" cy="717190"/>
              </a:xfrm>
              <a:custGeom>
                <a:avLst/>
                <a:gdLst/>
                <a:ahLst/>
                <a:cxnLst/>
                <a:rect l="l" t="t" r="r" b="b"/>
                <a:pathLst>
                  <a:path w="10750" h="10751" extrusionOk="0">
                    <a:moveTo>
                      <a:pt x="5375" y="0"/>
                    </a:moveTo>
                    <a:cubicBezTo>
                      <a:pt x="2396" y="0"/>
                      <a:pt x="0" y="2411"/>
                      <a:pt x="0" y="5375"/>
                    </a:cubicBezTo>
                    <a:cubicBezTo>
                      <a:pt x="0" y="8353"/>
                      <a:pt x="2396" y="10750"/>
                      <a:pt x="5375" y="10750"/>
                    </a:cubicBezTo>
                    <a:cubicBezTo>
                      <a:pt x="8339" y="10750"/>
                      <a:pt x="10750" y="8353"/>
                      <a:pt x="10750" y="5375"/>
                    </a:cubicBezTo>
                    <a:cubicBezTo>
                      <a:pt x="10750" y="2411"/>
                      <a:pt x="8339" y="0"/>
                      <a:pt x="53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91;p13">
                <a:extLst>
                  <a:ext uri="{FF2B5EF4-FFF2-40B4-BE49-F238E27FC236}">
                    <a16:creationId xmlns:a16="http://schemas.microsoft.com/office/drawing/2014/main" id="{76F2CAB6-0E11-84C1-5BE5-7496219161AE}"/>
                  </a:ext>
                </a:extLst>
              </p:cNvPr>
              <p:cNvSpPr/>
              <p:nvPr/>
            </p:nvSpPr>
            <p:spPr>
              <a:xfrm>
                <a:off x="6089276" y="1624982"/>
                <a:ext cx="928085" cy="899799"/>
              </a:xfrm>
              <a:custGeom>
                <a:avLst/>
                <a:gdLst/>
                <a:ahLst/>
                <a:cxnLst/>
                <a:rect l="l" t="t" r="r" b="b"/>
                <a:pathLst>
                  <a:path w="13912" h="13488" extrusionOk="0">
                    <a:moveTo>
                      <a:pt x="0" y="0"/>
                    </a:moveTo>
                    <a:lnTo>
                      <a:pt x="0" y="213"/>
                    </a:lnTo>
                    <a:cubicBezTo>
                      <a:pt x="7559" y="213"/>
                      <a:pt x="13700" y="6170"/>
                      <a:pt x="13700" y="13487"/>
                    </a:cubicBezTo>
                    <a:lnTo>
                      <a:pt x="13912" y="13487"/>
                    </a:lnTo>
                    <a:cubicBezTo>
                      <a:pt x="13912" y="6041"/>
                      <a:pt x="7672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92;p13">
                <a:extLst>
                  <a:ext uri="{FF2B5EF4-FFF2-40B4-BE49-F238E27FC236}">
                    <a16:creationId xmlns:a16="http://schemas.microsoft.com/office/drawing/2014/main" id="{6639B6E9-637C-99FC-A456-E53BAB83528E}"/>
                  </a:ext>
                </a:extLst>
              </p:cNvPr>
              <p:cNvSpPr txBox="1"/>
              <p:nvPr/>
            </p:nvSpPr>
            <p:spPr>
              <a:xfrm>
                <a:off x="5145104" y="3247701"/>
                <a:ext cx="1939647" cy="459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222A35"/>
                  </a:buClr>
                  <a:buSzPts val="1800"/>
                </a:pPr>
                <a:r>
                  <a:rPr lang="en-US" dirty="0">
                    <a:solidFill>
                      <a:srgbClr val="222A35"/>
                    </a:solidFill>
                    <a:latin typeface="Georgia "/>
                    <a:sym typeface="Georgia "/>
                  </a:rPr>
                  <a:t>WGS and QC</a:t>
                </a:r>
                <a:endParaRPr dirty="0"/>
              </a:p>
            </p:txBody>
          </p:sp>
          <p:sp>
            <p:nvSpPr>
              <p:cNvPr id="13" name="Google Shape;94;p13">
                <a:extLst>
                  <a:ext uri="{FF2B5EF4-FFF2-40B4-BE49-F238E27FC236}">
                    <a16:creationId xmlns:a16="http://schemas.microsoft.com/office/drawing/2014/main" id="{907C0DD7-2B68-C4E5-EDC1-5ECD51CFD2EE}"/>
                  </a:ext>
                </a:extLst>
              </p:cNvPr>
              <p:cNvSpPr/>
              <p:nvPr/>
            </p:nvSpPr>
            <p:spPr>
              <a:xfrm>
                <a:off x="2975832" y="2611747"/>
                <a:ext cx="1939558" cy="2581002"/>
              </a:xfrm>
              <a:custGeom>
                <a:avLst/>
                <a:gdLst/>
                <a:ahLst/>
                <a:cxnLst/>
                <a:rect l="l" t="t" r="r" b="b"/>
                <a:pathLst>
                  <a:path w="29074" h="30817" extrusionOk="0">
                    <a:moveTo>
                      <a:pt x="185" y="0"/>
                    </a:moveTo>
                    <a:cubicBezTo>
                      <a:pt x="86" y="0"/>
                      <a:pt x="0" y="85"/>
                      <a:pt x="0" y="199"/>
                    </a:cubicBezTo>
                    <a:lnTo>
                      <a:pt x="0" y="30179"/>
                    </a:lnTo>
                    <a:cubicBezTo>
                      <a:pt x="0" y="30533"/>
                      <a:pt x="284" y="30816"/>
                      <a:pt x="639" y="30816"/>
                    </a:cubicBezTo>
                    <a:lnTo>
                      <a:pt x="28435" y="30816"/>
                    </a:lnTo>
                    <a:cubicBezTo>
                      <a:pt x="28789" y="30816"/>
                      <a:pt x="29073" y="30533"/>
                      <a:pt x="29073" y="30179"/>
                    </a:cubicBezTo>
                    <a:lnTo>
                      <a:pt x="29073" y="199"/>
                    </a:lnTo>
                    <a:cubicBezTo>
                      <a:pt x="29073" y="85"/>
                      <a:pt x="28988" y="0"/>
                      <a:pt x="28875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95;p13">
                <a:extLst>
                  <a:ext uri="{FF2B5EF4-FFF2-40B4-BE49-F238E27FC236}">
                    <a16:creationId xmlns:a16="http://schemas.microsoft.com/office/drawing/2014/main" id="{9A84D6C5-5C31-B1B9-81EE-BE11FC12ADD1}"/>
                  </a:ext>
                </a:extLst>
              </p:cNvPr>
              <p:cNvSpPr/>
              <p:nvPr/>
            </p:nvSpPr>
            <p:spPr>
              <a:xfrm>
                <a:off x="3187739" y="1767872"/>
                <a:ext cx="1514741" cy="1514675"/>
              </a:xfrm>
              <a:custGeom>
                <a:avLst/>
                <a:gdLst/>
                <a:ahLst/>
                <a:cxnLst/>
                <a:rect l="l" t="t" r="r" b="b"/>
                <a:pathLst>
                  <a:path w="22706" h="22705" extrusionOk="0">
                    <a:moveTo>
                      <a:pt x="11360" y="0"/>
                    </a:moveTo>
                    <a:cubicBezTo>
                      <a:pt x="5092" y="0"/>
                      <a:pt x="0" y="5077"/>
                      <a:pt x="0" y="11345"/>
                    </a:cubicBezTo>
                    <a:cubicBezTo>
                      <a:pt x="0" y="17614"/>
                      <a:pt x="5092" y="22704"/>
                      <a:pt x="11360" y="22704"/>
                    </a:cubicBezTo>
                    <a:cubicBezTo>
                      <a:pt x="17629" y="22704"/>
                      <a:pt x="22706" y="17614"/>
                      <a:pt x="22706" y="11345"/>
                    </a:cubicBezTo>
                    <a:cubicBezTo>
                      <a:pt x="22706" y="5077"/>
                      <a:pt x="17629" y="0"/>
                      <a:pt x="11360" y="0"/>
                    </a:cubicBezTo>
                    <a:close/>
                  </a:path>
                </a:pathLst>
              </a:custGeom>
              <a:solidFill>
                <a:srgbClr val="077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96;p13">
                <a:extLst>
                  <a:ext uri="{FF2B5EF4-FFF2-40B4-BE49-F238E27FC236}">
                    <a16:creationId xmlns:a16="http://schemas.microsoft.com/office/drawing/2014/main" id="{3FCB71D4-7245-4B7A-1197-ED6E1FDC3C74}"/>
                  </a:ext>
                </a:extLst>
              </p:cNvPr>
              <p:cNvSpPr/>
              <p:nvPr/>
            </p:nvSpPr>
            <p:spPr>
              <a:xfrm>
                <a:off x="3385461" y="1981671"/>
                <a:ext cx="1120213" cy="1086123"/>
              </a:xfrm>
              <a:custGeom>
                <a:avLst/>
                <a:gdLst/>
                <a:ahLst/>
                <a:cxnLst/>
                <a:rect l="l" t="t" r="r" b="b"/>
                <a:pathLst>
                  <a:path w="16792" h="16281" extrusionOk="0">
                    <a:moveTo>
                      <a:pt x="8396" y="0"/>
                    </a:moveTo>
                    <a:cubicBezTo>
                      <a:pt x="3758" y="0"/>
                      <a:pt x="1" y="3644"/>
                      <a:pt x="1" y="8140"/>
                    </a:cubicBezTo>
                    <a:cubicBezTo>
                      <a:pt x="1" y="12635"/>
                      <a:pt x="3758" y="16281"/>
                      <a:pt x="8396" y="16281"/>
                    </a:cubicBezTo>
                    <a:cubicBezTo>
                      <a:pt x="13033" y="16281"/>
                      <a:pt x="16792" y="12635"/>
                      <a:pt x="16792" y="8140"/>
                    </a:cubicBezTo>
                    <a:cubicBezTo>
                      <a:pt x="16792" y="3644"/>
                      <a:pt x="13033" y="0"/>
                      <a:pt x="83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97;p13">
                <a:extLst>
                  <a:ext uri="{FF2B5EF4-FFF2-40B4-BE49-F238E27FC236}">
                    <a16:creationId xmlns:a16="http://schemas.microsoft.com/office/drawing/2014/main" id="{F6CDF9E4-0CB0-052F-9CBD-4439A817B29D}"/>
                  </a:ext>
                </a:extLst>
              </p:cNvPr>
              <p:cNvSpPr/>
              <p:nvPr/>
            </p:nvSpPr>
            <p:spPr>
              <a:xfrm>
                <a:off x="3586854" y="4930356"/>
                <a:ext cx="717178" cy="717178"/>
              </a:xfrm>
              <a:custGeom>
                <a:avLst/>
                <a:gdLst/>
                <a:ahLst/>
                <a:cxnLst/>
                <a:rect l="l" t="t" r="r" b="b"/>
                <a:pathLst>
                  <a:path w="10751" h="10751" extrusionOk="0">
                    <a:moveTo>
                      <a:pt x="5376" y="0"/>
                    </a:moveTo>
                    <a:cubicBezTo>
                      <a:pt x="2398" y="0"/>
                      <a:pt x="1" y="2411"/>
                      <a:pt x="1" y="5375"/>
                    </a:cubicBezTo>
                    <a:cubicBezTo>
                      <a:pt x="1" y="8353"/>
                      <a:pt x="2398" y="10750"/>
                      <a:pt x="5376" y="10750"/>
                    </a:cubicBezTo>
                    <a:cubicBezTo>
                      <a:pt x="8340" y="10750"/>
                      <a:pt x="10751" y="8353"/>
                      <a:pt x="10751" y="5375"/>
                    </a:cubicBezTo>
                    <a:cubicBezTo>
                      <a:pt x="10751" y="2411"/>
                      <a:pt x="8340" y="0"/>
                      <a:pt x="5376" y="0"/>
                    </a:cubicBezTo>
                    <a:close/>
                  </a:path>
                </a:pathLst>
              </a:custGeom>
              <a:solidFill>
                <a:srgbClr val="077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98;p13">
                <a:extLst>
                  <a:ext uri="{FF2B5EF4-FFF2-40B4-BE49-F238E27FC236}">
                    <a16:creationId xmlns:a16="http://schemas.microsoft.com/office/drawing/2014/main" id="{9647881C-F410-50A9-2672-5DBE3FCB812C}"/>
                  </a:ext>
                </a:extLst>
              </p:cNvPr>
              <p:cNvSpPr/>
              <p:nvPr/>
            </p:nvSpPr>
            <p:spPr>
              <a:xfrm>
                <a:off x="3933202" y="1624982"/>
                <a:ext cx="928218" cy="899799"/>
              </a:xfrm>
              <a:custGeom>
                <a:avLst/>
                <a:gdLst/>
                <a:ahLst/>
                <a:cxnLst/>
                <a:rect l="l" t="t" r="r" b="b"/>
                <a:pathLst>
                  <a:path w="13914" h="13488" extrusionOk="0">
                    <a:moveTo>
                      <a:pt x="0" y="0"/>
                    </a:moveTo>
                    <a:lnTo>
                      <a:pt x="0" y="213"/>
                    </a:lnTo>
                    <a:cubicBezTo>
                      <a:pt x="7545" y="213"/>
                      <a:pt x="13686" y="6170"/>
                      <a:pt x="13686" y="13487"/>
                    </a:cubicBezTo>
                    <a:lnTo>
                      <a:pt x="13913" y="13487"/>
                    </a:lnTo>
                    <a:cubicBezTo>
                      <a:pt x="13913" y="6041"/>
                      <a:pt x="7673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rgbClr val="0775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99;p13">
                <a:extLst>
                  <a:ext uri="{FF2B5EF4-FFF2-40B4-BE49-F238E27FC236}">
                    <a16:creationId xmlns:a16="http://schemas.microsoft.com/office/drawing/2014/main" id="{88D13D95-57E8-CEE2-1BF3-137D7AEEFB00}"/>
                  </a:ext>
                </a:extLst>
              </p:cNvPr>
              <p:cNvSpPr txBox="1"/>
              <p:nvPr/>
            </p:nvSpPr>
            <p:spPr>
              <a:xfrm>
                <a:off x="2975787" y="3249211"/>
                <a:ext cx="1939647" cy="459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222A35"/>
                  </a:buClr>
                  <a:buSzPts val="1800"/>
                </a:pPr>
                <a:r>
                  <a:rPr lang="en-US" sz="1800" dirty="0">
                    <a:solidFill>
                      <a:srgbClr val="222A35"/>
                    </a:solidFill>
                    <a:latin typeface="Georgia "/>
                    <a:ea typeface="Georgia "/>
                    <a:cs typeface="Georgia "/>
                    <a:sym typeface="Georgia "/>
                  </a:rPr>
                  <a:t>Phenotypic AST </a:t>
                </a:r>
                <a:endParaRPr dirty="0"/>
              </a:p>
              <a:p>
                <a:pPr algn="ctr">
                  <a:buClr>
                    <a:schemeClr val="dk1"/>
                  </a:buClr>
                  <a:buSzPts val="1800"/>
                </a:pPr>
                <a:endParaRPr sz="1800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endParaRPr>
              </a:p>
            </p:txBody>
          </p:sp>
          <p:sp>
            <p:nvSpPr>
              <p:cNvPr id="20" name="Google Shape;101;p13">
                <a:extLst>
                  <a:ext uri="{FF2B5EF4-FFF2-40B4-BE49-F238E27FC236}">
                    <a16:creationId xmlns:a16="http://schemas.microsoft.com/office/drawing/2014/main" id="{600CC3F6-5B23-E7F6-0A01-DDE535544B54}"/>
                  </a:ext>
                </a:extLst>
              </p:cNvPr>
              <p:cNvSpPr/>
              <p:nvPr/>
            </p:nvSpPr>
            <p:spPr>
              <a:xfrm>
                <a:off x="842674" y="2611747"/>
                <a:ext cx="1939491" cy="2581002"/>
              </a:xfrm>
              <a:custGeom>
                <a:avLst/>
                <a:gdLst/>
                <a:ahLst/>
                <a:cxnLst/>
                <a:rect l="l" t="t" r="r" b="b"/>
                <a:pathLst>
                  <a:path w="29073" h="30817" extrusionOk="0">
                    <a:moveTo>
                      <a:pt x="184" y="0"/>
                    </a:moveTo>
                    <a:cubicBezTo>
                      <a:pt x="85" y="0"/>
                      <a:pt x="0" y="85"/>
                      <a:pt x="0" y="199"/>
                    </a:cubicBezTo>
                    <a:lnTo>
                      <a:pt x="0" y="30179"/>
                    </a:lnTo>
                    <a:cubicBezTo>
                      <a:pt x="0" y="30533"/>
                      <a:pt x="284" y="30816"/>
                      <a:pt x="638" y="30816"/>
                    </a:cubicBezTo>
                    <a:lnTo>
                      <a:pt x="28434" y="30816"/>
                    </a:lnTo>
                    <a:cubicBezTo>
                      <a:pt x="28789" y="30816"/>
                      <a:pt x="29073" y="30533"/>
                      <a:pt x="29073" y="30179"/>
                    </a:cubicBezTo>
                    <a:lnTo>
                      <a:pt x="29073" y="199"/>
                    </a:lnTo>
                    <a:cubicBezTo>
                      <a:pt x="29073" y="85"/>
                      <a:pt x="28988" y="0"/>
                      <a:pt x="28874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02;p13">
                <a:extLst>
                  <a:ext uri="{FF2B5EF4-FFF2-40B4-BE49-F238E27FC236}">
                    <a16:creationId xmlns:a16="http://schemas.microsoft.com/office/drawing/2014/main" id="{28ECB9D9-7924-EEED-1F58-D86ED637A06B}"/>
                  </a:ext>
                </a:extLst>
              </p:cNvPr>
              <p:cNvSpPr/>
              <p:nvPr/>
            </p:nvSpPr>
            <p:spPr>
              <a:xfrm>
                <a:off x="1018457" y="1767872"/>
                <a:ext cx="1515742" cy="1514675"/>
              </a:xfrm>
              <a:custGeom>
                <a:avLst/>
                <a:gdLst/>
                <a:ahLst/>
                <a:cxnLst/>
                <a:rect l="l" t="t" r="r" b="b"/>
                <a:pathLst>
                  <a:path w="22721" h="22705" extrusionOk="0">
                    <a:moveTo>
                      <a:pt x="11360" y="0"/>
                    </a:moveTo>
                    <a:cubicBezTo>
                      <a:pt x="5092" y="0"/>
                      <a:pt x="1" y="5077"/>
                      <a:pt x="1" y="11345"/>
                    </a:cubicBezTo>
                    <a:cubicBezTo>
                      <a:pt x="1" y="17614"/>
                      <a:pt x="5092" y="22704"/>
                      <a:pt x="11360" y="22704"/>
                    </a:cubicBezTo>
                    <a:cubicBezTo>
                      <a:pt x="17628" y="22704"/>
                      <a:pt x="22720" y="17614"/>
                      <a:pt x="22720" y="11345"/>
                    </a:cubicBezTo>
                    <a:cubicBezTo>
                      <a:pt x="22720" y="5077"/>
                      <a:pt x="17628" y="0"/>
                      <a:pt x="113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03;p13">
                <a:extLst>
                  <a:ext uri="{FF2B5EF4-FFF2-40B4-BE49-F238E27FC236}">
                    <a16:creationId xmlns:a16="http://schemas.microsoft.com/office/drawing/2014/main" id="{BE930075-5516-2BC9-9C89-25F1D53A9007}"/>
                  </a:ext>
                </a:extLst>
              </p:cNvPr>
              <p:cNvSpPr/>
              <p:nvPr/>
            </p:nvSpPr>
            <p:spPr>
              <a:xfrm>
                <a:off x="1216180" y="1981671"/>
                <a:ext cx="1120213" cy="1086123"/>
              </a:xfrm>
              <a:custGeom>
                <a:avLst/>
                <a:gdLst/>
                <a:ahLst/>
                <a:cxnLst/>
                <a:rect l="l" t="t" r="r" b="b"/>
                <a:pathLst>
                  <a:path w="16792" h="16281" extrusionOk="0">
                    <a:moveTo>
                      <a:pt x="8396" y="0"/>
                    </a:moveTo>
                    <a:cubicBezTo>
                      <a:pt x="3759" y="0"/>
                      <a:pt x="0" y="3644"/>
                      <a:pt x="0" y="8140"/>
                    </a:cubicBezTo>
                    <a:cubicBezTo>
                      <a:pt x="0" y="12635"/>
                      <a:pt x="3759" y="16281"/>
                      <a:pt x="8396" y="16281"/>
                    </a:cubicBezTo>
                    <a:cubicBezTo>
                      <a:pt x="13034" y="16281"/>
                      <a:pt x="16792" y="12635"/>
                      <a:pt x="16792" y="8140"/>
                    </a:cubicBezTo>
                    <a:cubicBezTo>
                      <a:pt x="16792" y="3644"/>
                      <a:pt x="13034" y="0"/>
                      <a:pt x="83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04;p13">
                <a:extLst>
                  <a:ext uri="{FF2B5EF4-FFF2-40B4-BE49-F238E27FC236}">
                    <a16:creationId xmlns:a16="http://schemas.microsoft.com/office/drawing/2014/main" id="{F23365CB-2D20-0D2F-7792-4244020F3C4C}"/>
                  </a:ext>
                </a:extLst>
              </p:cNvPr>
              <p:cNvSpPr/>
              <p:nvPr/>
            </p:nvSpPr>
            <p:spPr>
              <a:xfrm>
                <a:off x="1417666" y="4930356"/>
                <a:ext cx="717190" cy="717190"/>
              </a:xfrm>
              <a:custGeom>
                <a:avLst/>
                <a:gdLst/>
                <a:ahLst/>
                <a:cxnLst/>
                <a:rect l="l" t="t" r="r" b="b"/>
                <a:pathLst>
                  <a:path w="10751" h="10751" extrusionOk="0">
                    <a:moveTo>
                      <a:pt x="5375" y="0"/>
                    </a:moveTo>
                    <a:cubicBezTo>
                      <a:pt x="2397" y="0"/>
                      <a:pt x="1" y="2411"/>
                      <a:pt x="1" y="5375"/>
                    </a:cubicBezTo>
                    <a:cubicBezTo>
                      <a:pt x="1" y="8353"/>
                      <a:pt x="2397" y="10750"/>
                      <a:pt x="5375" y="10750"/>
                    </a:cubicBezTo>
                    <a:cubicBezTo>
                      <a:pt x="8340" y="10750"/>
                      <a:pt x="10750" y="8353"/>
                      <a:pt x="10750" y="5375"/>
                    </a:cubicBezTo>
                    <a:cubicBezTo>
                      <a:pt x="10750" y="2411"/>
                      <a:pt x="8340" y="0"/>
                      <a:pt x="53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05;p13">
                <a:extLst>
                  <a:ext uri="{FF2B5EF4-FFF2-40B4-BE49-F238E27FC236}">
                    <a16:creationId xmlns:a16="http://schemas.microsoft.com/office/drawing/2014/main" id="{ED0F927F-8A80-9652-BCD2-750EA834F50E}"/>
                  </a:ext>
                </a:extLst>
              </p:cNvPr>
              <p:cNvSpPr/>
              <p:nvPr/>
            </p:nvSpPr>
            <p:spPr>
              <a:xfrm>
                <a:off x="1776194" y="1624982"/>
                <a:ext cx="928218" cy="899799"/>
              </a:xfrm>
              <a:custGeom>
                <a:avLst/>
                <a:gdLst/>
                <a:ahLst/>
                <a:cxnLst/>
                <a:rect l="l" t="t" r="r" b="b"/>
                <a:pathLst>
                  <a:path w="13914" h="13488" extrusionOk="0">
                    <a:moveTo>
                      <a:pt x="1" y="0"/>
                    </a:moveTo>
                    <a:lnTo>
                      <a:pt x="1" y="213"/>
                    </a:lnTo>
                    <a:cubicBezTo>
                      <a:pt x="7546" y="213"/>
                      <a:pt x="13701" y="6170"/>
                      <a:pt x="13701" y="13487"/>
                    </a:cubicBezTo>
                    <a:lnTo>
                      <a:pt x="13914" y="13487"/>
                    </a:lnTo>
                    <a:cubicBezTo>
                      <a:pt x="13914" y="6041"/>
                      <a:pt x="7674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106;p13">
                <a:extLst>
                  <a:ext uri="{FF2B5EF4-FFF2-40B4-BE49-F238E27FC236}">
                    <a16:creationId xmlns:a16="http://schemas.microsoft.com/office/drawing/2014/main" id="{372A0E82-F559-B8A5-64FE-3762D3FE0EAF}"/>
                  </a:ext>
                </a:extLst>
              </p:cNvPr>
              <p:cNvSpPr txBox="1"/>
              <p:nvPr/>
            </p:nvSpPr>
            <p:spPr>
              <a:xfrm>
                <a:off x="806592" y="3173209"/>
                <a:ext cx="1939647" cy="611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222A35"/>
                  </a:buClr>
                  <a:buSzPts val="1800"/>
                </a:pPr>
                <a:r>
                  <a:rPr lang="en-US" sz="1800" dirty="0">
                    <a:solidFill>
                      <a:srgbClr val="222A35"/>
                    </a:solidFill>
                    <a:latin typeface="Georgia "/>
                    <a:ea typeface="Georgia "/>
                    <a:cs typeface="Georgia "/>
                    <a:sym typeface="Georgia "/>
                  </a:rPr>
                  <a:t>Sample collection </a:t>
                </a:r>
                <a:endParaRPr dirty="0"/>
              </a:p>
            </p:txBody>
          </p:sp>
          <p:sp>
            <p:nvSpPr>
              <p:cNvPr id="27" name="Google Shape;108;p13">
                <a:extLst>
                  <a:ext uri="{FF2B5EF4-FFF2-40B4-BE49-F238E27FC236}">
                    <a16:creationId xmlns:a16="http://schemas.microsoft.com/office/drawing/2014/main" id="{C32BB336-4920-091F-4560-0AFF22164C8D}"/>
                  </a:ext>
                </a:extLst>
              </p:cNvPr>
              <p:cNvSpPr/>
              <p:nvPr/>
            </p:nvSpPr>
            <p:spPr>
              <a:xfrm>
                <a:off x="7314383" y="2611747"/>
                <a:ext cx="1939491" cy="2581002"/>
              </a:xfrm>
              <a:custGeom>
                <a:avLst/>
                <a:gdLst/>
                <a:ahLst/>
                <a:cxnLst/>
                <a:rect l="l" t="t" r="r" b="b"/>
                <a:pathLst>
                  <a:path w="29073" h="30817" extrusionOk="0">
                    <a:moveTo>
                      <a:pt x="185" y="0"/>
                    </a:moveTo>
                    <a:cubicBezTo>
                      <a:pt x="85" y="0"/>
                      <a:pt x="0" y="85"/>
                      <a:pt x="0" y="199"/>
                    </a:cubicBezTo>
                    <a:lnTo>
                      <a:pt x="0" y="30179"/>
                    </a:lnTo>
                    <a:cubicBezTo>
                      <a:pt x="0" y="30533"/>
                      <a:pt x="284" y="30816"/>
                      <a:pt x="624" y="30816"/>
                    </a:cubicBezTo>
                    <a:lnTo>
                      <a:pt x="28435" y="30816"/>
                    </a:lnTo>
                    <a:cubicBezTo>
                      <a:pt x="28789" y="30816"/>
                      <a:pt x="29073" y="30533"/>
                      <a:pt x="29073" y="30179"/>
                    </a:cubicBezTo>
                    <a:lnTo>
                      <a:pt x="29073" y="199"/>
                    </a:lnTo>
                    <a:cubicBezTo>
                      <a:pt x="29073" y="85"/>
                      <a:pt x="28988" y="0"/>
                      <a:pt x="28874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09;p13">
                <a:extLst>
                  <a:ext uri="{FF2B5EF4-FFF2-40B4-BE49-F238E27FC236}">
                    <a16:creationId xmlns:a16="http://schemas.microsoft.com/office/drawing/2014/main" id="{34EA327C-8CD4-7B4C-A6ED-98128CADA9F9}"/>
                  </a:ext>
                </a:extLst>
              </p:cNvPr>
              <p:cNvSpPr/>
              <p:nvPr/>
            </p:nvSpPr>
            <p:spPr>
              <a:xfrm>
                <a:off x="7526236" y="1767872"/>
                <a:ext cx="1514808" cy="1514675"/>
              </a:xfrm>
              <a:custGeom>
                <a:avLst/>
                <a:gdLst/>
                <a:ahLst/>
                <a:cxnLst/>
                <a:rect l="l" t="t" r="r" b="b"/>
                <a:pathLst>
                  <a:path w="22707" h="22705" extrusionOk="0">
                    <a:moveTo>
                      <a:pt x="11361" y="0"/>
                    </a:moveTo>
                    <a:cubicBezTo>
                      <a:pt x="5078" y="0"/>
                      <a:pt x="1" y="5077"/>
                      <a:pt x="1" y="11345"/>
                    </a:cubicBezTo>
                    <a:cubicBezTo>
                      <a:pt x="1" y="17614"/>
                      <a:pt x="5078" y="22704"/>
                      <a:pt x="11361" y="22704"/>
                    </a:cubicBezTo>
                    <a:cubicBezTo>
                      <a:pt x="17629" y="22704"/>
                      <a:pt x="22706" y="17614"/>
                      <a:pt x="22706" y="11345"/>
                    </a:cubicBezTo>
                    <a:cubicBezTo>
                      <a:pt x="22706" y="5077"/>
                      <a:pt x="17629" y="0"/>
                      <a:pt x="113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110;p13">
                <a:extLst>
                  <a:ext uri="{FF2B5EF4-FFF2-40B4-BE49-F238E27FC236}">
                    <a16:creationId xmlns:a16="http://schemas.microsoft.com/office/drawing/2014/main" id="{244AA253-B71E-D1D4-7331-E14F7FBF6824}"/>
                  </a:ext>
                </a:extLst>
              </p:cNvPr>
              <p:cNvSpPr/>
              <p:nvPr/>
            </p:nvSpPr>
            <p:spPr>
              <a:xfrm>
                <a:off x="7723025" y="1981671"/>
                <a:ext cx="1121212" cy="1086123"/>
              </a:xfrm>
              <a:custGeom>
                <a:avLst/>
                <a:gdLst/>
                <a:ahLst/>
                <a:cxnLst/>
                <a:rect l="l" t="t" r="r" b="b"/>
                <a:pathLst>
                  <a:path w="16807" h="16281" extrusionOk="0">
                    <a:moveTo>
                      <a:pt x="8411" y="0"/>
                    </a:moveTo>
                    <a:cubicBezTo>
                      <a:pt x="3773" y="0"/>
                      <a:pt x="1" y="3644"/>
                      <a:pt x="1" y="8140"/>
                    </a:cubicBezTo>
                    <a:cubicBezTo>
                      <a:pt x="1" y="12635"/>
                      <a:pt x="3773" y="16281"/>
                      <a:pt x="8411" y="16281"/>
                    </a:cubicBezTo>
                    <a:cubicBezTo>
                      <a:pt x="13048" y="16281"/>
                      <a:pt x="16807" y="12635"/>
                      <a:pt x="16807" y="8140"/>
                    </a:cubicBezTo>
                    <a:cubicBezTo>
                      <a:pt x="16807" y="3644"/>
                      <a:pt x="13048" y="0"/>
                      <a:pt x="84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11;p13">
                <a:extLst>
                  <a:ext uri="{FF2B5EF4-FFF2-40B4-BE49-F238E27FC236}">
                    <a16:creationId xmlns:a16="http://schemas.microsoft.com/office/drawing/2014/main" id="{E8C14517-2172-0480-66CF-CAB7528EBA48}"/>
                  </a:ext>
                </a:extLst>
              </p:cNvPr>
              <p:cNvSpPr/>
              <p:nvPr/>
            </p:nvSpPr>
            <p:spPr>
              <a:xfrm>
                <a:off x="7924432" y="4930356"/>
                <a:ext cx="718124" cy="717190"/>
              </a:xfrm>
              <a:custGeom>
                <a:avLst/>
                <a:gdLst/>
                <a:ahLst/>
                <a:cxnLst/>
                <a:rect l="l" t="t" r="r" b="b"/>
                <a:pathLst>
                  <a:path w="10765" h="10751" extrusionOk="0">
                    <a:moveTo>
                      <a:pt x="5390" y="0"/>
                    </a:moveTo>
                    <a:cubicBezTo>
                      <a:pt x="2412" y="0"/>
                      <a:pt x="1" y="2411"/>
                      <a:pt x="1" y="5375"/>
                    </a:cubicBezTo>
                    <a:cubicBezTo>
                      <a:pt x="1" y="8353"/>
                      <a:pt x="2412" y="10750"/>
                      <a:pt x="5390" y="10750"/>
                    </a:cubicBezTo>
                    <a:cubicBezTo>
                      <a:pt x="8353" y="10750"/>
                      <a:pt x="10764" y="8353"/>
                      <a:pt x="10764" y="5375"/>
                    </a:cubicBezTo>
                    <a:cubicBezTo>
                      <a:pt x="10764" y="2411"/>
                      <a:pt x="8353" y="0"/>
                      <a:pt x="53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12;p13">
                <a:extLst>
                  <a:ext uri="{FF2B5EF4-FFF2-40B4-BE49-F238E27FC236}">
                    <a16:creationId xmlns:a16="http://schemas.microsoft.com/office/drawing/2014/main" id="{3C146E65-8D62-9FDF-82A0-309429AC716E}"/>
                  </a:ext>
                </a:extLst>
              </p:cNvPr>
              <p:cNvSpPr/>
              <p:nvPr/>
            </p:nvSpPr>
            <p:spPr>
              <a:xfrm>
                <a:off x="8246216" y="1624982"/>
                <a:ext cx="928152" cy="899799"/>
              </a:xfrm>
              <a:custGeom>
                <a:avLst/>
                <a:gdLst/>
                <a:ahLst/>
                <a:cxnLst/>
                <a:rect l="l" t="t" r="r" b="b"/>
                <a:pathLst>
                  <a:path w="13913" h="13488" extrusionOk="0">
                    <a:moveTo>
                      <a:pt x="1" y="0"/>
                    </a:moveTo>
                    <a:lnTo>
                      <a:pt x="1" y="213"/>
                    </a:lnTo>
                    <a:cubicBezTo>
                      <a:pt x="7559" y="213"/>
                      <a:pt x="13700" y="6170"/>
                      <a:pt x="13700" y="13487"/>
                    </a:cubicBezTo>
                    <a:lnTo>
                      <a:pt x="13912" y="13487"/>
                    </a:lnTo>
                    <a:cubicBezTo>
                      <a:pt x="13912" y="6041"/>
                      <a:pt x="7672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13;p13">
                <a:extLst>
                  <a:ext uri="{FF2B5EF4-FFF2-40B4-BE49-F238E27FC236}">
                    <a16:creationId xmlns:a16="http://schemas.microsoft.com/office/drawing/2014/main" id="{47E10F26-09BE-8F88-0D38-D0F607E9DD09}"/>
                  </a:ext>
                </a:extLst>
              </p:cNvPr>
              <p:cNvSpPr txBox="1"/>
              <p:nvPr/>
            </p:nvSpPr>
            <p:spPr>
              <a:xfrm>
                <a:off x="7314359" y="3247700"/>
                <a:ext cx="1939647" cy="8888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222A35"/>
                  </a:buClr>
                  <a:buSzPts val="1800"/>
                </a:pPr>
                <a:r>
                  <a:rPr lang="en-US" sz="1800" dirty="0">
                    <a:solidFill>
                      <a:srgbClr val="222A35"/>
                    </a:solidFill>
                    <a:latin typeface="Georgia "/>
                    <a:ea typeface="Georgia "/>
                    <a:cs typeface="Georgia "/>
                    <a:sym typeface="Georgia "/>
                  </a:rPr>
                  <a:t>Genotypic AST</a:t>
                </a:r>
                <a:endParaRPr lang="en-US" dirty="0"/>
              </a:p>
            </p:txBody>
          </p:sp>
          <p:sp>
            <p:nvSpPr>
              <p:cNvPr id="34" name="Google Shape;115;p13">
                <a:extLst>
                  <a:ext uri="{FF2B5EF4-FFF2-40B4-BE49-F238E27FC236}">
                    <a16:creationId xmlns:a16="http://schemas.microsoft.com/office/drawing/2014/main" id="{B0BD26C7-AA83-630A-CA9D-CD94DBDC0CD8}"/>
                  </a:ext>
                </a:extLst>
              </p:cNvPr>
              <p:cNvSpPr/>
              <p:nvPr/>
            </p:nvSpPr>
            <p:spPr>
              <a:xfrm>
                <a:off x="9411539" y="2611747"/>
                <a:ext cx="1939491" cy="2581002"/>
              </a:xfrm>
              <a:custGeom>
                <a:avLst/>
                <a:gdLst/>
                <a:ahLst/>
                <a:cxnLst/>
                <a:rect l="l" t="t" r="r" b="b"/>
                <a:pathLst>
                  <a:path w="29073" h="30817" extrusionOk="0">
                    <a:moveTo>
                      <a:pt x="185" y="0"/>
                    </a:moveTo>
                    <a:cubicBezTo>
                      <a:pt x="85" y="0"/>
                      <a:pt x="0" y="85"/>
                      <a:pt x="0" y="199"/>
                    </a:cubicBezTo>
                    <a:lnTo>
                      <a:pt x="0" y="30179"/>
                    </a:lnTo>
                    <a:cubicBezTo>
                      <a:pt x="0" y="30533"/>
                      <a:pt x="284" y="30816"/>
                      <a:pt x="624" y="30816"/>
                    </a:cubicBezTo>
                    <a:lnTo>
                      <a:pt x="28435" y="30816"/>
                    </a:lnTo>
                    <a:cubicBezTo>
                      <a:pt x="28789" y="30816"/>
                      <a:pt x="29073" y="30533"/>
                      <a:pt x="29073" y="30179"/>
                    </a:cubicBezTo>
                    <a:lnTo>
                      <a:pt x="29073" y="199"/>
                    </a:lnTo>
                    <a:cubicBezTo>
                      <a:pt x="29073" y="85"/>
                      <a:pt x="28988" y="0"/>
                      <a:pt x="28874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16;p13">
                <a:extLst>
                  <a:ext uri="{FF2B5EF4-FFF2-40B4-BE49-F238E27FC236}">
                    <a16:creationId xmlns:a16="http://schemas.microsoft.com/office/drawing/2014/main" id="{DE4A5E05-E89A-1C63-A74F-4717AAC68E93}"/>
                  </a:ext>
                </a:extLst>
              </p:cNvPr>
              <p:cNvSpPr/>
              <p:nvPr/>
            </p:nvSpPr>
            <p:spPr>
              <a:xfrm>
                <a:off x="9623391" y="1767872"/>
                <a:ext cx="1514808" cy="1514675"/>
              </a:xfrm>
              <a:custGeom>
                <a:avLst/>
                <a:gdLst/>
                <a:ahLst/>
                <a:cxnLst/>
                <a:rect l="l" t="t" r="r" b="b"/>
                <a:pathLst>
                  <a:path w="22707" h="22705" extrusionOk="0">
                    <a:moveTo>
                      <a:pt x="11361" y="0"/>
                    </a:moveTo>
                    <a:cubicBezTo>
                      <a:pt x="5078" y="0"/>
                      <a:pt x="1" y="5077"/>
                      <a:pt x="1" y="11345"/>
                    </a:cubicBezTo>
                    <a:cubicBezTo>
                      <a:pt x="1" y="17614"/>
                      <a:pt x="5078" y="22704"/>
                      <a:pt x="11361" y="22704"/>
                    </a:cubicBezTo>
                    <a:cubicBezTo>
                      <a:pt x="17629" y="22704"/>
                      <a:pt x="22706" y="17614"/>
                      <a:pt x="22706" y="11345"/>
                    </a:cubicBezTo>
                    <a:cubicBezTo>
                      <a:pt x="22706" y="5077"/>
                      <a:pt x="17629" y="0"/>
                      <a:pt x="113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17;p13">
                <a:extLst>
                  <a:ext uri="{FF2B5EF4-FFF2-40B4-BE49-F238E27FC236}">
                    <a16:creationId xmlns:a16="http://schemas.microsoft.com/office/drawing/2014/main" id="{7B614F24-869F-D371-0A4E-A5ED868A5DC7}"/>
                  </a:ext>
                </a:extLst>
              </p:cNvPr>
              <p:cNvSpPr/>
              <p:nvPr/>
            </p:nvSpPr>
            <p:spPr>
              <a:xfrm>
                <a:off x="9820181" y="1981671"/>
                <a:ext cx="1121212" cy="1086123"/>
              </a:xfrm>
              <a:custGeom>
                <a:avLst/>
                <a:gdLst/>
                <a:ahLst/>
                <a:cxnLst/>
                <a:rect l="l" t="t" r="r" b="b"/>
                <a:pathLst>
                  <a:path w="16807" h="16281" extrusionOk="0">
                    <a:moveTo>
                      <a:pt x="8411" y="0"/>
                    </a:moveTo>
                    <a:cubicBezTo>
                      <a:pt x="3773" y="0"/>
                      <a:pt x="1" y="3644"/>
                      <a:pt x="1" y="8140"/>
                    </a:cubicBezTo>
                    <a:cubicBezTo>
                      <a:pt x="1" y="12635"/>
                      <a:pt x="3773" y="16281"/>
                      <a:pt x="8411" y="16281"/>
                    </a:cubicBezTo>
                    <a:cubicBezTo>
                      <a:pt x="13048" y="16281"/>
                      <a:pt x="16807" y="12635"/>
                      <a:pt x="16807" y="8140"/>
                    </a:cubicBezTo>
                    <a:cubicBezTo>
                      <a:pt x="16807" y="3644"/>
                      <a:pt x="13048" y="0"/>
                      <a:pt x="84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118;p13">
                <a:extLst>
                  <a:ext uri="{FF2B5EF4-FFF2-40B4-BE49-F238E27FC236}">
                    <a16:creationId xmlns:a16="http://schemas.microsoft.com/office/drawing/2014/main" id="{3236E250-7B7F-7449-FAE2-E474559D94B6}"/>
                  </a:ext>
                </a:extLst>
              </p:cNvPr>
              <p:cNvSpPr/>
              <p:nvPr/>
            </p:nvSpPr>
            <p:spPr>
              <a:xfrm>
                <a:off x="10021588" y="4930356"/>
                <a:ext cx="718124" cy="717190"/>
              </a:xfrm>
              <a:custGeom>
                <a:avLst/>
                <a:gdLst/>
                <a:ahLst/>
                <a:cxnLst/>
                <a:rect l="l" t="t" r="r" b="b"/>
                <a:pathLst>
                  <a:path w="10765" h="10751" extrusionOk="0">
                    <a:moveTo>
                      <a:pt x="5390" y="0"/>
                    </a:moveTo>
                    <a:cubicBezTo>
                      <a:pt x="2412" y="0"/>
                      <a:pt x="1" y="2411"/>
                      <a:pt x="1" y="5375"/>
                    </a:cubicBezTo>
                    <a:cubicBezTo>
                      <a:pt x="1" y="8353"/>
                      <a:pt x="2412" y="10750"/>
                      <a:pt x="5390" y="10750"/>
                    </a:cubicBezTo>
                    <a:cubicBezTo>
                      <a:pt x="8353" y="10750"/>
                      <a:pt x="10764" y="8353"/>
                      <a:pt x="10764" y="5375"/>
                    </a:cubicBezTo>
                    <a:cubicBezTo>
                      <a:pt x="10764" y="2411"/>
                      <a:pt x="8353" y="0"/>
                      <a:pt x="53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119;p13">
                <a:extLst>
                  <a:ext uri="{FF2B5EF4-FFF2-40B4-BE49-F238E27FC236}">
                    <a16:creationId xmlns:a16="http://schemas.microsoft.com/office/drawing/2014/main" id="{D2CC21C1-D25B-9881-D5A6-B2573A57AB29}"/>
                  </a:ext>
                </a:extLst>
              </p:cNvPr>
              <p:cNvSpPr/>
              <p:nvPr/>
            </p:nvSpPr>
            <p:spPr>
              <a:xfrm>
                <a:off x="10343371" y="1624982"/>
                <a:ext cx="928152" cy="899799"/>
              </a:xfrm>
              <a:custGeom>
                <a:avLst/>
                <a:gdLst/>
                <a:ahLst/>
                <a:cxnLst/>
                <a:rect l="l" t="t" r="r" b="b"/>
                <a:pathLst>
                  <a:path w="13913" h="13488" extrusionOk="0">
                    <a:moveTo>
                      <a:pt x="1" y="0"/>
                    </a:moveTo>
                    <a:lnTo>
                      <a:pt x="1" y="213"/>
                    </a:lnTo>
                    <a:cubicBezTo>
                      <a:pt x="7559" y="213"/>
                      <a:pt x="13700" y="6170"/>
                      <a:pt x="13700" y="13487"/>
                    </a:cubicBezTo>
                    <a:lnTo>
                      <a:pt x="13912" y="13487"/>
                    </a:lnTo>
                    <a:cubicBezTo>
                      <a:pt x="13912" y="6041"/>
                      <a:pt x="7672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20;p13">
                <a:extLst>
                  <a:ext uri="{FF2B5EF4-FFF2-40B4-BE49-F238E27FC236}">
                    <a16:creationId xmlns:a16="http://schemas.microsoft.com/office/drawing/2014/main" id="{73405F23-38DD-97C6-37C6-A04D35C550DC}"/>
                  </a:ext>
                </a:extLst>
              </p:cNvPr>
              <p:cNvSpPr txBox="1"/>
              <p:nvPr/>
            </p:nvSpPr>
            <p:spPr>
              <a:xfrm>
                <a:off x="9411517" y="3275498"/>
                <a:ext cx="1939647" cy="459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222A35"/>
                  </a:buClr>
                  <a:buSzPts val="1800"/>
                </a:pPr>
                <a:r>
                  <a:rPr lang="en-US" sz="1600" dirty="0">
                    <a:solidFill>
                      <a:srgbClr val="222A35"/>
                    </a:solidFill>
                    <a:latin typeface="Georgia "/>
                    <a:ea typeface="Georgia "/>
                    <a:cs typeface="Georgia "/>
                    <a:sym typeface="Georgia "/>
                  </a:rPr>
                  <a:t>Phylogenetic analyses</a:t>
                </a:r>
                <a:endParaRPr lang="en-US" sz="1600" dirty="0"/>
              </a:p>
            </p:txBody>
          </p:sp>
          <p:sp>
            <p:nvSpPr>
              <p:cNvPr id="41" name="Google Shape;122;p13">
                <a:extLst>
                  <a:ext uri="{FF2B5EF4-FFF2-40B4-BE49-F238E27FC236}">
                    <a16:creationId xmlns:a16="http://schemas.microsoft.com/office/drawing/2014/main" id="{D44F2755-0C22-366F-9BE7-47179A144156}"/>
                  </a:ext>
                </a:extLst>
              </p:cNvPr>
              <p:cNvSpPr/>
              <p:nvPr/>
            </p:nvSpPr>
            <p:spPr>
              <a:xfrm>
                <a:off x="3758091" y="2371343"/>
                <a:ext cx="374952" cy="30677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0618" y="20400"/>
                    </a:moveTo>
                    <a:lnTo>
                      <a:pt x="18655" y="20400"/>
                    </a:lnTo>
                    <a:lnTo>
                      <a:pt x="18655" y="1200"/>
                    </a:lnTo>
                    <a:lnTo>
                      <a:pt x="20618" y="1200"/>
                    </a:lnTo>
                    <a:cubicBezTo>
                      <a:pt x="20618" y="1200"/>
                      <a:pt x="20618" y="20400"/>
                      <a:pt x="20618" y="20400"/>
                    </a:cubicBezTo>
                    <a:close/>
                    <a:moveTo>
                      <a:pt x="21109" y="0"/>
                    </a:moveTo>
                    <a:lnTo>
                      <a:pt x="18164" y="0"/>
                    </a:lnTo>
                    <a:cubicBezTo>
                      <a:pt x="17893" y="0"/>
                      <a:pt x="17673" y="269"/>
                      <a:pt x="17673" y="600"/>
                    </a:cubicBezTo>
                    <a:lnTo>
                      <a:pt x="17673" y="21000"/>
                    </a:lnTo>
                    <a:cubicBezTo>
                      <a:pt x="17673" y="21332"/>
                      <a:pt x="17893" y="21600"/>
                      <a:pt x="18164" y="21600"/>
                    </a:cubicBezTo>
                    <a:lnTo>
                      <a:pt x="21109" y="21600"/>
                    </a:lnTo>
                    <a:cubicBezTo>
                      <a:pt x="21380" y="21600"/>
                      <a:pt x="21600" y="21332"/>
                      <a:pt x="21600" y="21000"/>
                    </a:cubicBezTo>
                    <a:lnTo>
                      <a:pt x="21600" y="600"/>
                    </a:lnTo>
                    <a:cubicBezTo>
                      <a:pt x="21600" y="269"/>
                      <a:pt x="21380" y="0"/>
                      <a:pt x="21109" y="0"/>
                    </a:cubicBezTo>
                    <a:moveTo>
                      <a:pt x="8836" y="20400"/>
                    </a:moveTo>
                    <a:lnTo>
                      <a:pt x="6873" y="20400"/>
                    </a:lnTo>
                    <a:lnTo>
                      <a:pt x="6873" y="3600"/>
                    </a:lnTo>
                    <a:lnTo>
                      <a:pt x="8836" y="3600"/>
                    </a:lnTo>
                    <a:cubicBezTo>
                      <a:pt x="8836" y="3600"/>
                      <a:pt x="8836" y="20400"/>
                      <a:pt x="8836" y="20400"/>
                    </a:cubicBezTo>
                    <a:close/>
                    <a:moveTo>
                      <a:pt x="9327" y="2400"/>
                    </a:moveTo>
                    <a:lnTo>
                      <a:pt x="6382" y="2400"/>
                    </a:lnTo>
                    <a:cubicBezTo>
                      <a:pt x="6111" y="2400"/>
                      <a:pt x="5891" y="2669"/>
                      <a:pt x="5891" y="3000"/>
                    </a:cubicBezTo>
                    <a:lnTo>
                      <a:pt x="5891" y="21000"/>
                    </a:lnTo>
                    <a:cubicBezTo>
                      <a:pt x="5891" y="21332"/>
                      <a:pt x="6111" y="21600"/>
                      <a:pt x="6382" y="21600"/>
                    </a:cubicBezTo>
                    <a:lnTo>
                      <a:pt x="9327" y="21600"/>
                    </a:lnTo>
                    <a:cubicBezTo>
                      <a:pt x="9598" y="21600"/>
                      <a:pt x="9818" y="21332"/>
                      <a:pt x="9818" y="21000"/>
                    </a:cubicBezTo>
                    <a:lnTo>
                      <a:pt x="9818" y="3000"/>
                    </a:lnTo>
                    <a:cubicBezTo>
                      <a:pt x="9818" y="2669"/>
                      <a:pt x="9598" y="2400"/>
                      <a:pt x="9327" y="2400"/>
                    </a:cubicBezTo>
                    <a:moveTo>
                      <a:pt x="14727" y="20400"/>
                    </a:moveTo>
                    <a:lnTo>
                      <a:pt x="12764" y="20400"/>
                    </a:lnTo>
                    <a:lnTo>
                      <a:pt x="12764" y="10800"/>
                    </a:lnTo>
                    <a:lnTo>
                      <a:pt x="14727" y="10800"/>
                    </a:lnTo>
                    <a:cubicBezTo>
                      <a:pt x="14727" y="10800"/>
                      <a:pt x="14727" y="20400"/>
                      <a:pt x="14727" y="20400"/>
                    </a:cubicBezTo>
                    <a:close/>
                    <a:moveTo>
                      <a:pt x="15218" y="9600"/>
                    </a:moveTo>
                    <a:lnTo>
                      <a:pt x="12273" y="9600"/>
                    </a:lnTo>
                    <a:cubicBezTo>
                      <a:pt x="12002" y="9600"/>
                      <a:pt x="11782" y="9869"/>
                      <a:pt x="11782" y="10200"/>
                    </a:cubicBezTo>
                    <a:lnTo>
                      <a:pt x="11782" y="21000"/>
                    </a:lnTo>
                    <a:cubicBezTo>
                      <a:pt x="11782" y="21332"/>
                      <a:pt x="12002" y="21600"/>
                      <a:pt x="12273" y="21600"/>
                    </a:cubicBezTo>
                    <a:lnTo>
                      <a:pt x="15218" y="21600"/>
                    </a:lnTo>
                    <a:cubicBezTo>
                      <a:pt x="15489" y="21600"/>
                      <a:pt x="15709" y="21332"/>
                      <a:pt x="15709" y="21000"/>
                    </a:cubicBezTo>
                    <a:lnTo>
                      <a:pt x="15709" y="10200"/>
                    </a:lnTo>
                    <a:cubicBezTo>
                      <a:pt x="15709" y="9869"/>
                      <a:pt x="15489" y="9600"/>
                      <a:pt x="15218" y="9600"/>
                    </a:cubicBezTo>
                    <a:moveTo>
                      <a:pt x="2945" y="20400"/>
                    </a:moveTo>
                    <a:lnTo>
                      <a:pt x="982" y="20400"/>
                    </a:lnTo>
                    <a:lnTo>
                      <a:pt x="982" y="14400"/>
                    </a:lnTo>
                    <a:lnTo>
                      <a:pt x="2945" y="14400"/>
                    </a:lnTo>
                    <a:cubicBezTo>
                      <a:pt x="2945" y="14400"/>
                      <a:pt x="2945" y="20400"/>
                      <a:pt x="2945" y="20400"/>
                    </a:cubicBezTo>
                    <a:close/>
                    <a:moveTo>
                      <a:pt x="3436" y="13200"/>
                    </a:moveTo>
                    <a:lnTo>
                      <a:pt x="491" y="13200"/>
                    </a:lnTo>
                    <a:cubicBezTo>
                      <a:pt x="220" y="13200"/>
                      <a:pt x="0" y="13469"/>
                      <a:pt x="0" y="13800"/>
                    </a:cubicBezTo>
                    <a:lnTo>
                      <a:pt x="0" y="21000"/>
                    </a:lnTo>
                    <a:cubicBezTo>
                      <a:pt x="0" y="21332"/>
                      <a:pt x="220" y="21600"/>
                      <a:pt x="491" y="21600"/>
                    </a:cubicBezTo>
                    <a:lnTo>
                      <a:pt x="3436" y="21600"/>
                    </a:lnTo>
                    <a:cubicBezTo>
                      <a:pt x="3707" y="21600"/>
                      <a:pt x="3927" y="21332"/>
                      <a:pt x="3927" y="21000"/>
                    </a:cubicBezTo>
                    <a:lnTo>
                      <a:pt x="3927" y="13800"/>
                    </a:lnTo>
                    <a:cubicBezTo>
                      <a:pt x="3927" y="13469"/>
                      <a:pt x="3707" y="13200"/>
                      <a:pt x="3436" y="132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23;p13">
                <a:extLst>
                  <a:ext uri="{FF2B5EF4-FFF2-40B4-BE49-F238E27FC236}">
                    <a16:creationId xmlns:a16="http://schemas.microsoft.com/office/drawing/2014/main" id="{FF59BD73-4D0F-9E8E-2492-5BD18FD85C07}"/>
                  </a:ext>
                </a:extLst>
              </p:cNvPr>
              <p:cNvSpPr/>
              <p:nvPr/>
            </p:nvSpPr>
            <p:spPr>
              <a:xfrm>
                <a:off x="8096155" y="2337256"/>
                <a:ext cx="374952" cy="3749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327" y="17673"/>
                    </a:moveTo>
                    <a:cubicBezTo>
                      <a:pt x="4718" y="17673"/>
                      <a:pt x="982" y="13936"/>
                      <a:pt x="982" y="9327"/>
                    </a:cubicBezTo>
                    <a:cubicBezTo>
                      <a:pt x="982" y="4718"/>
                      <a:pt x="4718" y="982"/>
                      <a:pt x="9327" y="982"/>
                    </a:cubicBezTo>
                    <a:cubicBezTo>
                      <a:pt x="13936" y="982"/>
                      <a:pt x="17673" y="4718"/>
                      <a:pt x="17673" y="9327"/>
                    </a:cubicBezTo>
                    <a:cubicBezTo>
                      <a:pt x="17673" y="13936"/>
                      <a:pt x="13936" y="17673"/>
                      <a:pt x="9327" y="17673"/>
                    </a:cubicBezTo>
                    <a:moveTo>
                      <a:pt x="21456" y="20762"/>
                    </a:moveTo>
                    <a:lnTo>
                      <a:pt x="16253" y="15559"/>
                    </a:lnTo>
                    <a:cubicBezTo>
                      <a:pt x="17741" y="13907"/>
                      <a:pt x="18655" y="11726"/>
                      <a:pt x="18655" y="9327"/>
                    </a:cubicBezTo>
                    <a:cubicBezTo>
                      <a:pt x="18655" y="4176"/>
                      <a:pt x="14479" y="0"/>
                      <a:pt x="9327" y="0"/>
                    </a:cubicBezTo>
                    <a:cubicBezTo>
                      <a:pt x="4176" y="0"/>
                      <a:pt x="0" y="4176"/>
                      <a:pt x="0" y="9327"/>
                    </a:cubicBezTo>
                    <a:cubicBezTo>
                      <a:pt x="0" y="14479"/>
                      <a:pt x="4176" y="18655"/>
                      <a:pt x="9327" y="18655"/>
                    </a:cubicBezTo>
                    <a:cubicBezTo>
                      <a:pt x="11726" y="18655"/>
                      <a:pt x="13907" y="17742"/>
                      <a:pt x="15559" y="16253"/>
                    </a:cubicBezTo>
                    <a:lnTo>
                      <a:pt x="20762" y="21456"/>
                    </a:lnTo>
                    <a:cubicBezTo>
                      <a:pt x="20851" y="21546"/>
                      <a:pt x="20973" y="21600"/>
                      <a:pt x="21109" y="21600"/>
                    </a:cubicBezTo>
                    <a:cubicBezTo>
                      <a:pt x="21380" y="21600"/>
                      <a:pt x="21600" y="21381"/>
                      <a:pt x="21600" y="21109"/>
                    </a:cubicBezTo>
                    <a:cubicBezTo>
                      <a:pt x="21600" y="20974"/>
                      <a:pt x="21545" y="20851"/>
                      <a:pt x="21456" y="207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" name="Google Shape;132;p13">
                <a:extLst>
                  <a:ext uri="{FF2B5EF4-FFF2-40B4-BE49-F238E27FC236}">
                    <a16:creationId xmlns:a16="http://schemas.microsoft.com/office/drawing/2014/main" id="{12D888E8-894B-BCF2-B449-6D62656E85F1}"/>
                  </a:ext>
                </a:extLst>
              </p:cNvPr>
              <p:cNvCxnSpPr/>
              <p:nvPr/>
            </p:nvCxnSpPr>
            <p:spPr>
              <a:xfrm>
                <a:off x="1908478" y="2349046"/>
                <a:ext cx="0" cy="0"/>
              </a:xfrm>
              <a:prstGeom prst="straightConnector1">
                <a:avLst/>
              </a:prstGeom>
              <a:noFill/>
              <a:ln w="12700" cap="rnd" cmpd="sng">
                <a:solidFill>
                  <a:srgbClr val="13030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" name="Google Shape;140;p13">
                <a:extLst>
                  <a:ext uri="{FF2B5EF4-FFF2-40B4-BE49-F238E27FC236}">
                    <a16:creationId xmlns:a16="http://schemas.microsoft.com/office/drawing/2014/main" id="{3D077AA4-F8AB-C9E7-CBAA-CD36DC9659FC}"/>
                  </a:ext>
                </a:extLst>
              </p:cNvPr>
              <p:cNvSpPr txBox="1"/>
              <p:nvPr/>
            </p:nvSpPr>
            <p:spPr>
              <a:xfrm>
                <a:off x="807659" y="4127621"/>
                <a:ext cx="2009519" cy="6525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>
                  <a:buClr>
                    <a:srgbClr val="263238"/>
                  </a:buClr>
                  <a:buSzPts val="1200"/>
                </a:pPr>
                <a:r>
                  <a:rPr lang="en-US" sz="1200" dirty="0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Metadata design and collection</a:t>
                </a:r>
                <a:endParaRPr sz="12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41;p13">
                <a:extLst>
                  <a:ext uri="{FF2B5EF4-FFF2-40B4-BE49-F238E27FC236}">
                    <a16:creationId xmlns:a16="http://schemas.microsoft.com/office/drawing/2014/main" id="{4327AFDE-4CE4-8219-3F90-3F95971BA002}"/>
                  </a:ext>
                </a:extLst>
              </p:cNvPr>
              <p:cNvSpPr txBox="1"/>
              <p:nvPr/>
            </p:nvSpPr>
            <p:spPr>
              <a:xfrm>
                <a:off x="2960134" y="4126824"/>
                <a:ext cx="2009519" cy="6525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>
                  <a:buClr>
                    <a:srgbClr val="263238"/>
                  </a:buClr>
                  <a:buSzPts val="1200"/>
                </a:pPr>
                <a:r>
                  <a:rPr lang="en-US" sz="1200" dirty="0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Isolation, culture, disc diffusion</a:t>
                </a:r>
                <a:endParaRPr sz="12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42;p13">
                <a:extLst>
                  <a:ext uri="{FF2B5EF4-FFF2-40B4-BE49-F238E27FC236}">
                    <a16:creationId xmlns:a16="http://schemas.microsoft.com/office/drawing/2014/main" id="{FC491C9E-0F52-C90C-6998-5DB39ABBF51E}"/>
                  </a:ext>
                </a:extLst>
              </p:cNvPr>
              <p:cNvSpPr txBox="1"/>
              <p:nvPr/>
            </p:nvSpPr>
            <p:spPr>
              <a:xfrm>
                <a:off x="5084517" y="4156354"/>
                <a:ext cx="2009519" cy="6525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>
                  <a:buClr>
                    <a:srgbClr val="263238"/>
                  </a:buClr>
                  <a:buSzPts val="1200"/>
                </a:pPr>
                <a:r>
                  <a:rPr lang="en-US" sz="1200" dirty="0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Illumina &amp; ONT, genomic QC</a:t>
                </a:r>
                <a:endParaRPr sz="12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43;p13">
                <a:extLst>
                  <a:ext uri="{FF2B5EF4-FFF2-40B4-BE49-F238E27FC236}">
                    <a16:creationId xmlns:a16="http://schemas.microsoft.com/office/drawing/2014/main" id="{C5A222F4-5ABA-9BD9-950F-07234AD11F0E}"/>
                  </a:ext>
                </a:extLst>
              </p:cNvPr>
              <p:cNvSpPr txBox="1"/>
              <p:nvPr/>
            </p:nvSpPr>
            <p:spPr>
              <a:xfrm>
                <a:off x="7266405" y="4082446"/>
                <a:ext cx="2009519" cy="9135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>
                  <a:buClr>
                    <a:srgbClr val="263238"/>
                  </a:buClr>
                  <a:buSzPts val="1200"/>
                </a:pPr>
                <a:r>
                  <a:rPr lang="en-US" sz="1200" dirty="0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AMR bioinformatic detection and metagenomics</a:t>
                </a:r>
                <a:endParaRPr lang="en-US" sz="12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44;p13">
                <a:extLst>
                  <a:ext uri="{FF2B5EF4-FFF2-40B4-BE49-F238E27FC236}">
                    <a16:creationId xmlns:a16="http://schemas.microsoft.com/office/drawing/2014/main" id="{CFBFF49B-C38A-DB14-EBE8-A44710CC0786}"/>
                  </a:ext>
                </a:extLst>
              </p:cNvPr>
              <p:cNvSpPr txBox="1"/>
              <p:nvPr/>
            </p:nvSpPr>
            <p:spPr>
              <a:xfrm>
                <a:off x="9263378" y="4070148"/>
                <a:ext cx="2208758" cy="9135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>
                  <a:buClr>
                    <a:srgbClr val="263238"/>
                  </a:buClr>
                  <a:buSzPts val="1200"/>
                </a:pPr>
                <a:r>
                  <a:rPr lang="en-US" sz="1200" dirty="0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Alignment and variant calling, phylogenetic reconstruction</a:t>
                </a:r>
                <a:endParaRPr lang="en-US" sz="12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C0EEA2CC-E81A-9EB9-50CF-5380350E0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8103" y="2475861"/>
              <a:ext cx="427833" cy="427833"/>
            </a:xfrm>
            <a:prstGeom prst="rect">
              <a:avLst/>
            </a:prstGeom>
          </p:spPr>
        </p:pic>
        <p:pic>
          <p:nvPicPr>
            <p:cNvPr id="65" name="Picture 64" descr="A diagram of a circle with black circles&#10;&#10;Description automatically generated">
              <a:extLst>
                <a:ext uri="{FF2B5EF4-FFF2-40B4-BE49-F238E27FC236}">
                  <a16:creationId xmlns:a16="http://schemas.microsoft.com/office/drawing/2014/main" id="{836A3AA2-FE6C-3057-660A-0F933E1D18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1324" t="9368" r="27541" b="45815"/>
            <a:stretch/>
          </p:blipFill>
          <p:spPr>
            <a:xfrm>
              <a:off x="3654165" y="2418788"/>
              <a:ext cx="524216" cy="549023"/>
            </a:xfrm>
            <a:prstGeom prst="rect">
              <a:avLst/>
            </a:prstGeom>
            <a:noFill/>
            <a:ln w="22225">
              <a:noFill/>
            </a:ln>
          </p:spPr>
        </p:pic>
        <p:pic>
          <p:nvPicPr>
            <p:cNvPr id="1026" name="Picture 2" descr="Nanopore store: MinION">
              <a:extLst>
                <a:ext uri="{FF2B5EF4-FFF2-40B4-BE49-F238E27FC236}">
                  <a16:creationId xmlns:a16="http://schemas.microsoft.com/office/drawing/2014/main" id="{FB3EA177-EED2-DD7A-2C1E-AD8F4CA29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9155" y="2516087"/>
              <a:ext cx="541463" cy="399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2" descr="figure 3">
              <a:extLst>
                <a:ext uri="{FF2B5EF4-FFF2-40B4-BE49-F238E27FC236}">
                  <a16:creationId xmlns:a16="http://schemas.microsoft.com/office/drawing/2014/main" id="{742F9679-5726-5715-3554-50FB744403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52" t="38209" r="19041" b="42682"/>
            <a:stretch/>
          </p:blipFill>
          <p:spPr bwMode="auto">
            <a:xfrm>
              <a:off x="8160159" y="2426699"/>
              <a:ext cx="583982" cy="519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85CB274-E06F-B294-66AF-3679B61F28D7}"/>
                </a:ext>
              </a:extLst>
            </p:cNvPr>
            <p:cNvSpPr txBox="1"/>
            <p:nvPr/>
          </p:nvSpPr>
          <p:spPr>
            <a:xfrm>
              <a:off x="1776971" y="5033103"/>
              <a:ext cx="1137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Georgia" panose="02040502050405020303" pitchFamily="18" charset="0"/>
                </a:rPr>
                <a:t>Epicollect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72DC63D-67A9-0B64-F70B-0E1C332CE18E}"/>
                </a:ext>
              </a:extLst>
            </p:cNvPr>
            <p:cNvGrpSpPr/>
            <p:nvPr/>
          </p:nvGrpSpPr>
          <p:grpSpPr>
            <a:xfrm>
              <a:off x="9237831" y="2051213"/>
              <a:ext cx="1421574" cy="2845642"/>
              <a:chOff x="9071112" y="2056142"/>
              <a:chExt cx="1673738" cy="3350412"/>
            </a:xfrm>
          </p:grpSpPr>
          <p:sp>
            <p:nvSpPr>
              <p:cNvPr id="72" name="Google Shape;115;p13">
                <a:extLst>
                  <a:ext uri="{FF2B5EF4-FFF2-40B4-BE49-F238E27FC236}">
                    <a16:creationId xmlns:a16="http://schemas.microsoft.com/office/drawing/2014/main" id="{529113C7-5FBF-3FAC-EDED-90E66AB6780B}"/>
                  </a:ext>
                </a:extLst>
              </p:cNvPr>
              <p:cNvSpPr/>
              <p:nvPr/>
            </p:nvSpPr>
            <p:spPr>
              <a:xfrm>
                <a:off x="9110636" y="2878023"/>
                <a:ext cx="1615411" cy="2149728"/>
              </a:xfrm>
              <a:custGeom>
                <a:avLst/>
                <a:gdLst/>
                <a:ahLst/>
                <a:cxnLst/>
                <a:rect l="l" t="t" r="r" b="b"/>
                <a:pathLst>
                  <a:path w="29073" h="30817" extrusionOk="0">
                    <a:moveTo>
                      <a:pt x="185" y="0"/>
                    </a:moveTo>
                    <a:cubicBezTo>
                      <a:pt x="85" y="0"/>
                      <a:pt x="0" y="85"/>
                      <a:pt x="0" y="199"/>
                    </a:cubicBezTo>
                    <a:lnTo>
                      <a:pt x="0" y="30179"/>
                    </a:lnTo>
                    <a:cubicBezTo>
                      <a:pt x="0" y="30533"/>
                      <a:pt x="284" y="30816"/>
                      <a:pt x="624" y="30816"/>
                    </a:cubicBezTo>
                    <a:lnTo>
                      <a:pt x="28435" y="30816"/>
                    </a:lnTo>
                    <a:cubicBezTo>
                      <a:pt x="28789" y="30816"/>
                      <a:pt x="29073" y="30533"/>
                      <a:pt x="29073" y="30179"/>
                    </a:cubicBezTo>
                    <a:lnTo>
                      <a:pt x="29073" y="199"/>
                    </a:lnTo>
                    <a:cubicBezTo>
                      <a:pt x="29073" y="85"/>
                      <a:pt x="28988" y="0"/>
                      <a:pt x="28874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116;p13">
                <a:extLst>
                  <a:ext uri="{FF2B5EF4-FFF2-40B4-BE49-F238E27FC236}">
                    <a16:creationId xmlns:a16="http://schemas.microsoft.com/office/drawing/2014/main" id="{EFA00EFE-F32E-63FD-52E4-061AFEF00AC6}"/>
                  </a:ext>
                </a:extLst>
              </p:cNvPr>
              <p:cNvSpPr/>
              <p:nvPr/>
            </p:nvSpPr>
            <p:spPr>
              <a:xfrm>
                <a:off x="9287089" y="2175156"/>
                <a:ext cx="1261691" cy="1261580"/>
              </a:xfrm>
              <a:custGeom>
                <a:avLst/>
                <a:gdLst/>
                <a:ahLst/>
                <a:cxnLst/>
                <a:rect l="l" t="t" r="r" b="b"/>
                <a:pathLst>
                  <a:path w="22707" h="22705" extrusionOk="0">
                    <a:moveTo>
                      <a:pt x="11361" y="0"/>
                    </a:moveTo>
                    <a:cubicBezTo>
                      <a:pt x="5078" y="0"/>
                      <a:pt x="1" y="5077"/>
                      <a:pt x="1" y="11345"/>
                    </a:cubicBezTo>
                    <a:cubicBezTo>
                      <a:pt x="1" y="17614"/>
                      <a:pt x="5078" y="22704"/>
                      <a:pt x="11361" y="22704"/>
                    </a:cubicBezTo>
                    <a:cubicBezTo>
                      <a:pt x="17629" y="22704"/>
                      <a:pt x="22706" y="17614"/>
                      <a:pt x="22706" y="11345"/>
                    </a:cubicBezTo>
                    <a:cubicBezTo>
                      <a:pt x="22706" y="5077"/>
                      <a:pt x="17629" y="0"/>
                      <a:pt x="113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118;p13">
                <a:extLst>
                  <a:ext uri="{FF2B5EF4-FFF2-40B4-BE49-F238E27FC236}">
                    <a16:creationId xmlns:a16="http://schemas.microsoft.com/office/drawing/2014/main" id="{EAF7C212-4346-BBFC-C970-4E2D92C40398}"/>
                  </a:ext>
                </a:extLst>
              </p:cNvPr>
              <p:cNvSpPr/>
              <p:nvPr/>
            </p:nvSpPr>
            <p:spPr>
              <a:xfrm>
                <a:off x="9618749" y="4809203"/>
                <a:ext cx="598129" cy="597351"/>
              </a:xfrm>
              <a:custGeom>
                <a:avLst/>
                <a:gdLst/>
                <a:ahLst/>
                <a:cxnLst/>
                <a:rect l="l" t="t" r="r" b="b"/>
                <a:pathLst>
                  <a:path w="10765" h="10751" extrusionOk="0">
                    <a:moveTo>
                      <a:pt x="5390" y="0"/>
                    </a:moveTo>
                    <a:cubicBezTo>
                      <a:pt x="2412" y="0"/>
                      <a:pt x="1" y="2411"/>
                      <a:pt x="1" y="5375"/>
                    </a:cubicBezTo>
                    <a:cubicBezTo>
                      <a:pt x="1" y="8353"/>
                      <a:pt x="2412" y="10750"/>
                      <a:pt x="5390" y="10750"/>
                    </a:cubicBezTo>
                    <a:cubicBezTo>
                      <a:pt x="8353" y="10750"/>
                      <a:pt x="10764" y="8353"/>
                      <a:pt x="10764" y="5375"/>
                    </a:cubicBezTo>
                    <a:cubicBezTo>
                      <a:pt x="10764" y="2411"/>
                      <a:pt x="8353" y="0"/>
                      <a:pt x="53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119;p13">
                <a:extLst>
                  <a:ext uri="{FF2B5EF4-FFF2-40B4-BE49-F238E27FC236}">
                    <a16:creationId xmlns:a16="http://schemas.microsoft.com/office/drawing/2014/main" id="{C525B5FE-A0EE-38C5-B07C-FA4D04FABE4C}"/>
                  </a:ext>
                </a:extLst>
              </p:cNvPr>
              <p:cNvSpPr/>
              <p:nvPr/>
            </p:nvSpPr>
            <p:spPr>
              <a:xfrm>
                <a:off x="9886764" y="2056142"/>
                <a:ext cx="773062" cy="749447"/>
              </a:xfrm>
              <a:custGeom>
                <a:avLst/>
                <a:gdLst/>
                <a:ahLst/>
                <a:cxnLst/>
                <a:rect l="l" t="t" r="r" b="b"/>
                <a:pathLst>
                  <a:path w="13913" h="13488" extrusionOk="0">
                    <a:moveTo>
                      <a:pt x="1" y="0"/>
                    </a:moveTo>
                    <a:lnTo>
                      <a:pt x="1" y="213"/>
                    </a:lnTo>
                    <a:cubicBezTo>
                      <a:pt x="7559" y="213"/>
                      <a:pt x="13700" y="6170"/>
                      <a:pt x="13700" y="13487"/>
                    </a:cubicBezTo>
                    <a:lnTo>
                      <a:pt x="13912" y="13487"/>
                    </a:lnTo>
                    <a:cubicBezTo>
                      <a:pt x="13912" y="6041"/>
                      <a:pt x="7672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90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117;p13">
                <a:extLst>
                  <a:ext uri="{FF2B5EF4-FFF2-40B4-BE49-F238E27FC236}">
                    <a16:creationId xmlns:a16="http://schemas.microsoft.com/office/drawing/2014/main" id="{A8C84AA4-AFEB-DD79-0667-B024D10D79EA}"/>
                  </a:ext>
                </a:extLst>
              </p:cNvPr>
              <p:cNvSpPr/>
              <p:nvPr/>
            </p:nvSpPr>
            <p:spPr>
              <a:xfrm>
                <a:off x="9450881" y="2348308"/>
                <a:ext cx="933863" cy="904637"/>
              </a:xfrm>
              <a:custGeom>
                <a:avLst/>
                <a:gdLst/>
                <a:ahLst/>
                <a:cxnLst/>
                <a:rect l="l" t="t" r="r" b="b"/>
                <a:pathLst>
                  <a:path w="16807" h="16281" extrusionOk="0">
                    <a:moveTo>
                      <a:pt x="8411" y="0"/>
                    </a:moveTo>
                    <a:cubicBezTo>
                      <a:pt x="3773" y="0"/>
                      <a:pt x="1" y="3644"/>
                      <a:pt x="1" y="8140"/>
                    </a:cubicBezTo>
                    <a:cubicBezTo>
                      <a:pt x="1" y="12635"/>
                      <a:pt x="3773" y="16281"/>
                      <a:pt x="8411" y="16281"/>
                    </a:cubicBezTo>
                    <a:cubicBezTo>
                      <a:pt x="13048" y="16281"/>
                      <a:pt x="16807" y="12635"/>
                      <a:pt x="16807" y="8140"/>
                    </a:cubicBezTo>
                    <a:cubicBezTo>
                      <a:pt x="16807" y="3644"/>
                      <a:pt x="13048" y="0"/>
                      <a:pt x="84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800"/>
                </a:pPr>
                <a:endParaRPr sz="18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120;p13">
                <a:extLst>
                  <a:ext uri="{FF2B5EF4-FFF2-40B4-BE49-F238E27FC236}">
                    <a16:creationId xmlns:a16="http://schemas.microsoft.com/office/drawing/2014/main" id="{84F5A8BA-79C9-DA89-1372-503903886AE5}"/>
                  </a:ext>
                </a:extLst>
              </p:cNvPr>
              <p:cNvSpPr txBox="1"/>
              <p:nvPr/>
            </p:nvSpPr>
            <p:spPr>
              <a:xfrm>
                <a:off x="9100784" y="3397874"/>
                <a:ext cx="1615541" cy="3824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222A35"/>
                  </a:buClr>
                  <a:buSzPts val="1800"/>
                </a:pPr>
                <a:r>
                  <a:rPr lang="en-US" sz="1800" dirty="0">
                    <a:solidFill>
                      <a:srgbClr val="222A35"/>
                    </a:solidFill>
                    <a:latin typeface="Georgia "/>
                    <a:ea typeface="Georgia "/>
                    <a:cs typeface="Georgia "/>
                    <a:sym typeface="Georgia "/>
                  </a:rPr>
                  <a:t>Data integration</a:t>
                </a:r>
                <a:endParaRPr dirty="0"/>
              </a:p>
            </p:txBody>
          </p:sp>
          <p:sp>
            <p:nvSpPr>
              <p:cNvPr id="79" name="Google Shape;144;p13">
                <a:extLst>
                  <a:ext uri="{FF2B5EF4-FFF2-40B4-BE49-F238E27FC236}">
                    <a16:creationId xmlns:a16="http://schemas.microsoft.com/office/drawing/2014/main" id="{75EA5C4F-A51E-3CBA-4AAC-BF0BB509B5D7}"/>
                  </a:ext>
                </a:extLst>
              </p:cNvPr>
              <p:cNvSpPr txBox="1"/>
              <p:nvPr/>
            </p:nvSpPr>
            <p:spPr>
              <a:xfrm>
                <a:off x="9071112" y="4233388"/>
                <a:ext cx="1673738" cy="5435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>
                  <a:buClr>
                    <a:srgbClr val="263238"/>
                  </a:buClr>
                  <a:buSzPts val="1200"/>
                </a:pPr>
                <a:r>
                  <a:rPr lang="en-US" sz="1200" dirty="0" err="1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Epicollect</a:t>
                </a:r>
                <a:r>
                  <a:rPr lang="en-US" sz="1200" dirty="0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, </a:t>
                </a:r>
                <a:r>
                  <a:rPr lang="en-US" sz="1200" dirty="0" err="1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Microreact</a:t>
                </a:r>
                <a:endParaRPr sz="12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028" name="Picture 4" descr="Microreact - Open data visualization and sharing for genomic epidemiology">
              <a:extLst>
                <a:ext uri="{FF2B5EF4-FFF2-40B4-BE49-F238E27FC236}">
                  <a16:creationId xmlns:a16="http://schemas.microsoft.com/office/drawing/2014/main" id="{E7BF78AD-4990-C65A-175E-2D345E91EC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1487" y="2398720"/>
              <a:ext cx="599777" cy="599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Right Arrow 80">
              <a:extLst>
                <a:ext uri="{FF2B5EF4-FFF2-40B4-BE49-F238E27FC236}">
                  <a16:creationId xmlns:a16="http://schemas.microsoft.com/office/drawing/2014/main" id="{39A0F9DF-C54F-E61F-319D-573B58584155}"/>
                </a:ext>
              </a:extLst>
            </p:cNvPr>
            <p:cNvSpPr/>
            <p:nvPr/>
          </p:nvSpPr>
          <p:spPr>
            <a:xfrm>
              <a:off x="2632294" y="4575123"/>
              <a:ext cx="1041514" cy="206087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Right Arrow 81">
              <a:extLst>
                <a:ext uri="{FF2B5EF4-FFF2-40B4-BE49-F238E27FC236}">
                  <a16:creationId xmlns:a16="http://schemas.microsoft.com/office/drawing/2014/main" id="{524CC4C2-3A49-5761-8556-1582CBEDD3DA}"/>
                </a:ext>
              </a:extLst>
            </p:cNvPr>
            <p:cNvSpPr/>
            <p:nvPr/>
          </p:nvSpPr>
          <p:spPr>
            <a:xfrm>
              <a:off x="4161398" y="4560268"/>
              <a:ext cx="1041514" cy="206087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ight Arrow 82">
              <a:extLst>
                <a:ext uri="{FF2B5EF4-FFF2-40B4-BE49-F238E27FC236}">
                  <a16:creationId xmlns:a16="http://schemas.microsoft.com/office/drawing/2014/main" id="{3F30188F-7B6A-8683-22A4-BC1A1E713F45}"/>
                </a:ext>
              </a:extLst>
            </p:cNvPr>
            <p:cNvSpPr/>
            <p:nvPr/>
          </p:nvSpPr>
          <p:spPr>
            <a:xfrm>
              <a:off x="5700594" y="4564357"/>
              <a:ext cx="1041514" cy="206087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ight Arrow 83">
              <a:extLst>
                <a:ext uri="{FF2B5EF4-FFF2-40B4-BE49-F238E27FC236}">
                  <a16:creationId xmlns:a16="http://schemas.microsoft.com/office/drawing/2014/main" id="{10BE1F22-7927-04C2-695A-D525E84E7FC3}"/>
                </a:ext>
              </a:extLst>
            </p:cNvPr>
            <p:cNvSpPr/>
            <p:nvPr/>
          </p:nvSpPr>
          <p:spPr>
            <a:xfrm>
              <a:off x="7230963" y="4560268"/>
              <a:ext cx="974514" cy="206087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Right Arrow 84">
              <a:extLst>
                <a:ext uri="{FF2B5EF4-FFF2-40B4-BE49-F238E27FC236}">
                  <a16:creationId xmlns:a16="http://schemas.microsoft.com/office/drawing/2014/main" id="{600132E2-8670-E567-00FC-48B641A9CF34}"/>
                </a:ext>
              </a:extLst>
            </p:cNvPr>
            <p:cNvSpPr/>
            <p:nvPr/>
          </p:nvSpPr>
          <p:spPr>
            <a:xfrm>
              <a:off x="8721198" y="4563785"/>
              <a:ext cx="974514" cy="206087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70390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CC3908-5B33-0F4E-AA4B-084765008D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F1F3DD-D770-B34E-9AB9-61233708A056}"/>
              </a:ext>
            </a:extLst>
          </p:cNvPr>
          <p:cNvSpPr/>
          <p:nvPr/>
        </p:nvSpPr>
        <p:spPr>
          <a:xfrm>
            <a:off x="720000" y="1105818"/>
            <a:ext cx="450155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 to Epicollect and practical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https://five.epicollect.net/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3378889-0DFB-992F-A50B-25CB392DE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2320323"/>
            <a:ext cx="8705374" cy="396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2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CC3908-5B33-0F4E-AA4B-084765008D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F1F3DD-D770-B34E-9AB9-61233708A056}"/>
              </a:ext>
            </a:extLst>
          </p:cNvPr>
          <p:cNvSpPr/>
          <p:nvPr/>
        </p:nvSpPr>
        <p:spPr>
          <a:xfrm>
            <a:off x="720000" y="1105818"/>
            <a:ext cx="49712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Epicollect exercise case Information 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C691BC-ED4A-2857-28FD-34B73A5DF6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" b="6972"/>
          <a:stretch/>
        </p:blipFill>
        <p:spPr bwMode="auto">
          <a:xfrm>
            <a:off x="1692812" y="1702774"/>
            <a:ext cx="3836353" cy="49550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28EB9D55-AF57-E5A7-EB82-2CDC6FB5FECC}"/>
              </a:ext>
            </a:extLst>
          </p:cNvPr>
          <p:cNvSpPr/>
          <p:nvPr/>
        </p:nvSpPr>
        <p:spPr>
          <a:xfrm>
            <a:off x="5342239" y="2088293"/>
            <a:ext cx="345989" cy="1223319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7F5F43-3C0C-B8A0-4050-3D53668C8E75}"/>
              </a:ext>
            </a:extLst>
          </p:cNvPr>
          <p:cNvSpPr/>
          <p:nvPr/>
        </p:nvSpPr>
        <p:spPr>
          <a:xfrm>
            <a:off x="5832583" y="2499896"/>
            <a:ext cx="43411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Basic sample, demographic and epidemiological data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FC0DB9DA-83AC-D4E4-A783-2BD179614C50}"/>
              </a:ext>
            </a:extLst>
          </p:cNvPr>
          <p:cNvSpPr/>
          <p:nvPr/>
        </p:nvSpPr>
        <p:spPr>
          <a:xfrm>
            <a:off x="5387315" y="3435520"/>
            <a:ext cx="345989" cy="458456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6820F9-F34D-768B-1C82-C5F6AC3F9914}"/>
              </a:ext>
            </a:extLst>
          </p:cNvPr>
          <p:cNvSpPr/>
          <p:nvPr/>
        </p:nvSpPr>
        <p:spPr>
          <a:xfrm>
            <a:off x="5832583" y="3474580"/>
            <a:ext cx="48354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Species, strain typing info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to be introduced later this week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396E9348-EF45-BEBC-52C1-6AD00F9F0314}"/>
              </a:ext>
            </a:extLst>
          </p:cNvPr>
          <p:cNvSpPr/>
          <p:nvPr/>
        </p:nvSpPr>
        <p:spPr>
          <a:xfrm>
            <a:off x="5385742" y="4017885"/>
            <a:ext cx="345989" cy="1480873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1337AB-D008-CD2E-B87E-329A517C23EF}"/>
              </a:ext>
            </a:extLst>
          </p:cNvPr>
          <p:cNvSpPr/>
          <p:nvPr/>
        </p:nvSpPr>
        <p:spPr>
          <a:xfrm>
            <a:off x="5832583" y="4589043"/>
            <a:ext cx="51196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AMR phenotype and genotype data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to be introduced later this week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6D4730-D888-082F-252C-4CC23FB1EEB0}"/>
              </a:ext>
            </a:extLst>
          </p:cNvPr>
          <p:cNvSpPr/>
          <p:nvPr/>
        </p:nvSpPr>
        <p:spPr>
          <a:xfrm>
            <a:off x="5529165" y="5882892"/>
            <a:ext cx="4501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 to Epicollect and practical</a:t>
            </a:r>
          </a:p>
        </p:txBody>
      </p:sp>
    </p:spTree>
    <p:extLst>
      <p:ext uri="{BB962C8B-B14F-4D97-AF65-F5344CB8AC3E}">
        <p14:creationId xmlns:p14="http://schemas.microsoft.com/office/powerpoint/2010/main" val="117156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CC3908-5B33-0F4E-AA4B-084765008D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F1F3DD-D770-B34E-9AB9-61233708A056}"/>
              </a:ext>
            </a:extLst>
          </p:cNvPr>
          <p:cNvSpPr/>
          <p:nvPr/>
        </p:nvSpPr>
        <p:spPr>
          <a:xfrm>
            <a:off x="720000" y="1105818"/>
            <a:ext cx="26613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 on in the course</a:t>
            </a:r>
          </a:p>
        </p:txBody>
      </p:sp>
      <p:pic>
        <p:nvPicPr>
          <p:cNvPr id="7" name="Picture 6" descr="A diagram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D998CA11-9140-5FAB-EB3F-0F9A48112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44" y="1834628"/>
            <a:ext cx="3661550" cy="46698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5EC02C49-5F33-E344-8348-DADA5DFE7709}"/>
              </a:ext>
            </a:extLst>
          </p:cNvPr>
          <p:cNvSpPr/>
          <p:nvPr/>
        </p:nvSpPr>
        <p:spPr>
          <a:xfrm>
            <a:off x="6565558" y="2063579"/>
            <a:ext cx="345989" cy="1606379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C1E2F0-16F3-C1B9-8F01-D08F6FE99628}"/>
              </a:ext>
            </a:extLst>
          </p:cNvPr>
          <p:cNvSpPr/>
          <p:nvPr/>
        </p:nvSpPr>
        <p:spPr>
          <a:xfrm>
            <a:off x="7006475" y="2682102"/>
            <a:ext cx="43411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Disk diffusion plates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6426BD7-3C6B-F7D4-33EE-8CAB50454FDF}"/>
              </a:ext>
            </a:extLst>
          </p:cNvPr>
          <p:cNvSpPr/>
          <p:nvPr/>
        </p:nvSpPr>
        <p:spPr>
          <a:xfrm>
            <a:off x="6582032" y="4020065"/>
            <a:ext cx="345989" cy="2096530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56FD0A-795C-24E2-09E1-31986D266EDD}"/>
              </a:ext>
            </a:extLst>
          </p:cNvPr>
          <p:cNvSpPr/>
          <p:nvPr/>
        </p:nvSpPr>
        <p:spPr>
          <a:xfrm>
            <a:off x="7022949" y="4883665"/>
            <a:ext cx="43411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Interpretation of disk diameters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7715D5-CF3B-EC68-6F5B-EF87F3C30132}"/>
              </a:ext>
            </a:extLst>
          </p:cNvPr>
          <p:cNvSpPr/>
          <p:nvPr/>
        </p:nvSpPr>
        <p:spPr>
          <a:xfrm>
            <a:off x="6755024" y="6282038"/>
            <a:ext cx="54369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Available for 17 </a:t>
            </a:r>
            <a:r>
              <a:rPr lang="en-GB" sz="1800" i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Klebsiella pneumoniae </a:t>
            </a:r>
            <a:endParaRPr lang="en-GB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55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CC3908-5B33-0F4E-AA4B-084765008D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F1F3DD-D770-B34E-9AB9-61233708A056}"/>
              </a:ext>
            </a:extLst>
          </p:cNvPr>
          <p:cNvSpPr/>
          <p:nvPr/>
        </p:nvSpPr>
        <p:spPr>
          <a:xfrm>
            <a:off x="720000" y="1833147"/>
            <a:ext cx="84438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Group 1 (n=8)                   Group 2 (n=8)                 Group 3 (n=8)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604261-EC4D-C583-CA05-0876C7D47B3F}"/>
              </a:ext>
            </a:extLst>
          </p:cNvPr>
          <p:cNvSpPr/>
          <p:nvPr/>
        </p:nvSpPr>
        <p:spPr>
          <a:xfrm>
            <a:off x="720000" y="1105818"/>
            <a:ext cx="32223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EpiCollect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exercise groups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36C527-B57B-BB4D-5ED5-8B9D6FAC6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475353"/>
              </p:ext>
            </p:extLst>
          </p:nvPr>
        </p:nvGraphicFramePr>
        <p:xfrm>
          <a:off x="831105" y="2369407"/>
          <a:ext cx="8149121" cy="3969355"/>
        </p:xfrm>
        <a:graphic>
          <a:graphicData uri="http://schemas.openxmlformats.org/drawingml/2006/table">
            <a:tbl>
              <a:tblPr firstRow="1" firstCol="1" bandRow="1"/>
              <a:tblGrid>
                <a:gridCol w="1547649">
                  <a:extLst>
                    <a:ext uri="{9D8B030D-6E8A-4147-A177-3AD203B41FA5}">
                      <a16:colId xmlns:a16="http://schemas.microsoft.com/office/drawing/2014/main" val="1185935251"/>
                    </a:ext>
                  </a:extLst>
                </a:gridCol>
                <a:gridCol w="1165073">
                  <a:extLst>
                    <a:ext uri="{9D8B030D-6E8A-4147-A177-3AD203B41FA5}">
                      <a16:colId xmlns:a16="http://schemas.microsoft.com/office/drawing/2014/main" val="822544878"/>
                    </a:ext>
                  </a:extLst>
                </a:gridCol>
                <a:gridCol w="1961267">
                  <a:extLst>
                    <a:ext uri="{9D8B030D-6E8A-4147-A177-3AD203B41FA5}">
                      <a16:colId xmlns:a16="http://schemas.microsoft.com/office/drawing/2014/main" val="2311192548"/>
                    </a:ext>
                  </a:extLst>
                </a:gridCol>
                <a:gridCol w="886588">
                  <a:extLst>
                    <a:ext uri="{9D8B030D-6E8A-4147-A177-3AD203B41FA5}">
                      <a16:colId xmlns:a16="http://schemas.microsoft.com/office/drawing/2014/main" val="2028917554"/>
                    </a:ext>
                  </a:extLst>
                </a:gridCol>
                <a:gridCol w="2588544">
                  <a:extLst>
                    <a:ext uri="{9D8B030D-6E8A-4147-A177-3AD203B41FA5}">
                      <a16:colId xmlns:a16="http://schemas.microsoft.com/office/drawing/2014/main" val="3209331595"/>
                    </a:ext>
                  </a:extLst>
                </a:gridCol>
              </a:tblGrid>
              <a:tr h="46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Bawa Boya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Tesfay Abreha Nigusse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Palesa Khotso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934652"/>
                  </a:ext>
                </a:extLst>
              </a:tr>
              <a:tr h="464687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Mapeesho</a:t>
                      </a:r>
                      <a:r>
                        <a:rPr lang="en-GB" sz="1800" kern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Kamayani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Rungano Magadu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Nelson Malugu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997380"/>
                  </a:ext>
                </a:extLst>
              </a:tr>
              <a:tr h="2323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318821"/>
                  </a:ext>
                </a:extLst>
              </a:tr>
              <a:tr h="2323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Winnifred Akello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Charles Ogu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Alimatou Héma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218288"/>
                  </a:ext>
                </a:extLst>
              </a:tr>
              <a:tr h="464687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Purity Oreng'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Kelvin </a:t>
                      </a:r>
                      <a:r>
                        <a:rPr lang="en-GB" sz="18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ZIngwangwa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Nigusu Berhanu Kassaye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35166"/>
                  </a:ext>
                </a:extLst>
              </a:tr>
              <a:tr h="23234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014515"/>
                  </a:ext>
                </a:extLst>
              </a:tr>
              <a:tr h="2323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Drake Byamukama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9E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Ihssane Benzaarate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C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Anélsio</a:t>
                      </a: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Cossa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C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55769"/>
                  </a:ext>
                </a:extLst>
              </a:tr>
              <a:tr h="46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Lovina Ikwe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9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9ED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Mwamba Nsofwa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C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Loide </a:t>
                      </a:r>
                      <a:r>
                        <a:rPr lang="en-GB" sz="18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Nangolo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C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112741"/>
                  </a:ext>
                </a:extLst>
              </a:tr>
              <a:tr h="23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840243"/>
                  </a:ext>
                </a:extLst>
              </a:tr>
              <a:tr h="2323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Sulaiman Hassan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6D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Rita Ohene Larbi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C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Cheickna</a:t>
                      </a: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Dicko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81162"/>
                  </a:ext>
                </a:extLst>
              </a:tr>
              <a:tr h="464687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Deborah Jideani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6D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Balungile Shezi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C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Clifford Menzi Tshuma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89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56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3" name="AutoShape 2" descr="esultat d'imatges de android location icon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6F3E05-E785-BE7E-5326-DB9502EC1327}"/>
              </a:ext>
            </a:extLst>
          </p:cNvPr>
          <p:cNvGrpSpPr/>
          <p:nvPr/>
        </p:nvGrpSpPr>
        <p:grpSpPr>
          <a:xfrm>
            <a:off x="720000" y="988540"/>
            <a:ext cx="8699157" cy="2469192"/>
            <a:chOff x="1828801" y="988540"/>
            <a:chExt cx="8699157" cy="2469192"/>
          </a:xfrm>
        </p:grpSpPr>
        <p:sp>
          <p:nvSpPr>
            <p:cNvPr id="10" name="Rectangle 9"/>
            <p:cNvSpPr/>
            <p:nvPr/>
          </p:nvSpPr>
          <p:spPr>
            <a:xfrm>
              <a:off x="1828801" y="1210963"/>
              <a:ext cx="8699157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- Download and Install </a:t>
              </a:r>
              <a:r>
                <a:rPr lang="en-GB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EpiCollect</a:t>
              </a:r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 5 on your phone </a:t>
              </a:r>
            </a:p>
            <a:p>
              <a:endParaRPr lang="en-GB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- Turn on the location (GPS) in your phone</a:t>
              </a:r>
            </a:p>
            <a:p>
              <a:pPr marL="342900" indent="-342900">
                <a:buAutoNum type="arabicPeriod" startAt="3"/>
              </a:pPr>
              <a:endParaRPr lang="en-GB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- Turn on WIFI too</a:t>
              </a:r>
            </a:p>
            <a:p>
              <a:pPr marL="342900" indent="-342900">
                <a:buAutoNum type="arabicPeriod" startAt="3"/>
              </a:pPr>
              <a:endParaRPr lang="en-GB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- Connect to the network using the provided WIFI credentials</a:t>
              </a:r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9148" y="1740594"/>
              <a:ext cx="634311" cy="634311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8309" y="2313123"/>
              <a:ext cx="615944" cy="615944"/>
            </a:xfrm>
            <a:prstGeom prst="rect">
              <a:avLst/>
            </a:prstGeom>
          </p:spPr>
        </p:pic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703F83DD-FF0F-AE9C-D8D9-36AAB7A94D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8910" y="988540"/>
              <a:ext cx="920879" cy="920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7253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CDF744AC-92AC-DEA6-2E47-9309C9EA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79"/>
          <a:stretch>
            <a:fillRect/>
          </a:stretch>
        </p:blipFill>
        <p:spPr>
          <a:xfrm>
            <a:off x="6431923" y="1955373"/>
            <a:ext cx="2266412" cy="482599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B00958-FCEB-81B8-FD83-6F8B38CFC8F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1"/>
          <a:stretch/>
        </p:blipFill>
        <p:spPr bwMode="auto">
          <a:xfrm>
            <a:off x="2966102" y="2366068"/>
            <a:ext cx="2353921" cy="4050197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20000" y="1366491"/>
            <a:ext cx="88138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Open the EpiCollect5 app. If you do not find the ‘South Africa CPE’ project, click on ‘Add Project’ to search for it.</a:t>
            </a:r>
          </a:p>
          <a:p>
            <a:pPr marL="342900" indent="-342900">
              <a:buFont typeface="+mj-lt"/>
              <a:buAutoNum type="arabicPeriod" startAt="7"/>
            </a:pPr>
            <a:endParaRPr lang="en-GB" dirty="0"/>
          </a:p>
          <a:p>
            <a:pPr marL="342900" indent="-342900">
              <a:buFont typeface="+mj-lt"/>
              <a:buAutoNum type="arabicPeriod" startAt="7"/>
            </a:pPr>
            <a:endParaRPr lang="en-GB" dirty="0"/>
          </a:p>
          <a:p>
            <a:pPr marL="342900" indent="-342900">
              <a:buAutoNum type="arabicPeriod" startAt="7"/>
            </a:pP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15A63B-1E31-AE4D-B65A-6F96E60D3454}"/>
              </a:ext>
            </a:extLst>
          </p:cNvPr>
          <p:cNvCxnSpPr/>
          <p:nvPr/>
        </p:nvCxnSpPr>
        <p:spPr>
          <a:xfrm flipV="1">
            <a:off x="4931769" y="2581479"/>
            <a:ext cx="116205" cy="6921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E9EE64-06BE-B147-AFAC-9F13736B0C93}"/>
              </a:ext>
            </a:extLst>
          </p:cNvPr>
          <p:cNvCxnSpPr/>
          <p:nvPr/>
        </p:nvCxnSpPr>
        <p:spPr>
          <a:xfrm flipH="1" flipV="1">
            <a:off x="8329082" y="2720708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196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1692811" y="175454"/>
            <a:ext cx="2827608" cy="7315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0000" y="1147849"/>
            <a:ext cx="88138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Go to your assigned site and pick up a case Information sheet.</a:t>
            </a:r>
          </a:p>
          <a:p>
            <a:pPr marL="342900" indent="-342900">
              <a:buFont typeface="+mj-lt"/>
              <a:buAutoNum type="arabicPeriod" startAt="8"/>
            </a:pPr>
            <a:endParaRPr lang="en-GB" dirty="0"/>
          </a:p>
          <a:p>
            <a:pPr marL="342900" indent="-342900">
              <a:buFont typeface="+mj-lt"/>
              <a:buAutoNum type="arabicPeriod" startAt="8"/>
            </a:pPr>
            <a:endParaRPr lang="en-GB" dirty="0"/>
          </a:p>
          <a:p>
            <a:pPr marL="342900" indent="-342900">
              <a:buFont typeface="+mj-lt"/>
              <a:buAutoNum type="arabicPeriod" startAt="8"/>
            </a:pPr>
            <a:endParaRPr lang="en-GB" dirty="0"/>
          </a:p>
          <a:p>
            <a:pPr marL="342900" indent="-342900">
              <a:buFont typeface="+mj-lt"/>
              <a:buAutoNum type="arabicPeriod" startAt="8"/>
            </a:pPr>
            <a:endParaRPr lang="en-GB" dirty="0"/>
          </a:p>
          <a:p>
            <a:pPr marL="342900" indent="-342900">
              <a:buFont typeface="+mj-lt"/>
              <a:buAutoNum type="arabicPeriod" startAt="8"/>
            </a:pPr>
            <a:endParaRPr lang="en-GB" dirty="0"/>
          </a:p>
          <a:p>
            <a:pPr marL="342900" indent="-342900">
              <a:buFont typeface="+mj-lt"/>
              <a:buAutoNum type="arabicPeriod" startAt="8"/>
            </a:pPr>
            <a:endParaRPr lang="en-GB" dirty="0"/>
          </a:p>
          <a:p>
            <a:pPr marL="342900" indent="-342900">
              <a:buFont typeface="+mj-lt"/>
              <a:buAutoNum type="arabicPeriod" startAt="8"/>
            </a:pPr>
            <a:endParaRPr lang="en-GB" dirty="0"/>
          </a:p>
          <a:p>
            <a:pPr marL="342900" indent="-342900">
              <a:buFont typeface="+mj-lt"/>
              <a:buAutoNum type="arabicPeriod" startAt="8"/>
            </a:pPr>
            <a:endParaRPr lang="en-GB" dirty="0"/>
          </a:p>
          <a:p>
            <a:pPr marL="342900" indent="-342900">
              <a:buAutoNum type="arabicPeriod" startAt="8"/>
            </a:pP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7307D3-3BF5-0948-93F9-C35FECB571EF}"/>
              </a:ext>
            </a:extLst>
          </p:cNvPr>
          <p:cNvSpPr/>
          <p:nvPr/>
        </p:nvSpPr>
        <p:spPr>
          <a:xfrm>
            <a:off x="720000" y="6108379"/>
            <a:ext cx="85925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8" lvl="3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Remember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take your paper sheet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keep it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throughout the week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you will be introducing later information into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Epicollect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EE9CF-AA78-1638-D229-67E156F047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" b="26957"/>
          <a:stretch/>
        </p:blipFill>
        <p:spPr bwMode="auto">
          <a:xfrm>
            <a:off x="2001729" y="1554239"/>
            <a:ext cx="4514400" cy="45541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462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BD757925-1E1D-093B-747F-8ABEFAECCE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1"/>
          <a:stretch>
            <a:fillRect/>
          </a:stretch>
        </p:blipFill>
        <p:spPr>
          <a:xfrm>
            <a:off x="6660073" y="1850783"/>
            <a:ext cx="2282085" cy="486945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EF8E84AA-3AF9-46D5-3408-2E0ECB33CB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81"/>
          <a:stretch>
            <a:fillRect/>
          </a:stretch>
        </p:blipFill>
        <p:spPr>
          <a:xfrm>
            <a:off x="3016154" y="1850783"/>
            <a:ext cx="2301273" cy="491040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0000" y="1300911"/>
            <a:ext cx="8813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Select ‘+Add entry’ and fill in all required fields. Click on ’Next’ to go to the next field.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CB74BF8-E33F-85C5-2A51-90F1055D0940}"/>
              </a:ext>
            </a:extLst>
          </p:cNvPr>
          <p:cNvCxnSpPr/>
          <p:nvPr/>
        </p:nvCxnSpPr>
        <p:spPr>
          <a:xfrm flipH="1" flipV="1">
            <a:off x="8572905" y="3429000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21FF7C3-0C96-715A-5380-106CAD78873C}"/>
              </a:ext>
            </a:extLst>
          </p:cNvPr>
          <p:cNvCxnSpPr>
            <a:cxnSpLocks/>
          </p:cNvCxnSpPr>
          <p:nvPr/>
        </p:nvCxnSpPr>
        <p:spPr>
          <a:xfrm flipV="1">
            <a:off x="3751680" y="2435170"/>
            <a:ext cx="1064543" cy="3461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2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AAD9CF33-BAD8-4397-D7D2-5B3DA164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79"/>
          <a:stretch>
            <a:fillRect/>
          </a:stretch>
        </p:blipFill>
        <p:spPr>
          <a:xfrm>
            <a:off x="7150157" y="2067288"/>
            <a:ext cx="2179845" cy="464166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0000" y="1202057"/>
            <a:ext cx="8813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Scan the barcode on your sheet. Click on ‘Update location’ several times until the accuracy is good (under 10 meters or similar).</a:t>
            </a:r>
          </a:p>
        </p:txBody>
      </p:sp>
      <p:pic>
        <p:nvPicPr>
          <p:cNvPr id="5" name="Picture 4" descr="A barcode on a computer screen&#10;&#10;Description automatically generated">
            <a:extLst>
              <a:ext uri="{FF2B5EF4-FFF2-40B4-BE49-F238E27FC236}">
                <a16:creationId xmlns:a16="http://schemas.microsoft.com/office/drawing/2014/main" id="{529746FF-9684-DFC5-EAC7-17DCD66214C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79"/>
          <a:stretch/>
        </p:blipFill>
        <p:spPr bwMode="auto">
          <a:xfrm>
            <a:off x="887109" y="2205024"/>
            <a:ext cx="2493389" cy="40358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4928C77-40C2-06C3-7161-8E5BBE59BF6E}"/>
              </a:ext>
            </a:extLst>
          </p:cNvPr>
          <p:cNvCxnSpPr/>
          <p:nvPr/>
        </p:nvCxnSpPr>
        <p:spPr>
          <a:xfrm flipH="1" flipV="1">
            <a:off x="8845516" y="3429000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BE8F7F0B-59A0-76A4-B89B-588066176B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179"/>
          <a:stretch>
            <a:fillRect/>
          </a:stretch>
        </p:blipFill>
        <p:spPr>
          <a:xfrm>
            <a:off x="4248730" y="2130132"/>
            <a:ext cx="2150333" cy="45788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0DF3DD-23EA-8F73-0294-2837AF700D00}"/>
              </a:ext>
            </a:extLst>
          </p:cNvPr>
          <p:cNvCxnSpPr/>
          <p:nvPr/>
        </p:nvCxnSpPr>
        <p:spPr>
          <a:xfrm flipH="1" flipV="1">
            <a:off x="5933225" y="3413485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84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alendar&#10;&#10;AI-generated content may be incorrect.">
            <a:extLst>
              <a:ext uri="{FF2B5EF4-FFF2-40B4-BE49-F238E27FC236}">
                <a16:creationId xmlns:a16="http://schemas.microsoft.com/office/drawing/2014/main" id="{FD89F9E3-118D-0DB6-6023-F2B1D6CD0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5"/>
          <a:stretch>
            <a:fillRect/>
          </a:stretch>
        </p:blipFill>
        <p:spPr>
          <a:xfrm>
            <a:off x="6657373" y="2055997"/>
            <a:ext cx="2240171" cy="473048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0000" y="1300911"/>
            <a:ext cx="881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ntroduce the sample type and the sampling date of your CPE case. 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912EAEA-1BCD-7D4E-73CC-91BA82A40255}"/>
              </a:ext>
            </a:extLst>
          </p:cNvPr>
          <p:cNvCxnSpPr>
            <a:cxnSpLocks/>
          </p:cNvCxnSpPr>
          <p:nvPr/>
        </p:nvCxnSpPr>
        <p:spPr>
          <a:xfrm flipV="1">
            <a:off x="5921828" y="3043693"/>
            <a:ext cx="1144896" cy="5413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A6A65D0-DDA1-2655-32B4-F7E5C623D3C4}"/>
              </a:ext>
            </a:extLst>
          </p:cNvPr>
          <p:cNvSpPr/>
          <p:nvPr/>
        </p:nvSpPr>
        <p:spPr>
          <a:xfrm>
            <a:off x="5578170" y="3622777"/>
            <a:ext cx="11448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Select year first</a:t>
            </a:r>
          </a:p>
        </p:txBody>
      </p:sp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D25AAFB7-6FFD-4B0C-7B30-6014FED734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81"/>
          <a:stretch>
            <a:fillRect/>
          </a:stretch>
        </p:blipFill>
        <p:spPr>
          <a:xfrm>
            <a:off x="3121742" y="2042349"/>
            <a:ext cx="2250472" cy="480200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1586A0-21EA-C5B5-3064-6DA7E0161C0E}"/>
              </a:ext>
            </a:extLst>
          </p:cNvPr>
          <p:cNvCxnSpPr>
            <a:cxnSpLocks/>
          </p:cNvCxnSpPr>
          <p:nvPr/>
        </p:nvCxnSpPr>
        <p:spPr>
          <a:xfrm flipV="1">
            <a:off x="2442949" y="2887664"/>
            <a:ext cx="701627" cy="3195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83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6D9A7B7-0D9D-7219-B484-8EDFB5F4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79"/>
          <a:stretch>
            <a:fillRect/>
          </a:stretch>
        </p:blipFill>
        <p:spPr>
          <a:xfrm>
            <a:off x="3093506" y="1990748"/>
            <a:ext cx="2218270" cy="47234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EAF075D1-017A-3F27-4BBD-9CB3D6B6E1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81"/>
          <a:stretch>
            <a:fillRect/>
          </a:stretch>
        </p:blipFill>
        <p:spPr>
          <a:xfrm>
            <a:off x="6657373" y="1990901"/>
            <a:ext cx="2213672" cy="47234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0000" y="1300911"/>
            <a:ext cx="881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fields without information, select ‘Not available’ or write ‘Unknown’.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9494B2B-0BE7-EC57-A3FF-86A6E27C1B30}"/>
              </a:ext>
            </a:extLst>
          </p:cNvPr>
          <p:cNvCxnSpPr/>
          <p:nvPr/>
        </p:nvCxnSpPr>
        <p:spPr>
          <a:xfrm flipH="1" flipV="1">
            <a:off x="8501792" y="3411096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CDA7BC-3AD2-7442-90D5-1D71990BED5D}"/>
              </a:ext>
            </a:extLst>
          </p:cNvPr>
          <p:cNvCxnSpPr>
            <a:cxnSpLocks/>
          </p:cNvCxnSpPr>
          <p:nvPr/>
        </p:nvCxnSpPr>
        <p:spPr>
          <a:xfrm flipV="1">
            <a:off x="2365816" y="2543170"/>
            <a:ext cx="836380" cy="32435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75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8322C89-4C40-5605-FC4C-29979ED53D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77"/>
          <a:stretch>
            <a:fillRect/>
          </a:stretch>
        </p:blipFill>
        <p:spPr>
          <a:xfrm>
            <a:off x="6506943" y="1883390"/>
            <a:ext cx="2251608" cy="4774553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22B39046-95F5-5742-E508-BA4F1EF42B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77"/>
          <a:stretch>
            <a:fillRect/>
          </a:stretch>
        </p:blipFill>
        <p:spPr>
          <a:xfrm>
            <a:off x="3154042" y="2003940"/>
            <a:ext cx="2186190" cy="4635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0000" y="1300911"/>
            <a:ext cx="881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 ‘Not available’ for AST and AMR genes.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AAD38A1-5A2E-49BD-7E10-594040E36E0F}"/>
              </a:ext>
            </a:extLst>
          </p:cNvPr>
          <p:cNvCxnSpPr/>
          <p:nvPr/>
        </p:nvCxnSpPr>
        <p:spPr>
          <a:xfrm flipH="1" flipV="1">
            <a:off x="5126900" y="3853649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74CE32-6DB7-C065-FFC6-8379F215D52C}"/>
              </a:ext>
            </a:extLst>
          </p:cNvPr>
          <p:cNvCxnSpPr/>
          <p:nvPr/>
        </p:nvCxnSpPr>
        <p:spPr>
          <a:xfrm flipH="1" flipV="1">
            <a:off x="5219918" y="5478910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A3F381-75C5-F587-B6E4-7C68CE4FDD21}"/>
              </a:ext>
            </a:extLst>
          </p:cNvPr>
          <p:cNvCxnSpPr/>
          <p:nvPr/>
        </p:nvCxnSpPr>
        <p:spPr>
          <a:xfrm flipH="1" flipV="1">
            <a:off x="8679700" y="3826055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216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70C43B-639D-0852-23B8-93917E4ED8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78"/>
          <a:stretch>
            <a:fillRect/>
          </a:stretch>
        </p:blipFill>
        <p:spPr>
          <a:xfrm>
            <a:off x="6595795" y="1909747"/>
            <a:ext cx="2261078" cy="480463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C008C68-5F4A-795B-1226-6B2FB7077D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76"/>
          <a:stretch>
            <a:fillRect/>
          </a:stretch>
        </p:blipFill>
        <p:spPr>
          <a:xfrm>
            <a:off x="3094926" y="1909748"/>
            <a:ext cx="2270528" cy="480463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0000" y="1300911"/>
            <a:ext cx="881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Make sure you click on ‘Save entry’ and ‘Upload’.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E50C40C-FC9E-AD73-7C5B-C364ED4B5D57}"/>
              </a:ext>
            </a:extLst>
          </p:cNvPr>
          <p:cNvCxnSpPr/>
          <p:nvPr/>
        </p:nvCxnSpPr>
        <p:spPr>
          <a:xfrm flipH="1" flipV="1">
            <a:off x="8795295" y="2824292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2FB564-31AC-BFEB-B414-D5956C75BA58}"/>
              </a:ext>
            </a:extLst>
          </p:cNvPr>
          <p:cNvCxnSpPr>
            <a:cxnSpLocks/>
          </p:cNvCxnSpPr>
          <p:nvPr/>
        </p:nvCxnSpPr>
        <p:spPr>
          <a:xfrm flipV="1">
            <a:off x="2780314" y="3276422"/>
            <a:ext cx="785193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61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DD2EC-A584-1904-A6DB-F18B04A2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396938-21DD-E62D-E696-A89EF60D2A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75DD7-48C0-5056-04FF-A31447DF748E}"/>
              </a:ext>
            </a:extLst>
          </p:cNvPr>
          <p:cNvSpPr/>
          <p:nvPr/>
        </p:nvSpPr>
        <p:spPr>
          <a:xfrm>
            <a:off x="720000" y="1191698"/>
            <a:ext cx="84438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Group 1 (n=8)                   Group 2 (n=8)                 Group 3 (n=8)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600795-8A80-A704-0355-41F93F9D0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68176"/>
              </p:ext>
            </p:extLst>
          </p:nvPr>
        </p:nvGraphicFramePr>
        <p:xfrm>
          <a:off x="831105" y="1727958"/>
          <a:ext cx="8149121" cy="3969355"/>
        </p:xfrm>
        <a:graphic>
          <a:graphicData uri="http://schemas.openxmlformats.org/drawingml/2006/table">
            <a:tbl>
              <a:tblPr firstRow="1" firstCol="1" bandRow="1"/>
              <a:tblGrid>
                <a:gridCol w="1547649">
                  <a:extLst>
                    <a:ext uri="{9D8B030D-6E8A-4147-A177-3AD203B41FA5}">
                      <a16:colId xmlns:a16="http://schemas.microsoft.com/office/drawing/2014/main" val="1185935251"/>
                    </a:ext>
                  </a:extLst>
                </a:gridCol>
                <a:gridCol w="1165073">
                  <a:extLst>
                    <a:ext uri="{9D8B030D-6E8A-4147-A177-3AD203B41FA5}">
                      <a16:colId xmlns:a16="http://schemas.microsoft.com/office/drawing/2014/main" val="822544878"/>
                    </a:ext>
                  </a:extLst>
                </a:gridCol>
                <a:gridCol w="1961267">
                  <a:extLst>
                    <a:ext uri="{9D8B030D-6E8A-4147-A177-3AD203B41FA5}">
                      <a16:colId xmlns:a16="http://schemas.microsoft.com/office/drawing/2014/main" val="2311192548"/>
                    </a:ext>
                  </a:extLst>
                </a:gridCol>
                <a:gridCol w="886588">
                  <a:extLst>
                    <a:ext uri="{9D8B030D-6E8A-4147-A177-3AD203B41FA5}">
                      <a16:colId xmlns:a16="http://schemas.microsoft.com/office/drawing/2014/main" val="2028917554"/>
                    </a:ext>
                  </a:extLst>
                </a:gridCol>
                <a:gridCol w="2588544">
                  <a:extLst>
                    <a:ext uri="{9D8B030D-6E8A-4147-A177-3AD203B41FA5}">
                      <a16:colId xmlns:a16="http://schemas.microsoft.com/office/drawing/2014/main" val="3209331595"/>
                    </a:ext>
                  </a:extLst>
                </a:gridCol>
              </a:tblGrid>
              <a:tr h="46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Bawa Boya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Tesfay Abreha Nigusse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Palesa Khotso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934652"/>
                  </a:ext>
                </a:extLst>
              </a:tr>
              <a:tr h="464687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Mapeesho</a:t>
                      </a:r>
                      <a:r>
                        <a:rPr lang="en-GB" sz="1800" kern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Kamayani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Rungano Magadu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Nelson Malugu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997380"/>
                  </a:ext>
                </a:extLst>
              </a:tr>
              <a:tr h="2323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318821"/>
                  </a:ext>
                </a:extLst>
              </a:tr>
              <a:tr h="2323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Winnifred Akello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Charles Ogu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Alimatou Héma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218288"/>
                  </a:ext>
                </a:extLst>
              </a:tr>
              <a:tr h="464687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Purity Oreng'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Kelvin </a:t>
                      </a:r>
                      <a:r>
                        <a:rPr lang="en-GB" sz="18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ZIngwangwa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Nigusu Berhanu Kassaye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35166"/>
                  </a:ext>
                </a:extLst>
              </a:tr>
              <a:tr h="23234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014515"/>
                  </a:ext>
                </a:extLst>
              </a:tr>
              <a:tr h="2323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Drake Byamukama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9E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Ihssane Benzaarate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C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Anélsio</a:t>
                      </a: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Cossa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C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55769"/>
                  </a:ext>
                </a:extLst>
              </a:tr>
              <a:tr h="46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Lovina Ikwe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9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9ED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Mwamba Nsofwa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C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Loide </a:t>
                      </a:r>
                      <a:r>
                        <a:rPr lang="en-GB" sz="18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Nangolo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C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112741"/>
                  </a:ext>
                </a:extLst>
              </a:tr>
              <a:tr h="23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840243"/>
                  </a:ext>
                </a:extLst>
              </a:tr>
              <a:tr h="2323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Sulaiman Hassan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6D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Rita Ohene Larbi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C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Cheickna</a:t>
                      </a: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Dicko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81162"/>
                  </a:ext>
                </a:extLst>
              </a:tr>
              <a:tr h="464687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Deborah Jideani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6D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Balungile Shezi</a:t>
                      </a:r>
                      <a:endParaRPr lang="en-GB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C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Clifford Menzi Tshuma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8922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8EDA569-8423-B3AA-DDC5-92196FEA4E90}"/>
              </a:ext>
            </a:extLst>
          </p:cNvPr>
          <p:cNvSpPr/>
          <p:nvPr/>
        </p:nvSpPr>
        <p:spPr>
          <a:xfrm>
            <a:off x="2008020" y="6061388"/>
            <a:ext cx="4087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Go to your assigned location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BAAF6-3531-1155-035F-1CC930790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77" y="5738120"/>
            <a:ext cx="1108202" cy="110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72DE30-DC9D-B289-DDE2-C71FB87D10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540" y="5833463"/>
            <a:ext cx="766016" cy="76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71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7BF5A2-D0EA-3ADE-AE84-95297027C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2" y="2307151"/>
            <a:ext cx="9199324" cy="41867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0000" y="1164989"/>
            <a:ext cx="881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Search for ‘Thailand CPE outbreak’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EpiCollect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project: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596DD45-0E65-5E86-EE61-EAF5F681DB6A}"/>
              </a:ext>
            </a:extLst>
          </p:cNvPr>
          <p:cNvCxnSpPr/>
          <p:nvPr/>
        </p:nvCxnSpPr>
        <p:spPr>
          <a:xfrm flipH="1" flipV="1">
            <a:off x="9731789" y="3093085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EED897-5387-6444-9F23-6799BDDC03F8}"/>
              </a:ext>
            </a:extLst>
          </p:cNvPr>
          <p:cNvCxnSpPr/>
          <p:nvPr/>
        </p:nvCxnSpPr>
        <p:spPr>
          <a:xfrm flipH="1" flipV="1">
            <a:off x="7262845" y="4588568"/>
            <a:ext cx="738505" cy="335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2CC894F-02F9-2F12-C719-17C38743C58D}"/>
              </a:ext>
            </a:extLst>
          </p:cNvPr>
          <p:cNvSpPr txBox="1"/>
          <p:nvPr/>
        </p:nvSpPr>
        <p:spPr>
          <a:xfrm>
            <a:off x="763542" y="1669223"/>
            <a:ext cx="7598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hlinkClick r:id="rId4"/>
              </a:rPr>
              <a:t>https://five.epicollect.net/project/south-africa-cpe-outbreak</a:t>
            </a:r>
            <a:r>
              <a:rPr lang="en-GB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5101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0000" y="1164989"/>
            <a:ext cx="8813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Go to: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https://five.epicollect.net/project/south-africa-cpe-outbreak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BF404-3800-24C7-86E0-8D504CD594EF}"/>
              </a:ext>
            </a:extLst>
          </p:cNvPr>
          <p:cNvSpPr/>
          <p:nvPr/>
        </p:nvSpPr>
        <p:spPr>
          <a:xfrm>
            <a:off x="720000" y="6404433"/>
            <a:ext cx="8813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Click on the ‘VIEW DATA’ button to view collected entries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0C4A5BA-8B2A-F9BC-5AE5-CE498E1822B9}"/>
              </a:ext>
            </a:extLst>
          </p:cNvPr>
          <p:cNvCxnSpPr>
            <a:cxnSpLocks/>
          </p:cNvCxnSpPr>
          <p:nvPr/>
        </p:nvCxnSpPr>
        <p:spPr>
          <a:xfrm flipH="1">
            <a:off x="7929417" y="4826325"/>
            <a:ext cx="726296" cy="3440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website&#10;&#10;AI-generated content may be incorrect.">
            <a:extLst>
              <a:ext uri="{FF2B5EF4-FFF2-40B4-BE49-F238E27FC236}">
                <a16:creationId xmlns:a16="http://schemas.microsoft.com/office/drawing/2014/main" id="{ED217EE9-DB29-3A94-FBDC-C6605752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44" y="2049000"/>
            <a:ext cx="9461230" cy="436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47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0000" y="1313269"/>
            <a:ext cx="881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Click on the ‘VIEW DATA’ button to view collected entries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CC2172-07AA-61CC-86B1-E3B523CAB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29" y="1822561"/>
            <a:ext cx="9829719" cy="444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54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303" r="86713" b="91996"/>
          <a:stretch/>
        </p:blipFill>
        <p:spPr>
          <a:xfrm>
            <a:off x="720000" y="175454"/>
            <a:ext cx="2827608" cy="7315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0000" y="1313269"/>
            <a:ext cx="881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Click on the ‘VIEW DATA’ button to view collected entries</a:t>
            </a:r>
          </a:p>
        </p:txBody>
      </p:sp>
    </p:spTree>
    <p:extLst>
      <p:ext uri="{BB962C8B-B14F-4D97-AF65-F5344CB8AC3E}">
        <p14:creationId xmlns:p14="http://schemas.microsoft.com/office/powerpoint/2010/main" val="883589744"/>
      </p:ext>
    </p:extLst>
  </p:cSld>
  <p:clrMapOvr>
    <a:masterClrMapping/>
  </p:clrMapOvr>
</p:sld>
</file>

<file path=ppt/theme/theme1.xml><?xml version="1.0" encoding="utf-8"?>
<a:theme xmlns:a="http://schemas.openxmlformats.org/drawingml/2006/main" name="Copy and graphic_1">
  <a:themeElements>
    <a:clrScheme name="Connecting Science">
      <a:dk1>
        <a:srgbClr val="000000"/>
      </a:dk1>
      <a:lt1>
        <a:srgbClr val="FFFFFF"/>
      </a:lt1>
      <a:dk2>
        <a:srgbClr val="009BB2"/>
      </a:dk2>
      <a:lt2>
        <a:srgbClr val="E91E63"/>
      </a:lt2>
      <a:accent1>
        <a:srgbClr val="2A512C"/>
      </a:accent1>
      <a:accent2>
        <a:srgbClr val="C91D1D"/>
      </a:accent2>
      <a:accent3>
        <a:srgbClr val="006171"/>
      </a:accent3>
      <a:accent4>
        <a:srgbClr val="FEC300"/>
      </a:accent4>
      <a:accent5>
        <a:srgbClr val="80C34B"/>
      </a:accent5>
      <a:accent6>
        <a:srgbClr val="9C27B2"/>
      </a:accent6>
      <a:hlink>
        <a:srgbClr val="F027B2"/>
      </a:hlink>
      <a:folHlink>
        <a:srgbClr val="F07F0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_2">
  <a:themeElements>
    <a:clrScheme name="Connecting Science">
      <a:dk1>
        <a:srgbClr val="000000"/>
      </a:dk1>
      <a:lt1>
        <a:srgbClr val="FFFFFF"/>
      </a:lt1>
      <a:dk2>
        <a:srgbClr val="009BB2"/>
      </a:dk2>
      <a:lt2>
        <a:srgbClr val="E91E63"/>
      </a:lt2>
      <a:accent1>
        <a:srgbClr val="2A512C"/>
      </a:accent1>
      <a:accent2>
        <a:srgbClr val="C91D1D"/>
      </a:accent2>
      <a:accent3>
        <a:srgbClr val="006171"/>
      </a:accent3>
      <a:accent4>
        <a:srgbClr val="FEC300"/>
      </a:accent4>
      <a:accent5>
        <a:srgbClr val="80C34B"/>
      </a:accent5>
      <a:accent6>
        <a:srgbClr val="9C27B2"/>
      </a:accent6>
      <a:hlink>
        <a:srgbClr val="F027B2"/>
      </a:hlink>
      <a:folHlink>
        <a:srgbClr val="F07F0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621</Words>
  <Application>Microsoft Macintosh PowerPoint</Application>
  <PresentationFormat>Widescreen</PresentationFormat>
  <Paragraphs>139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Georgia</vt:lpstr>
      <vt:lpstr>Georgia </vt:lpstr>
      <vt:lpstr>HelveticaNeueLT Std</vt:lpstr>
      <vt:lpstr>Arial</vt:lpstr>
      <vt:lpstr>Geo</vt:lpstr>
      <vt:lpstr>Calibri</vt:lpstr>
      <vt:lpstr>Helvetica Neue LT Std</vt:lpstr>
      <vt:lpstr>Aptos</vt:lpstr>
      <vt:lpstr>Aptos Narrow</vt:lpstr>
      <vt:lpstr>Copy and graphic_1</vt:lpstr>
      <vt:lpstr>Title_2</vt:lpstr>
      <vt:lpstr>Epicollect practical:  CPE outbreak investigation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 Austin</dc:creator>
  <cp:lastModifiedBy>Francesc Coll</cp:lastModifiedBy>
  <cp:revision>39</cp:revision>
  <dcterms:created xsi:type="dcterms:W3CDTF">2020-10-06T11:47:42Z</dcterms:created>
  <dcterms:modified xsi:type="dcterms:W3CDTF">2026-03-08T15:01:29Z</dcterms:modified>
</cp:coreProperties>
</file>