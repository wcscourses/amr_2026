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61" r:id="rId4"/>
    <p:sldId id="268" r:id="rId5"/>
    <p:sldId id="278" r:id="rId6"/>
    <p:sldId id="262" r:id="rId7"/>
    <p:sldId id="263" r:id="rId8"/>
    <p:sldId id="264" r:id="rId9"/>
    <p:sldId id="269" r:id="rId10"/>
    <p:sldId id="271" r:id="rId11"/>
    <p:sldId id="27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95"/>
    <p:restoredTop sz="94649"/>
  </p:normalViewPr>
  <p:slideViewPr>
    <p:cSldViewPr snapToGrid="0">
      <p:cViewPr varScale="1">
        <p:scale>
          <a:sx n="140" d="100"/>
          <a:sy n="140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7090D-C99F-7249-93DD-F007E221F66C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2CA09-81D6-5345-BB1B-750ACA4AF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16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11EDD9-1674-4510-B1A4-DABAD35A3AA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19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SRST2 (Short Read Sequence Typing for Bacterial Pathogens) is a command-line tool designed to identify Multilocus Sequence Types (MLST) and resistance/virulence genes directly from raw Illumina sequencing reads. It uses read mapping to align reads against a database of known alleles, making it faster and more accurate than assembly-based methods for, e.g., S. pneumoniae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2CA09-81D6-5345-BB1B-750ACA4AF7A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844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2CA09-81D6-5345-BB1B-750ACA4AF7A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385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F454-139F-8D96-6904-0E01C8979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1A6D2-46AD-7ECF-B9C7-136A2DE43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47CDE-BA02-BDB0-21CB-C4F37662A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F0B59-3B15-B62B-7EAC-67B62BA37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2CA09-81D6-5345-BB1B-750ACA4AF7A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94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9B7F-31C3-EC8C-99B5-64EF821F2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10EA0-2969-243C-56EE-5C21C3079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708D-3966-CB0D-33E5-E7B68816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1C88C-6364-258C-BCAA-BCE5FE1F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B4991-C29B-0BFB-BA3B-BED2A060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42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347-EAE8-E719-58C0-C2EE0CBB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949A-7BD4-8AAE-D6FF-1E56B5030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E35C9-B717-D993-3A87-8783C894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BB955-5A3E-250D-F8EB-726EDB05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8882-DB87-B418-D39D-BC2737B0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94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32B8-5AC4-AA93-CEDF-183204D9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D56B7-FDB5-83F0-5A16-0FA8FCC6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B971B-FD8A-DB5D-32C9-BC677912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931C3-65F8-B8F7-8887-AD890F02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6745-8FE0-0E5B-04F3-B0610F43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297F-5315-07FE-1F31-241411D5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84E2-DCCC-2F7A-94D9-3B3A90834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A2E64-DEB8-7AA0-EF45-F9041331A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86CBB-E826-C269-A105-53A4DDCE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1A646-A6DC-F4F2-1EB7-2C94336B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9C4A-607C-2E3F-7F45-BAC067E3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52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9EAD-2358-21BB-1D54-1ACFFECD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1B852-666A-2729-E1A7-9EAB403E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2F6F-7A0F-8B7D-E0CD-052BF9095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9CD1D-E29F-1807-19A5-3B9936664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B5D87-6266-85A3-D101-E06328255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66427-41F7-B416-2F38-0F03E8E4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9CF28-295C-DE2A-5A89-2381A3ED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B8BA5-FC51-E7FA-23ED-4F8F1B86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09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A51D-2644-3F05-9271-062FA973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F8388-9383-0751-4E56-6A0E9772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B3775-E031-464C-BF94-E78EB46D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CA7EC-2D3C-A450-B599-5ED8D3C9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0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6AB25-E056-899F-8841-BFA4C067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09A2C-CCDF-2D21-19CA-92B9D641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050BD-E5B8-BCDB-50DE-EEE3776E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53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9E7F-6CCF-2CEE-ADAE-DAFD9DD8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7CC5-E302-BA5F-E559-B3700815A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761FA-108A-09A0-784D-078035BBF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8AC89-5382-1AA7-6DD3-F0240F95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FB553-8939-D78D-EFF3-F7E5FA01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D2E9A-5CC9-F660-AA45-4AC1FA10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8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DEA7-B02A-4981-5C31-65BE08DE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10A26-1DBC-AA7A-EBF9-A9523013B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CA9CE-3BA0-9FD8-3FCB-FCA42F32E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98B32-6355-ECEC-BBEC-CCAEF67E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58695-D07C-36A3-B3A9-C2E1CE91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57896-CA4E-D84B-A8A1-E049FD60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7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58F3-181F-97FD-B6C9-2D9C1545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57437-3078-0960-6640-175917BC6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D0BB-6D91-E6B5-BEEE-B8C45042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6EBC9-A9FA-F925-AE13-44C12730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D4871-844E-60A9-6930-00B1C40E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63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9EBC2-5B0B-E0FD-3645-C0CFD400F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175A4-EBBD-0E29-B6EA-D64122B65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DD3FA-B5D4-7CAF-CD91-70CD617B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81CE-586A-7D7B-97C6-B2F0ED96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551F-7213-79AC-99DA-256DAD1F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212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54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592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441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09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388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461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781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645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449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502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49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F963B-0B72-D581-1AFA-C82E3B12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2FCAE-F091-D9CC-5DE4-B0B45E4F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DB55-FD2C-6D8B-B08D-7A2C0A128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936A5-9094-C447-9A76-CEC4C725E8C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F5FF-DFE6-9D76-AD3E-CF6EF9831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61879-7825-41CD-C1F4-5E457BAEC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99AF6-46A2-654F-A85D-58AB0EEA4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37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92400E-4B41-6B44-9C66-FDAFA42533A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3/10/26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170E4-1D71-0049-AC81-907CB81A64D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30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9639" y="2331005"/>
            <a:ext cx="831528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342900">
              <a:defRPr/>
            </a:pPr>
            <a:r>
              <a:rPr lang="en-GB" sz="3600" dirty="0"/>
              <a:t>Multilocus sequence typing (MLST) and cgMLST prediction from bacterial genomes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defTabSz="342900">
              <a:defRPr/>
            </a:pPr>
            <a:r>
              <a:rPr lang="en-GB" sz="2000" dirty="0"/>
              <a:t>10 March 2026</a:t>
            </a: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Cebile Lekhuleni, NICD</a:t>
            </a: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" name="Picture 2" descr="Wellcome Connecting Science: the Institute's learning, training and  engagement programme">
            <a:extLst>
              <a:ext uri="{FF2B5EF4-FFF2-40B4-BE49-F238E27FC236}">
                <a16:creationId xmlns:a16="http://schemas.microsoft.com/office/drawing/2014/main" id="{D5478750-01E7-DFD9-7D00-2A952934B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24" y="5330659"/>
            <a:ext cx="3482080" cy="116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1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FF59-E4C0-C253-508C-A07FEAB2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21" y="203202"/>
            <a:ext cx="10875579" cy="980140"/>
          </a:xfrm>
        </p:spPr>
        <p:txBody>
          <a:bodyPr/>
          <a:lstStyle/>
          <a:p>
            <a:r>
              <a:rPr lang="en-GB" dirty="0"/>
              <a:t>Multi-locus Sequence Typing (MLST)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AFE6-C96F-A544-4A8A-C92E1B196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1" y="1336893"/>
            <a:ext cx="11393213" cy="4829175"/>
          </a:xfrm>
        </p:spPr>
        <p:txBody>
          <a:bodyPr>
            <a:noAutofit/>
          </a:bodyPr>
          <a:lstStyle/>
          <a:p>
            <a:r>
              <a:rPr lang="en-GB" sz="2000" dirty="0"/>
              <a:t>MLST is a method that assigns bacterial isolates to </a:t>
            </a:r>
            <a:r>
              <a:rPr lang="en-GB" sz="2000" b="1" dirty="0"/>
              <a:t>sequence types (STs)</a:t>
            </a:r>
            <a:r>
              <a:rPr lang="en-GB" sz="2000" dirty="0"/>
              <a:t> based on the </a:t>
            </a:r>
            <a:r>
              <a:rPr lang="en-GB" sz="2000" b="1" dirty="0"/>
              <a:t>allelic profile </a:t>
            </a:r>
            <a:r>
              <a:rPr lang="en-GB" sz="2000" dirty="0"/>
              <a:t>of typically </a:t>
            </a:r>
            <a:r>
              <a:rPr lang="en-GB" sz="2000" b="1" dirty="0"/>
              <a:t>seven</a:t>
            </a:r>
            <a:r>
              <a:rPr lang="en-GB" sz="2000" dirty="0"/>
              <a:t> housekeeping genes</a:t>
            </a:r>
          </a:p>
          <a:p>
            <a:pPr lvl="1"/>
            <a:r>
              <a:rPr lang="en-GB" sz="2000" dirty="0"/>
              <a:t>e.g. </a:t>
            </a:r>
            <a:r>
              <a:rPr lang="en-GB" sz="2000" i="1" dirty="0" err="1"/>
              <a:t>rpoB</a:t>
            </a:r>
            <a:r>
              <a:rPr lang="en-GB" sz="2000" i="1" dirty="0"/>
              <a:t>, </a:t>
            </a:r>
            <a:r>
              <a:rPr lang="en-GB" sz="2000" i="1" dirty="0" err="1"/>
              <a:t>gapA</a:t>
            </a:r>
            <a:r>
              <a:rPr lang="en-GB" sz="2000" i="1" dirty="0"/>
              <a:t>, </a:t>
            </a:r>
            <a:r>
              <a:rPr lang="en-GB" sz="2000" i="1" dirty="0" err="1"/>
              <a:t>mdh</a:t>
            </a:r>
            <a:r>
              <a:rPr lang="en-GB" sz="2000" i="1" dirty="0"/>
              <a:t>, </a:t>
            </a:r>
            <a:r>
              <a:rPr lang="en-GB" sz="2000" i="1" dirty="0" err="1"/>
              <a:t>pgi</a:t>
            </a:r>
            <a:r>
              <a:rPr lang="en-GB" sz="2000" i="1" dirty="0"/>
              <a:t>, </a:t>
            </a:r>
            <a:r>
              <a:rPr lang="en-GB" sz="2000" i="1" dirty="0" err="1"/>
              <a:t>phoE</a:t>
            </a:r>
            <a:r>
              <a:rPr lang="en-GB" sz="2000" i="1" dirty="0"/>
              <a:t>, </a:t>
            </a:r>
            <a:r>
              <a:rPr lang="en-GB" sz="2000" i="1" dirty="0" err="1"/>
              <a:t>infB</a:t>
            </a:r>
            <a:r>
              <a:rPr lang="en-GB" sz="2000" i="1" dirty="0"/>
              <a:t>, </a:t>
            </a:r>
            <a:r>
              <a:rPr lang="en-GB" sz="2000" i="1" dirty="0" err="1"/>
              <a:t>tonB</a:t>
            </a:r>
            <a:r>
              <a:rPr lang="en-GB" sz="2000" i="1" dirty="0"/>
              <a:t> </a:t>
            </a:r>
            <a:r>
              <a:rPr lang="en-GB" sz="2000" dirty="0"/>
              <a:t>for </a:t>
            </a:r>
            <a:r>
              <a:rPr lang="en-GB" sz="2000" i="1" dirty="0"/>
              <a:t>Klebsiella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Key features of MLST:</a:t>
            </a:r>
          </a:p>
          <a:p>
            <a:r>
              <a:rPr lang="en-GB" sz="2000" dirty="0"/>
              <a:t>Uses internal fragments of conserved “housekeeping” genes. </a:t>
            </a:r>
          </a:p>
          <a:p>
            <a:r>
              <a:rPr lang="en-GB" sz="2000" dirty="0"/>
              <a:t>Each unique allele at each locus is assigned a number. </a:t>
            </a:r>
          </a:p>
          <a:p>
            <a:r>
              <a:rPr lang="en-GB" sz="2000" dirty="0"/>
              <a:t>The combination of allele numbers across all loci defines the ST (e.g. ST78 for </a:t>
            </a:r>
            <a:r>
              <a:rPr lang="en-GB" sz="2000" i="1" dirty="0"/>
              <a:t>Klebsiella pneumoniae</a:t>
            </a:r>
            <a:r>
              <a:rPr lang="en-GB" sz="2000" dirty="0"/>
              <a:t>). </a:t>
            </a:r>
          </a:p>
          <a:p>
            <a:r>
              <a:rPr lang="en-GB" sz="2000" dirty="0"/>
              <a:t>Databases hosted via </a:t>
            </a:r>
            <a:r>
              <a:rPr lang="en-GB" sz="2000" b="1" i="1" dirty="0" err="1"/>
              <a:t>BIGSdb</a:t>
            </a:r>
            <a:r>
              <a:rPr lang="en-GB" sz="2000" b="1" i="1" dirty="0"/>
              <a:t> </a:t>
            </a:r>
            <a:r>
              <a:rPr lang="en-GB" sz="2000" dirty="0"/>
              <a:t>at </a:t>
            </a:r>
            <a:r>
              <a:rPr lang="en-GB" sz="2000" b="1" i="1" dirty="0" err="1"/>
              <a:t>pubmlst.org</a:t>
            </a:r>
            <a:r>
              <a:rPr lang="en-GB" sz="2000" dirty="0"/>
              <a:t>, incorporated into many tools </a:t>
            </a:r>
          </a:p>
          <a:p>
            <a:r>
              <a:rPr lang="en-GB" sz="2000" dirty="0"/>
              <a:t>Highly portable, reproducible, standardized — data comparable across labs and databases.</a:t>
            </a:r>
          </a:p>
        </p:txBody>
      </p:sp>
    </p:spTree>
    <p:extLst>
      <p:ext uri="{BB962C8B-B14F-4D97-AF65-F5344CB8AC3E}">
        <p14:creationId xmlns:p14="http://schemas.microsoft.com/office/powerpoint/2010/main" val="294308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9D5789-80DD-480D-77E4-0FAD513A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21" y="2678909"/>
            <a:ext cx="6433567" cy="22952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051259-6FFC-E7B6-67D8-794513D214A3}"/>
              </a:ext>
            </a:extLst>
          </p:cNvPr>
          <p:cNvSpPr txBox="1"/>
          <p:nvPr/>
        </p:nvSpPr>
        <p:spPr>
          <a:xfrm>
            <a:off x="7203140" y="3364853"/>
            <a:ext cx="4719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dirty="0">
                <a:effectLst/>
              </a:rPr>
            </a:br>
            <a:r>
              <a:rPr lang="en-GB" b="1" i="1" dirty="0">
                <a:effectLst/>
              </a:rPr>
              <a:t>Klebsiella </a:t>
            </a:r>
            <a:r>
              <a:rPr lang="en-GB" b="1" dirty="0">
                <a:effectLst/>
              </a:rPr>
              <a:t>MLST scheme</a:t>
            </a:r>
            <a:endParaRPr lang="en-GB" dirty="0">
              <a:effectLst/>
            </a:endParaRPr>
          </a:p>
          <a:p>
            <a:pPr>
              <a:buNone/>
            </a:pPr>
            <a:r>
              <a:rPr lang="en-GB" dirty="0">
                <a:effectLst/>
              </a:rPr>
              <a:t>- Currently has &gt;7500 unique allelic profiles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8A1AB5-39B0-E96A-AEEB-427304BD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21" y="203202"/>
            <a:ext cx="10875579" cy="980140"/>
          </a:xfrm>
        </p:spPr>
        <p:txBody>
          <a:bodyPr/>
          <a:lstStyle/>
          <a:p>
            <a:r>
              <a:rPr lang="en-GB" dirty="0"/>
              <a:t>Multi-locus Sequence Typing (MLST)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3F62DB-CD55-E0EC-D6F1-294A99E6756A}"/>
              </a:ext>
            </a:extLst>
          </p:cNvPr>
          <p:cNvSpPr txBox="1"/>
          <p:nvPr/>
        </p:nvSpPr>
        <p:spPr>
          <a:xfrm>
            <a:off x="478221" y="146946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</a:rPr>
              <a:t>MLST database made up of:</a:t>
            </a:r>
          </a:p>
          <a:p>
            <a:pPr>
              <a:buNone/>
            </a:pPr>
            <a:r>
              <a:rPr lang="en-GB" dirty="0"/>
              <a:t>i</a:t>
            </a:r>
            <a:r>
              <a:rPr lang="en-GB" dirty="0">
                <a:effectLst/>
              </a:rPr>
              <a:t>. set of all allele sequences </a:t>
            </a:r>
          </a:p>
          <a:p>
            <a:pPr>
              <a:buNone/>
            </a:pPr>
            <a:r>
              <a:rPr lang="en-GB" dirty="0"/>
              <a:t>ii</a:t>
            </a:r>
            <a:r>
              <a:rPr lang="en-GB" dirty="0">
                <a:effectLst/>
              </a:rPr>
              <a:t>. lookup table of allele number combinations to ST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F51C8-3A80-3179-E0E0-7B2B0D9E0D3D}"/>
              </a:ext>
            </a:extLst>
          </p:cNvPr>
          <p:cNvSpPr txBox="1"/>
          <p:nvPr/>
        </p:nvSpPr>
        <p:spPr>
          <a:xfrm>
            <a:off x="8670200" y="6208084"/>
            <a:ext cx="3252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>
                    <a:lumMod val="75000"/>
                  </a:schemeClr>
                </a:solidFill>
              </a:rPr>
              <a:t>Slide courtesy: Assistant Professor Zoe A. Dyson</a:t>
            </a:r>
          </a:p>
        </p:txBody>
      </p:sp>
    </p:spTree>
    <p:extLst>
      <p:ext uri="{BB962C8B-B14F-4D97-AF65-F5344CB8AC3E}">
        <p14:creationId xmlns:p14="http://schemas.microsoft.com/office/powerpoint/2010/main" val="299622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B7D2D-BBC6-5F72-AE61-083B79A6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00E05E-32BC-D00C-ED8D-C560B3F2D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2" y="1459907"/>
            <a:ext cx="10628002" cy="767904"/>
          </a:xfrm>
        </p:spPr>
        <p:txBody>
          <a:bodyPr anchor="ctr">
            <a:noAutofit/>
          </a:bodyPr>
          <a:lstStyle/>
          <a:p>
            <a:r>
              <a:rPr lang="en-GB" sz="1600" dirty="0"/>
              <a:t>Several general software tools have been developed that can use MLST schemes to type isolates from WGS data</a:t>
            </a:r>
          </a:p>
          <a:p>
            <a:r>
              <a:rPr lang="en-GB" sz="1600" dirty="0"/>
              <a:t>These software tools can be used to analyse WGS data for any pathogen where an MLST scheme has been developed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90BC3-6F40-836B-5C82-37499EFF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08" y="2405149"/>
            <a:ext cx="9748486" cy="389939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582782B-5E11-6672-8E0B-940D768505F8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Multi-locus Sequence Typing (MLST)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2727D-015A-C7CE-92A2-0F9CC46132F9}"/>
              </a:ext>
            </a:extLst>
          </p:cNvPr>
          <p:cNvSpPr txBox="1"/>
          <p:nvPr/>
        </p:nvSpPr>
        <p:spPr>
          <a:xfrm>
            <a:off x="8670200" y="6208084"/>
            <a:ext cx="3252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>
                    <a:lumMod val="75000"/>
                  </a:schemeClr>
                </a:solidFill>
              </a:rPr>
              <a:t>Slide courtesy: Assistant Professor Zoe A. Dyson</a:t>
            </a:r>
          </a:p>
        </p:txBody>
      </p:sp>
    </p:spTree>
    <p:extLst>
      <p:ext uri="{BB962C8B-B14F-4D97-AF65-F5344CB8AC3E}">
        <p14:creationId xmlns:p14="http://schemas.microsoft.com/office/powerpoint/2010/main" val="309592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0C80D-8B08-98F7-3F10-82DF8E01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1" y="1395319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b="1" dirty="0"/>
              <a:t>Strengths:</a:t>
            </a:r>
            <a:endParaRPr lang="en-GB" sz="2000" dirty="0"/>
          </a:p>
          <a:p>
            <a:r>
              <a:rPr lang="en-GB" sz="2000" dirty="0"/>
              <a:t>Standardized, portable typing. </a:t>
            </a:r>
          </a:p>
          <a:p>
            <a:r>
              <a:rPr lang="en-GB" sz="2000" dirty="0"/>
              <a:t>Good for population structure, global epidemiology, lineage assignment. </a:t>
            </a:r>
          </a:p>
          <a:p>
            <a:endParaRPr lang="en-GB" sz="2000" b="1" dirty="0"/>
          </a:p>
          <a:p>
            <a:r>
              <a:rPr lang="en-GB" sz="2000" b="1" dirty="0"/>
              <a:t>Limitations:</a:t>
            </a:r>
            <a:endParaRPr lang="en-GB" sz="2000" dirty="0"/>
          </a:p>
          <a:p>
            <a:r>
              <a:rPr lang="en-GB" sz="2000" dirty="0"/>
              <a:t>Only a small fraction of the genome (~7 loci) is interrogated → limited resolution. </a:t>
            </a:r>
          </a:p>
          <a:p>
            <a:r>
              <a:rPr lang="en-GB" sz="2000" dirty="0"/>
              <a:t>Not ideal for distinguishing very closely related isolates (e.g. in outbreak investigations).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455F68-2ED0-2B17-05C1-DEDE41C20449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Strengths &amp; Limitations of MLST</a:t>
            </a:r>
          </a:p>
        </p:txBody>
      </p:sp>
    </p:spTree>
    <p:extLst>
      <p:ext uri="{BB962C8B-B14F-4D97-AF65-F5344CB8AC3E}">
        <p14:creationId xmlns:p14="http://schemas.microsoft.com/office/powerpoint/2010/main" val="419340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02D8-2CD6-A905-B592-CBBEAB99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1" y="1467037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With whole-genome sequencing (WGS), we no longer need to limit to a few housekeeping genes. </a:t>
            </a:r>
          </a:p>
          <a:p>
            <a:r>
              <a:rPr lang="en-GB" sz="2000" b="1" dirty="0"/>
              <a:t>Gene-by-gene (</a:t>
            </a:r>
            <a:r>
              <a:rPr lang="en-GB" sz="2000" b="1" dirty="0" err="1"/>
              <a:t>GbG</a:t>
            </a:r>
            <a:r>
              <a:rPr lang="en-GB" sz="2000" b="1" dirty="0"/>
              <a:t>)</a:t>
            </a:r>
            <a:r>
              <a:rPr lang="en-GB" sz="2000" dirty="0"/>
              <a:t> typing compares genomes using a predefined schema of loci (genes) and assigns alleles per locus, analogous to MLST but on a larger scale.</a:t>
            </a:r>
          </a:p>
          <a:p>
            <a:r>
              <a:rPr lang="en-GB" sz="2000" dirty="0"/>
              <a:t>Schemas can be:</a:t>
            </a:r>
          </a:p>
          <a:p>
            <a:pPr lvl="1"/>
            <a:r>
              <a:rPr lang="en-GB" sz="2000" b="1" dirty="0"/>
              <a:t>Core genome</a:t>
            </a:r>
            <a:r>
              <a:rPr lang="en-GB" sz="2000" dirty="0"/>
              <a:t> (genes present in nearly all isolates) → cgMLST</a:t>
            </a:r>
          </a:p>
          <a:p>
            <a:pPr lvl="1"/>
            <a:r>
              <a:rPr lang="en-GB" sz="2000" b="1" dirty="0"/>
              <a:t>Pan-genome / whole genome</a:t>
            </a:r>
            <a:r>
              <a:rPr lang="en-GB" sz="2000" dirty="0"/>
              <a:t> → wgMLST or cgMLST/accessory-genome MLST </a:t>
            </a:r>
          </a:p>
          <a:p>
            <a:endParaRPr lang="en-GB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051878-0067-964D-CEE6-496172F5F1AE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Gene-by-Gene approaches</a:t>
            </a:r>
          </a:p>
        </p:txBody>
      </p:sp>
    </p:spTree>
    <p:extLst>
      <p:ext uri="{BB962C8B-B14F-4D97-AF65-F5344CB8AC3E}">
        <p14:creationId xmlns:p14="http://schemas.microsoft.com/office/powerpoint/2010/main" val="239505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523C-E5C1-86DE-5C4E-9AF183FA0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1" y="1520825"/>
            <a:ext cx="108755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Core-genome MLST (cgMLST) expands the MLST concept to hundreds to thousands of loci shared across most or all genomes of a species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Benefits:</a:t>
            </a:r>
          </a:p>
          <a:p>
            <a:r>
              <a:rPr lang="en-GB" sz="2000" dirty="0"/>
              <a:t>Much greater resolution – reveals fine-scale relationships between isolates. </a:t>
            </a:r>
          </a:p>
          <a:p>
            <a:r>
              <a:rPr lang="en-GB" sz="2000" dirty="0"/>
              <a:t>Still standardized and portable (allele-based) across labs</a:t>
            </a:r>
          </a:p>
          <a:p>
            <a:r>
              <a:rPr lang="en-GB" sz="2000" dirty="0"/>
              <a:t>Useful for outbreak detection, transmission mapping, and detailed epidemiology</a:t>
            </a:r>
          </a:p>
          <a:p>
            <a:endParaRPr lang="en-GB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CBD028-9311-F829-54A6-08DF2F385384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Gene-by-Gene approaches - cgMLST</a:t>
            </a:r>
          </a:p>
        </p:txBody>
      </p:sp>
    </p:spTree>
    <p:extLst>
      <p:ext uri="{BB962C8B-B14F-4D97-AF65-F5344CB8AC3E}">
        <p14:creationId xmlns:p14="http://schemas.microsoft.com/office/powerpoint/2010/main" val="344823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16F9C8-8E2C-CFA4-F589-265710774726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cgMLST using chewBBACA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FE814-B369-DC8C-E30C-DBC49489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45"/>
          <a:stretch>
            <a:fillRect/>
          </a:stretch>
        </p:blipFill>
        <p:spPr>
          <a:xfrm>
            <a:off x="1896904" y="3313765"/>
            <a:ext cx="7730642" cy="2416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38CE3A-4821-7B19-F262-AC44EC51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0" y="1350495"/>
            <a:ext cx="11229686" cy="1796117"/>
          </a:xfrm>
        </p:spPr>
        <p:txBody>
          <a:bodyPr>
            <a:normAutofit/>
          </a:bodyPr>
          <a:lstStyle/>
          <a:p>
            <a:r>
              <a:rPr lang="en-GB" sz="2000" dirty="0"/>
              <a:t>chewBBACA provides schema creation and allele calling for genome-by-genome typing</a:t>
            </a:r>
          </a:p>
          <a:p>
            <a:r>
              <a:rPr lang="en-GB" sz="2000" dirty="0"/>
              <a:t>Works on draft or complete genomes (assemblies) — suitable for labs without reference-based mapping</a:t>
            </a:r>
          </a:p>
          <a:p>
            <a:r>
              <a:rPr lang="en-GB" sz="2000" dirty="0"/>
              <a:t>Enables reproducible, scalable cgMLST workflows even on modest computing resources</a:t>
            </a:r>
          </a:p>
        </p:txBody>
      </p:sp>
    </p:spTree>
    <p:extLst>
      <p:ext uri="{BB962C8B-B14F-4D97-AF65-F5344CB8AC3E}">
        <p14:creationId xmlns:p14="http://schemas.microsoft.com/office/powerpoint/2010/main" val="259595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353330-D587-2024-62D6-3E1860D56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359799"/>
              </p:ext>
            </p:extLst>
          </p:nvPr>
        </p:nvGraphicFramePr>
        <p:xfrm>
          <a:off x="658210" y="1314637"/>
          <a:ext cx="10515600" cy="2661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24349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48585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Preferred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91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Global population structure, long-term epidemiology, community-level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MLST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55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High-resolution outbreak investigation, transmission mapping, hospital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cgMLST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779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Resource-limited settings with limited genome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MLST or small-scheme cgMLST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9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Comparative genomics across diverse strains / broad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cgMLST (or wgMLST)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9744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3179EEB-1F99-67FF-C474-87622283060F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When to Use MLST vs cgMLST</a:t>
            </a:r>
          </a:p>
        </p:txBody>
      </p:sp>
    </p:spTree>
    <p:extLst>
      <p:ext uri="{BB962C8B-B14F-4D97-AF65-F5344CB8AC3E}">
        <p14:creationId xmlns:p14="http://schemas.microsoft.com/office/powerpoint/2010/main" val="84858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6511355-EC07-7DB5-FC58-C2154500D6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6526" t="11017" r="20844" b="11371"/>
          <a:stretch>
            <a:fillRect/>
          </a:stretch>
        </p:blipFill>
        <p:spPr>
          <a:xfrm>
            <a:off x="5036193" y="1122519"/>
            <a:ext cx="6317607" cy="5532279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BEFCBA3-766B-825B-16CF-ED3449E33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976" y="1329353"/>
            <a:ext cx="4165450" cy="2994473"/>
          </a:xfrm>
        </p:spPr>
        <p:txBody>
          <a:bodyPr>
            <a:normAutofit/>
          </a:bodyPr>
          <a:lstStyle/>
          <a:p>
            <a:r>
              <a:rPr lang="en-GB" i="1" dirty="0"/>
              <a:t>S. pneumoniae</a:t>
            </a:r>
            <a:r>
              <a:rPr lang="en-GB" dirty="0"/>
              <a:t> serotype 19A MLST genotypes</a:t>
            </a:r>
          </a:p>
          <a:p>
            <a:pPr lvl="1"/>
            <a:r>
              <a:rPr lang="en-GB" dirty="0"/>
              <a:t>Grouped by lineage</a:t>
            </a:r>
          </a:p>
          <a:p>
            <a:pPr lvl="1"/>
            <a:r>
              <a:rPr lang="en-GB" dirty="0"/>
              <a:t>Coloured by resistance profile</a:t>
            </a:r>
          </a:p>
          <a:p>
            <a:pPr lvl="1"/>
            <a:endParaRPr lang="en-GB" dirty="0"/>
          </a:p>
          <a:p>
            <a:r>
              <a:rPr lang="en-GB" dirty="0"/>
              <a:t>PHYLOViZ visualisation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A326-F30A-9547-5949-B95164A9556B}"/>
              </a:ext>
            </a:extLst>
          </p:cNvPr>
          <p:cNvSpPr txBox="1"/>
          <p:nvPr/>
        </p:nvSpPr>
        <p:spPr>
          <a:xfrm>
            <a:off x="259976" y="612648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Unpublished 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4FEA4-46D5-54E3-1CFD-0A7B1F4EED4F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MLST visualisation using PHYLOViZ</a:t>
            </a:r>
          </a:p>
        </p:txBody>
      </p:sp>
    </p:spTree>
    <p:extLst>
      <p:ext uri="{BB962C8B-B14F-4D97-AF65-F5344CB8AC3E}">
        <p14:creationId xmlns:p14="http://schemas.microsoft.com/office/powerpoint/2010/main" val="81888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2811-B023-63B6-58BD-914EB10E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131D-1D57-2931-B872-B52A7D0FBE70}"/>
              </a:ext>
            </a:extLst>
          </p:cNvPr>
          <p:cNvSpPr txBox="1">
            <a:spLocks/>
          </p:cNvSpPr>
          <p:nvPr/>
        </p:nvSpPr>
        <p:spPr>
          <a:xfrm>
            <a:off x="478221" y="203202"/>
            <a:ext cx="10875579" cy="980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cgMLST visualisation using </a:t>
            </a:r>
            <a:r>
              <a:rPr lang="en-GB" dirty="0" err="1"/>
              <a:t>GrapeTree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8F7E2-2770-36D9-529B-0391BBDBE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922" y="1145523"/>
            <a:ext cx="4157151" cy="5509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D905B-0552-4DC3-A975-D307D15EA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50" y="1183342"/>
            <a:ext cx="4710430" cy="525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2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10894</TotalTime>
  <Words>631</Words>
  <Application>Microsoft Macintosh PowerPoint</Application>
  <PresentationFormat>Widescreen</PresentationFormat>
  <Paragraphs>77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Theme</vt:lpstr>
      <vt:lpstr>2_Office Theme</vt:lpstr>
      <vt:lpstr>PowerPoint Presentation</vt:lpstr>
      <vt:lpstr>Multi-locus Sequence Typing (MLST)</vt:lpstr>
      <vt:lpstr>Multi-locus Sequence Typing (MLST)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Cebile Lekhuleni</dc:creator>
  <cp:lastModifiedBy>Cebile Lekhuleni</cp:lastModifiedBy>
  <cp:revision>9</cp:revision>
  <dcterms:created xsi:type="dcterms:W3CDTF">2025-10-16T13:30:15Z</dcterms:created>
  <dcterms:modified xsi:type="dcterms:W3CDTF">2026-03-10T08:18:12Z</dcterms:modified>
</cp:coreProperties>
</file>