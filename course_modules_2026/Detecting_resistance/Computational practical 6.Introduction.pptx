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595" r:id="rId3"/>
    <p:sldId id="597" r:id="rId4"/>
    <p:sldId id="455" r:id="rId5"/>
    <p:sldId id="572" r:id="rId6"/>
    <p:sldId id="591" r:id="rId7"/>
    <p:sldId id="598" r:id="rId8"/>
    <p:sldId id="599" r:id="rId9"/>
    <p:sldId id="596" r:id="rId10"/>
    <p:sldId id="59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572"/>
  </p:normalViewPr>
  <p:slideViewPr>
    <p:cSldViewPr snapToGrid="0">
      <p:cViewPr varScale="1">
        <p:scale>
          <a:sx n="94" d="100"/>
          <a:sy n="94" d="100"/>
        </p:scale>
        <p:origin x="10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33D23B-A377-3A47-BA39-A118C69F58D1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52F010-A319-5241-8710-578E936489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0456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8FFA43-AD54-234D-B23B-33D88CBFCFD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729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aseline="0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aseline="0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E58DC2-CF06-0E4C-B130-0E4E18649FB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110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aseline="0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aseline="0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E58DC2-CF06-0E4C-B130-0E4E18649FBE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1417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aseline="0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aseline="0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E58DC2-CF06-0E4C-B130-0E4E18649FBE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772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2DDA3-3FE2-9A18-0E7C-9A6B5BB12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FF1C85-DB9B-533F-4AF6-B6E6DC4FF8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55D497-7063-F92B-32D4-49262A84B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aseline="0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aseline="0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6F124-B0EA-7CE3-B360-BD8C4F87AC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E58DC2-CF06-0E4C-B130-0E4E18649FBE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0476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aseline="0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aseline="0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E58DC2-CF06-0E4C-B130-0E4E18649FBE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3567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79F4D-B07F-8EB7-3A45-D8A2ADE204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D6B61C-0A5A-7003-C1E0-759399D56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2484C-B680-DB91-6990-3F218FFE9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3B6A-7F60-1A4F-B823-1207A8391311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1700E-D421-08C9-779D-87929B85F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7B47F-180A-515E-C0EF-7FA5D87F2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C6D2-B109-8E4C-BBF6-636CAD01F9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3672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00368-48DB-17EF-805E-D3FEA7BA7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D0EAD-438D-C7E0-700E-566120D48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F8DF7-5632-3C01-D7A9-ADB29DE0E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3B6A-7F60-1A4F-B823-1207A8391311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BE71B-EBBF-2AE2-9A20-D3A78A2E1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28009-4605-585D-629D-F172C9ADB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C6D2-B109-8E4C-BBF6-636CAD01F9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172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FA4EC-69F7-EE6A-44D4-E440CF617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0CBEE-BBC1-0265-A92C-AA2A002F2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DBE62-BD17-84AE-8EC3-7C351AEFD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3B6A-7F60-1A4F-B823-1207A8391311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0BFFA-D99B-6B66-9F78-34797BBB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73117-FB58-BBB4-8750-5C35944E0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C6D2-B109-8E4C-BBF6-636CAD01F9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3893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6772D-A355-F17C-2177-5FC286CE6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DC0DC-684F-E0BF-73BB-8880D965E9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2DE363-5CA6-CB11-9123-7FE5F8A70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D9811-946E-346A-F396-EFD618AA4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3B6A-7F60-1A4F-B823-1207A8391311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CB2F0B-E0C3-0C49-C58E-4B4468E1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30C9C6-A191-FF4E-BEB1-70B1907F6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C6D2-B109-8E4C-BBF6-636CAD01F9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768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FB454-ECA4-C7BE-E380-CDC78C6FD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CE14A-5203-913D-04D8-58DD8CA35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3769C-6798-102E-0701-0358B1EF3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C8697D-829D-9FA8-4056-EECE1F7DF4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5F4BF9-414A-DE83-09BA-9CE7A40008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BE5FEC-ECAA-66EE-AFDC-3347A960F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3B6A-7F60-1A4F-B823-1207A8391311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600E94-212C-7B1B-7E91-B03F099AF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6506C5-3952-CD8A-5293-337148FC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C6D2-B109-8E4C-BBF6-636CAD01F9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80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5F0A0-AE87-B145-15DB-EE6663178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4B97CC-C19C-621C-E562-9BAAE6153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3B6A-7F60-1A4F-B823-1207A8391311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59BC2-7CC6-347A-75D4-29BC3A4D7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85887-4278-F4E2-DC25-E0E315C82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C6D2-B109-8E4C-BBF6-636CAD01F9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8411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754505-BE85-D986-086E-06AC82BA6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3B6A-7F60-1A4F-B823-1207A8391311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7C4D0B-941B-C23C-C9EB-F74FE2C6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FA553-08C1-A682-8E08-8D01DF14E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C6D2-B109-8E4C-BBF6-636CAD01F9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160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32E60-82D8-5807-450A-7E05E082F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4B0BE-DBA0-57BB-2A00-14D6314C6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45D956-158D-54E4-C8DA-9CA8DC5C1E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C57B72-AB4E-5A53-EC87-F894C3B6F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3B6A-7F60-1A4F-B823-1207A8391311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BB247-8746-4E87-77D0-EA489D727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F3DF4-1984-7554-B072-64E27DCA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C6D2-B109-8E4C-BBF6-636CAD01F9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049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BAC3C-A036-D906-F726-4AC032DD0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C6EAC3-E375-59DE-C0AB-26BD1F49C2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956F2F-6EED-04C8-9239-C9D0006D3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73455-F197-95EB-3AA0-218B81C72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3B6A-7F60-1A4F-B823-1207A8391311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26953-BAB7-61B7-E507-412EDA75C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640E4-8356-1E00-3191-8B3B27DC5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C6D2-B109-8E4C-BBF6-636CAD01F9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5552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CE2B5-2260-F0D2-A58D-9BAEDDE02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ED2B8-EBFA-E68F-DABE-75FA916473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5EDA9-8C17-122E-69AE-2CCC32262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3B6A-7F60-1A4F-B823-1207A8391311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4DA7F-6941-D337-CC9F-4995A7FF1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4C837-4629-D062-E7FC-4A0AE1B42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C6D2-B109-8E4C-BBF6-636CAD01F9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7617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0203CA-83C8-D53A-1507-B2CC5A6721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3D176B-6347-D531-6C92-77D12A5618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B6782-0879-75CA-845F-CCF3A7699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3B6A-7F60-1A4F-B823-1207A8391311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BD0DF-6C21-EBC9-C4BD-B201EF951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90052-216A-90C8-A004-BCC710B61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C6D2-B109-8E4C-BBF6-636CAD01F9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2161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DD9FAD-E229-5AF0-2A08-4371BB152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218BC-A6C1-C81F-190F-2A762ADBC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C8CFE-DE75-B8F0-3818-2D790195E2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C3B6A-7F60-1A4F-B823-1207A8391311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EC328-C185-F76E-A21B-9AB4E035C2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CFB24-E4F7-64B7-C67A-68721A33F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9C6D2-B109-8E4C-BBF6-636CAD01F9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7257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cadms/resfinder" TargetMode="External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hyperlink" Target="https://github.com/ncbi/amr" TargetMode="External"/><Relationship Id="rId4" Type="http://schemas.openxmlformats.org/officeDocument/2006/relationships/hyperlink" Target="https://github.com/arpcard/rgi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494945-E1FF-B9F0-48A5-E38965F39D75}"/>
              </a:ext>
            </a:extLst>
          </p:cNvPr>
          <p:cNvSpPr txBox="1"/>
          <p:nvPr/>
        </p:nvSpPr>
        <p:spPr>
          <a:xfrm>
            <a:off x="464456" y="828463"/>
            <a:ext cx="11263086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dirty="0">
                <a:latin typeface="Constantia" panose="02030602050306030303" pitchFamily="18" charset="0"/>
              </a:rPr>
              <a:t>Computational Practical 6</a:t>
            </a:r>
          </a:p>
          <a:p>
            <a:pPr algn="ctr"/>
            <a:r>
              <a:rPr lang="en-GB" sz="2000" dirty="0">
                <a:latin typeface="Constantia" panose="02030602050306030303" pitchFamily="18" charset="0"/>
              </a:rPr>
              <a:t> </a:t>
            </a:r>
          </a:p>
          <a:p>
            <a:pPr algn="ctr"/>
            <a:r>
              <a:rPr lang="en-GB" sz="4800" dirty="0">
                <a:latin typeface="Constantia" panose="02030602050306030303" pitchFamily="18" charset="0"/>
              </a:rPr>
              <a:t>Detecting antimicrobial resistance from bacterial genomes using command-line tools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2D4613-5F19-3248-E62C-6F63B4C948DE}"/>
              </a:ext>
            </a:extLst>
          </p:cNvPr>
          <p:cNvSpPr txBox="1"/>
          <p:nvPr/>
        </p:nvSpPr>
        <p:spPr>
          <a:xfrm>
            <a:off x="892627" y="5233708"/>
            <a:ext cx="104067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Constantia" panose="02030602050306030303" pitchFamily="18" charset="0"/>
              </a:rPr>
              <a:t>Antimicrobial Resistance of Bacterial Pathogen Course</a:t>
            </a:r>
          </a:p>
          <a:p>
            <a:pPr algn="ctr"/>
            <a:r>
              <a:rPr lang="en-GB" sz="2800" dirty="0">
                <a:latin typeface="Constantia" panose="02030602050306030303" pitchFamily="18" charset="0"/>
              </a:rPr>
              <a:t>Johannesburg, South Africa</a:t>
            </a:r>
          </a:p>
          <a:p>
            <a:pPr algn="ctr"/>
            <a:r>
              <a:rPr lang="en-GB" sz="2400">
                <a:solidFill>
                  <a:srgbClr val="000000"/>
                </a:solidFill>
                <a:latin typeface="Constantia" panose="02030602050306030303" pitchFamily="18" charset="0"/>
              </a:rPr>
              <a:t>10/03/2026</a:t>
            </a:r>
            <a:endParaRPr lang="en-GB" sz="2400" dirty="0">
              <a:solidFill>
                <a:srgbClr val="000000"/>
              </a:solidFill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050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85;p13">
            <a:extLst>
              <a:ext uri="{FF2B5EF4-FFF2-40B4-BE49-F238E27FC236}">
                <a16:creationId xmlns:a16="http://schemas.microsoft.com/office/drawing/2014/main" id="{9B384191-4535-D695-361E-D8BD3A8266E9}"/>
              </a:ext>
            </a:extLst>
          </p:cNvPr>
          <p:cNvGrpSpPr/>
          <p:nvPr/>
        </p:nvGrpSpPr>
        <p:grpSpPr>
          <a:xfrm>
            <a:off x="1540411" y="2006179"/>
            <a:ext cx="8004401" cy="2845642"/>
            <a:chOff x="806592" y="1624982"/>
            <a:chExt cx="11314919" cy="4022564"/>
          </a:xfrm>
        </p:grpSpPr>
        <p:sp>
          <p:nvSpPr>
            <p:cNvPr id="5" name="Google Shape;86;p13">
              <a:extLst>
                <a:ext uri="{FF2B5EF4-FFF2-40B4-BE49-F238E27FC236}">
                  <a16:creationId xmlns:a16="http://schemas.microsoft.com/office/drawing/2014/main" id="{B8ABAD3B-7488-42AB-9101-0A721C751EE0}"/>
                </a:ext>
              </a:extLst>
            </p:cNvPr>
            <p:cNvSpPr/>
            <p:nvPr/>
          </p:nvSpPr>
          <p:spPr>
            <a:xfrm>
              <a:off x="1002389" y="5311350"/>
              <a:ext cx="11119122" cy="64628"/>
            </a:xfrm>
            <a:custGeom>
              <a:avLst/>
              <a:gdLst/>
              <a:ahLst/>
              <a:cxnLst/>
              <a:rect l="l" t="t" r="r" b="b"/>
              <a:pathLst>
                <a:path w="126956" h="128" extrusionOk="0">
                  <a:moveTo>
                    <a:pt x="0" y="1"/>
                  </a:moveTo>
                  <a:lnTo>
                    <a:pt x="0" y="128"/>
                  </a:lnTo>
                  <a:lnTo>
                    <a:pt x="126955" y="128"/>
                  </a:lnTo>
                  <a:lnTo>
                    <a:pt x="126955" y="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87;p13">
              <a:extLst>
                <a:ext uri="{FF2B5EF4-FFF2-40B4-BE49-F238E27FC236}">
                  <a16:creationId xmlns:a16="http://schemas.microsoft.com/office/drawing/2014/main" id="{CF5A1D46-51DB-7529-3DA1-51BF8593DB87}"/>
                </a:ext>
              </a:extLst>
            </p:cNvPr>
            <p:cNvSpPr/>
            <p:nvPr/>
          </p:nvSpPr>
          <p:spPr>
            <a:xfrm>
              <a:off x="5145096" y="2611747"/>
              <a:ext cx="1939558" cy="2581002"/>
            </a:xfrm>
            <a:custGeom>
              <a:avLst/>
              <a:gdLst/>
              <a:ahLst/>
              <a:cxnLst/>
              <a:rect l="l" t="t" r="r" b="b"/>
              <a:pathLst>
                <a:path w="29074" h="30817" extrusionOk="0">
                  <a:moveTo>
                    <a:pt x="185" y="0"/>
                  </a:moveTo>
                  <a:cubicBezTo>
                    <a:pt x="86" y="0"/>
                    <a:pt x="0" y="85"/>
                    <a:pt x="0" y="199"/>
                  </a:cubicBezTo>
                  <a:lnTo>
                    <a:pt x="0" y="30179"/>
                  </a:lnTo>
                  <a:cubicBezTo>
                    <a:pt x="0" y="30533"/>
                    <a:pt x="284" y="30816"/>
                    <a:pt x="639" y="30816"/>
                  </a:cubicBezTo>
                  <a:lnTo>
                    <a:pt x="28435" y="30816"/>
                  </a:lnTo>
                  <a:cubicBezTo>
                    <a:pt x="28789" y="30816"/>
                    <a:pt x="29073" y="30533"/>
                    <a:pt x="29073" y="30179"/>
                  </a:cubicBezTo>
                  <a:lnTo>
                    <a:pt x="29073" y="199"/>
                  </a:lnTo>
                  <a:cubicBezTo>
                    <a:pt x="29073" y="85"/>
                    <a:pt x="28988" y="0"/>
                    <a:pt x="28875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88;p13">
              <a:extLst>
                <a:ext uri="{FF2B5EF4-FFF2-40B4-BE49-F238E27FC236}">
                  <a16:creationId xmlns:a16="http://schemas.microsoft.com/office/drawing/2014/main" id="{F2D75224-8926-352F-895C-9734D3B14C01}"/>
                </a:ext>
              </a:extLst>
            </p:cNvPr>
            <p:cNvSpPr/>
            <p:nvPr/>
          </p:nvSpPr>
          <p:spPr>
            <a:xfrm>
              <a:off x="5357021" y="1767872"/>
              <a:ext cx="1514674" cy="1514675"/>
            </a:xfrm>
            <a:custGeom>
              <a:avLst/>
              <a:gdLst/>
              <a:ahLst/>
              <a:cxnLst/>
              <a:rect l="l" t="t" r="r" b="b"/>
              <a:pathLst>
                <a:path w="22705" h="22705" extrusionOk="0">
                  <a:moveTo>
                    <a:pt x="11360" y="0"/>
                  </a:moveTo>
                  <a:cubicBezTo>
                    <a:pt x="5091" y="0"/>
                    <a:pt x="1" y="5077"/>
                    <a:pt x="1" y="11345"/>
                  </a:cubicBezTo>
                  <a:cubicBezTo>
                    <a:pt x="1" y="17614"/>
                    <a:pt x="5091" y="22704"/>
                    <a:pt x="11360" y="22704"/>
                  </a:cubicBezTo>
                  <a:cubicBezTo>
                    <a:pt x="17628" y="22704"/>
                    <a:pt x="22705" y="17614"/>
                    <a:pt x="22705" y="11345"/>
                  </a:cubicBezTo>
                  <a:cubicBezTo>
                    <a:pt x="22705" y="5077"/>
                    <a:pt x="17628" y="0"/>
                    <a:pt x="113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89;p13">
              <a:extLst>
                <a:ext uri="{FF2B5EF4-FFF2-40B4-BE49-F238E27FC236}">
                  <a16:creationId xmlns:a16="http://schemas.microsoft.com/office/drawing/2014/main" id="{F216410D-BB41-DCCF-F26C-F63DF75A0653}"/>
                </a:ext>
              </a:extLst>
            </p:cNvPr>
            <p:cNvSpPr/>
            <p:nvPr/>
          </p:nvSpPr>
          <p:spPr>
            <a:xfrm>
              <a:off x="5554676" y="1981671"/>
              <a:ext cx="1120279" cy="1086123"/>
            </a:xfrm>
            <a:custGeom>
              <a:avLst/>
              <a:gdLst/>
              <a:ahLst/>
              <a:cxnLst/>
              <a:rect l="l" t="t" r="r" b="b"/>
              <a:pathLst>
                <a:path w="16793" h="16281" extrusionOk="0">
                  <a:moveTo>
                    <a:pt x="8397" y="0"/>
                  </a:moveTo>
                  <a:cubicBezTo>
                    <a:pt x="3760" y="0"/>
                    <a:pt x="1" y="3644"/>
                    <a:pt x="1" y="8140"/>
                  </a:cubicBezTo>
                  <a:cubicBezTo>
                    <a:pt x="1" y="12635"/>
                    <a:pt x="3760" y="16281"/>
                    <a:pt x="8397" y="16281"/>
                  </a:cubicBezTo>
                  <a:cubicBezTo>
                    <a:pt x="13035" y="16281"/>
                    <a:pt x="16792" y="12635"/>
                    <a:pt x="16792" y="8140"/>
                  </a:cubicBezTo>
                  <a:cubicBezTo>
                    <a:pt x="16792" y="3644"/>
                    <a:pt x="13035" y="0"/>
                    <a:pt x="83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90;p13">
              <a:extLst>
                <a:ext uri="{FF2B5EF4-FFF2-40B4-BE49-F238E27FC236}">
                  <a16:creationId xmlns:a16="http://schemas.microsoft.com/office/drawing/2014/main" id="{40EB2070-5EA4-AF61-243F-0CD10D7F07C6}"/>
                </a:ext>
              </a:extLst>
            </p:cNvPr>
            <p:cNvSpPr/>
            <p:nvPr/>
          </p:nvSpPr>
          <p:spPr>
            <a:xfrm>
              <a:off x="5756177" y="4930356"/>
              <a:ext cx="717123" cy="717190"/>
            </a:xfrm>
            <a:custGeom>
              <a:avLst/>
              <a:gdLst/>
              <a:ahLst/>
              <a:cxnLst/>
              <a:rect l="l" t="t" r="r" b="b"/>
              <a:pathLst>
                <a:path w="10750" h="10751" extrusionOk="0">
                  <a:moveTo>
                    <a:pt x="5375" y="0"/>
                  </a:moveTo>
                  <a:cubicBezTo>
                    <a:pt x="2396" y="0"/>
                    <a:pt x="0" y="2411"/>
                    <a:pt x="0" y="5375"/>
                  </a:cubicBezTo>
                  <a:cubicBezTo>
                    <a:pt x="0" y="8353"/>
                    <a:pt x="2396" y="10750"/>
                    <a:pt x="5375" y="10750"/>
                  </a:cubicBezTo>
                  <a:cubicBezTo>
                    <a:pt x="8339" y="10750"/>
                    <a:pt x="10750" y="8353"/>
                    <a:pt x="10750" y="5375"/>
                  </a:cubicBezTo>
                  <a:cubicBezTo>
                    <a:pt x="10750" y="2411"/>
                    <a:pt x="8339" y="0"/>
                    <a:pt x="53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91;p13">
              <a:extLst>
                <a:ext uri="{FF2B5EF4-FFF2-40B4-BE49-F238E27FC236}">
                  <a16:creationId xmlns:a16="http://schemas.microsoft.com/office/drawing/2014/main" id="{A74C82B9-08C7-8D27-D9A3-C38FAA4D3BB3}"/>
                </a:ext>
              </a:extLst>
            </p:cNvPr>
            <p:cNvSpPr/>
            <p:nvPr/>
          </p:nvSpPr>
          <p:spPr>
            <a:xfrm>
              <a:off x="6089276" y="1624982"/>
              <a:ext cx="928085" cy="899799"/>
            </a:xfrm>
            <a:custGeom>
              <a:avLst/>
              <a:gdLst/>
              <a:ahLst/>
              <a:cxnLst/>
              <a:rect l="l" t="t" r="r" b="b"/>
              <a:pathLst>
                <a:path w="13912" h="13488" extrusionOk="0">
                  <a:moveTo>
                    <a:pt x="0" y="0"/>
                  </a:moveTo>
                  <a:lnTo>
                    <a:pt x="0" y="213"/>
                  </a:lnTo>
                  <a:cubicBezTo>
                    <a:pt x="7559" y="213"/>
                    <a:pt x="13700" y="6170"/>
                    <a:pt x="13700" y="13487"/>
                  </a:cubicBezTo>
                  <a:lnTo>
                    <a:pt x="13912" y="13487"/>
                  </a:lnTo>
                  <a:cubicBezTo>
                    <a:pt x="13912" y="6041"/>
                    <a:pt x="7672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92;p13">
              <a:extLst>
                <a:ext uri="{FF2B5EF4-FFF2-40B4-BE49-F238E27FC236}">
                  <a16:creationId xmlns:a16="http://schemas.microsoft.com/office/drawing/2014/main" id="{680E0940-5E6F-16CE-02B5-7E2457F491BC}"/>
                </a:ext>
              </a:extLst>
            </p:cNvPr>
            <p:cNvSpPr txBox="1"/>
            <p:nvPr/>
          </p:nvSpPr>
          <p:spPr>
            <a:xfrm>
              <a:off x="5145104" y="3247701"/>
              <a:ext cx="1939647" cy="4592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A35"/>
                </a:buClr>
                <a:buSzPts val="1800"/>
                <a:buFont typeface="Georgia "/>
                <a:buNone/>
              </a:pPr>
              <a:r>
                <a:rPr lang="en-US" dirty="0">
                  <a:solidFill>
                    <a:srgbClr val="222A35"/>
                  </a:solidFill>
                  <a:latin typeface="Georgia "/>
                  <a:sym typeface="Georgia "/>
                </a:rPr>
                <a:t>WGS and QC</a:t>
              </a:r>
              <a:endParaRPr dirty="0"/>
            </a:p>
          </p:txBody>
        </p:sp>
        <p:sp>
          <p:nvSpPr>
            <p:cNvPr id="12" name="Google Shape;93;p13">
              <a:extLst>
                <a:ext uri="{FF2B5EF4-FFF2-40B4-BE49-F238E27FC236}">
                  <a16:creationId xmlns:a16="http://schemas.microsoft.com/office/drawing/2014/main" id="{A13EE5FE-9F2F-DFBC-2C3F-BF809C5DE41F}"/>
                </a:ext>
              </a:extLst>
            </p:cNvPr>
            <p:cNvSpPr txBox="1"/>
            <p:nvPr/>
          </p:nvSpPr>
          <p:spPr>
            <a:xfrm>
              <a:off x="5750753" y="4861255"/>
              <a:ext cx="700489" cy="4905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Georgia "/>
                <a:buNone/>
              </a:pPr>
              <a:r>
                <a:rPr lang="en-US" sz="3000" b="1" i="0" u="none" strike="noStrike" cap="none" dirty="0">
                  <a:solidFill>
                    <a:srgbClr val="FFFFFF"/>
                  </a:solidFill>
                  <a:latin typeface="Georgia "/>
                  <a:ea typeface="Georgia "/>
                  <a:cs typeface="Georgia "/>
                  <a:sym typeface="Georgia "/>
                </a:rPr>
                <a:t>G</a:t>
              </a:r>
              <a:endParaRPr sz="3000" b="1" i="0" u="none" strike="noStrike" cap="none" dirty="0">
                <a:solidFill>
                  <a:srgbClr val="FFFFFF"/>
                </a:solidFill>
                <a:latin typeface="Georgia "/>
                <a:ea typeface="Georgia "/>
                <a:cs typeface="Georgia "/>
                <a:sym typeface="Georgia "/>
              </a:endParaRPr>
            </a:p>
          </p:txBody>
        </p:sp>
        <p:sp>
          <p:nvSpPr>
            <p:cNvPr id="13" name="Google Shape;94;p13">
              <a:extLst>
                <a:ext uri="{FF2B5EF4-FFF2-40B4-BE49-F238E27FC236}">
                  <a16:creationId xmlns:a16="http://schemas.microsoft.com/office/drawing/2014/main" id="{C8F76C16-4ACD-D26A-06A5-9999658A4649}"/>
                </a:ext>
              </a:extLst>
            </p:cNvPr>
            <p:cNvSpPr/>
            <p:nvPr/>
          </p:nvSpPr>
          <p:spPr>
            <a:xfrm>
              <a:off x="2975832" y="2611747"/>
              <a:ext cx="1939558" cy="2581002"/>
            </a:xfrm>
            <a:custGeom>
              <a:avLst/>
              <a:gdLst/>
              <a:ahLst/>
              <a:cxnLst/>
              <a:rect l="l" t="t" r="r" b="b"/>
              <a:pathLst>
                <a:path w="29074" h="30817" extrusionOk="0">
                  <a:moveTo>
                    <a:pt x="185" y="0"/>
                  </a:moveTo>
                  <a:cubicBezTo>
                    <a:pt x="86" y="0"/>
                    <a:pt x="0" y="85"/>
                    <a:pt x="0" y="199"/>
                  </a:cubicBezTo>
                  <a:lnTo>
                    <a:pt x="0" y="30179"/>
                  </a:lnTo>
                  <a:cubicBezTo>
                    <a:pt x="0" y="30533"/>
                    <a:pt x="284" y="30816"/>
                    <a:pt x="639" y="30816"/>
                  </a:cubicBezTo>
                  <a:lnTo>
                    <a:pt x="28435" y="30816"/>
                  </a:lnTo>
                  <a:cubicBezTo>
                    <a:pt x="28789" y="30816"/>
                    <a:pt x="29073" y="30533"/>
                    <a:pt x="29073" y="30179"/>
                  </a:cubicBezTo>
                  <a:lnTo>
                    <a:pt x="29073" y="199"/>
                  </a:lnTo>
                  <a:cubicBezTo>
                    <a:pt x="29073" y="85"/>
                    <a:pt x="28988" y="0"/>
                    <a:pt x="28875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95;p13">
              <a:extLst>
                <a:ext uri="{FF2B5EF4-FFF2-40B4-BE49-F238E27FC236}">
                  <a16:creationId xmlns:a16="http://schemas.microsoft.com/office/drawing/2014/main" id="{F158B38F-537B-813B-C14B-371007F11D2C}"/>
                </a:ext>
              </a:extLst>
            </p:cNvPr>
            <p:cNvSpPr/>
            <p:nvPr/>
          </p:nvSpPr>
          <p:spPr>
            <a:xfrm>
              <a:off x="3187739" y="1767872"/>
              <a:ext cx="1514741" cy="1514675"/>
            </a:xfrm>
            <a:custGeom>
              <a:avLst/>
              <a:gdLst/>
              <a:ahLst/>
              <a:cxnLst/>
              <a:rect l="l" t="t" r="r" b="b"/>
              <a:pathLst>
                <a:path w="22706" h="22705" extrusionOk="0">
                  <a:moveTo>
                    <a:pt x="11360" y="0"/>
                  </a:moveTo>
                  <a:cubicBezTo>
                    <a:pt x="5092" y="0"/>
                    <a:pt x="0" y="5077"/>
                    <a:pt x="0" y="11345"/>
                  </a:cubicBezTo>
                  <a:cubicBezTo>
                    <a:pt x="0" y="17614"/>
                    <a:pt x="5092" y="22704"/>
                    <a:pt x="11360" y="22704"/>
                  </a:cubicBezTo>
                  <a:cubicBezTo>
                    <a:pt x="17629" y="22704"/>
                    <a:pt x="22706" y="17614"/>
                    <a:pt x="22706" y="11345"/>
                  </a:cubicBezTo>
                  <a:cubicBezTo>
                    <a:pt x="22706" y="5077"/>
                    <a:pt x="17629" y="0"/>
                    <a:pt x="11360" y="0"/>
                  </a:cubicBezTo>
                  <a:close/>
                </a:path>
              </a:pathLst>
            </a:custGeom>
            <a:solidFill>
              <a:srgbClr val="0775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96;p13">
              <a:extLst>
                <a:ext uri="{FF2B5EF4-FFF2-40B4-BE49-F238E27FC236}">
                  <a16:creationId xmlns:a16="http://schemas.microsoft.com/office/drawing/2014/main" id="{EF9B087C-C4B6-DB47-EF30-159034B55340}"/>
                </a:ext>
              </a:extLst>
            </p:cNvPr>
            <p:cNvSpPr/>
            <p:nvPr/>
          </p:nvSpPr>
          <p:spPr>
            <a:xfrm>
              <a:off x="3385461" y="1981671"/>
              <a:ext cx="1120213" cy="1086123"/>
            </a:xfrm>
            <a:custGeom>
              <a:avLst/>
              <a:gdLst/>
              <a:ahLst/>
              <a:cxnLst/>
              <a:rect l="l" t="t" r="r" b="b"/>
              <a:pathLst>
                <a:path w="16792" h="16281" extrusionOk="0">
                  <a:moveTo>
                    <a:pt x="8396" y="0"/>
                  </a:moveTo>
                  <a:cubicBezTo>
                    <a:pt x="3758" y="0"/>
                    <a:pt x="1" y="3644"/>
                    <a:pt x="1" y="8140"/>
                  </a:cubicBezTo>
                  <a:cubicBezTo>
                    <a:pt x="1" y="12635"/>
                    <a:pt x="3758" y="16281"/>
                    <a:pt x="8396" y="16281"/>
                  </a:cubicBezTo>
                  <a:cubicBezTo>
                    <a:pt x="13033" y="16281"/>
                    <a:pt x="16792" y="12635"/>
                    <a:pt x="16792" y="8140"/>
                  </a:cubicBezTo>
                  <a:cubicBezTo>
                    <a:pt x="16792" y="3644"/>
                    <a:pt x="13033" y="0"/>
                    <a:pt x="83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97;p13">
              <a:extLst>
                <a:ext uri="{FF2B5EF4-FFF2-40B4-BE49-F238E27FC236}">
                  <a16:creationId xmlns:a16="http://schemas.microsoft.com/office/drawing/2014/main" id="{9F2DC308-7F83-1CD5-D544-A3C1BD153275}"/>
                </a:ext>
              </a:extLst>
            </p:cNvPr>
            <p:cNvSpPr/>
            <p:nvPr/>
          </p:nvSpPr>
          <p:spPr>
            <a:xfrm>
              <a:off x="3586854" y="4930356"/>
              <a:ext cx="717178" cy="717178"/>
            </a:xfrm>
            <a:custGeom>
              <a:avLst/>
              <a:gdLst/>
              <a:ahLst/>
              <a:cxnLst/>
              <a:rect l="l" t="t" r="r" b="b"/>
              <a:pathLst>
                <a:path w="10751" h="10751" extrusionOk="0">
                  <a:moveTo>
                    <a:pt x="5376" y="0"/>
                  </a:moveTo>
                  <a:cubicBezTo>
                    <a:pt x="2398" y="0"/>
                    <a:pt x="1" y="2411"/>
                    <a:pt x="1" y="5375"/>
                  </a:cubicBezTo>
                  <a:cubicBezTo>
                    <a:pt x="1" y="8353"/>
                    <a:pt x="2398" y="10750"/>
                    <a:pt x="5376" y="10750"/>
                  </a:cubicBezTo>
                  <a:cubicBezTo>
                    <a:pt x="8340" y="10750"/>
                    <a:pt x="10751" y="8353"/>
                    <a:pt x="10751" y="5375"/>
                  </a:cubicBezTo>
                  <a:cubicBezTo>
                    <a:pt x="10751" y="2411"/>
                    <a:pt x="8340" y="0"/>
                    <a:pt x="5376" y="0"/>
                  </a:cubicBezTo>
                  <a:close/>
                </a:path>
              </a:pathLst>
            </a:custGeom>
            <a:solidFill>
              <a:srgbClr val="0775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98;p13">
              <a:extLst>
                <a:ext uri="{FF2B5EF4-FFF2-40B4-BE49-F238E27FC236}">
                  <a16:creationId xmlns:a16="http://schemas.microsoft.com/office/drawing/2014/main" id="{04FBCC50-B60C-7307-890E-2EDD612D13CB}"/>
                </a:ext>
              </a:extLst>
            </p:cNvPr>
            <p:cNvSpPr/>
            <p:nvPr/>
          </p:nvSpPr>
          <p:spPr>
            <a:xfrm>
              <a:off x="3933202" y="1624982"/>
              <a:ext cx="928218" cy="899799"/>
            </a:xfrm>
            <a:custGeom>
              <a:avLst/>
              <a:gdLst/>
              <a:ahLst/>
              <a:cxnLst/>
              <a:rect l="l" t="t" r="r" b="b"/>
              <a:pathLst>
                <a:path w="13914" h="13488" extrusionOk="0">
                  <a:moveTo>
                    <a:pt x="0" y="0"/>
                  </a:moveTo>
                  <a:lnTo>
                    <a:pt x="0" y="213"/>
                  </a:lnTo>
                  <a:cubicBezTo>
                    <a:pt x="7545" y="213"/>
                    <a:pt x="13686" y="6170"/>
                    <a:pt x="13686" y="13487"/>
                  </a:cubicBezTo>
                  <a:lnTo>
                    <a:pt x="13913" y="13487"/>
                  </a:lnTo>
                  <a:cubicBezTo>
                    <a:pt x="13913" y="6041"/>
                    <a:pt x="7673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rgbClr val="0775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99;p13">
              <a:extLst>
                <a:ext uri="{FF2B5EF4-FFF2-40B4-BE49-F238E27FC236}">
                  <a16:creationId xmlns:a16="http://schemas.microsoft.com/office/drawing/2014/main" id="{3B760CF4-7D97-7E0B-49AC-05ACDB0165E0}"/>
                </a:ext>
              </a:extLst>
            </p:cNvPr>
            <p:cNvSpPr txBox="1"/>
            <p:nvPr/>
          </p:nvSpPr>
          <p:spPr>
            <a:xfrm>
              <a:off x="2975787" y="3249211"/>
              <a:ext cx="1939647" cy="4592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A35"/>
                </a:buClr>
                <a:buSzPts val="1800"/>
                <a:buFont typeface="Georgia "/>
                <a:buNone/>
              </a:pPr>
              <a:r>
                <a:rPr lang="en-US" sz="1800" b="0" i="0" u="none" strike="noStrike" cap="none" dirty="0">
                  <a:solidFill>
                    <a:srgbClr val="222A35"/>
                  </a:solidFill>
                  <a:latin typeface="Georgia "/>
                  <a:ea typeface="Georgia "/>
                  <a:cs typeface="Georgia "/>
                  <a:sym typeface="Georgia "/>
                </a:rPr>
                <a:t>Phenotypic AST </a:t>
              </a:r>
              <a:endParaRPr dirty="0"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 dirty="0">
                <a:solidFill>
                  <a:srgbClr val="222A35"/>
                </a:solidFill>
                <a:latin typeface="Georgia "/>
                <a:ea typeface="Georgia "/>
                <a:cs typeface="Georgia "/>
                <a:sym typeface="Georgia "/>
              </a:endParaRPr>
            </a:p>
          </p:txBody>
        </p:sp>
        <p:sp>
          <p:nvSpPr>
            <p:cNvPr id="19" name="Google Shape;100;p13">
              <a:extLst>
                <a:ext uri="{FF2B5EF4-FFF2-40B4-BE49-F238E27FC236}">
                  <a16:creationId xmlns:a16="http://schemas.microsoft.com/office/drawing/2014/main" id="{1022E7BF-1225-A170-68AF-715A302FAB3D}"/>
                </a:ext>
              </a:extLst>
            </p:cNvPr>
            <p:cNvSpPr txBox="1"/>
            <p:nvPr/>
          </p:nvSpPr>
          <p:spPr>
            <a:xfrm>
              <a:off x="3595349" y="4859550"/>
              <a:ext cx="700489" cy="4905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Georgia "/>
                <a:buNone/>
              </a:pPr>
              <a:r>
                <a:rPr lang="en-US" sz="3000" b="1" dirty="0">
                  <a:solidFill>
                    <a:srgbClr val="FFFFFF"/>
                  </a:solidFill>
                  <a:latin typeface="Georgia "/>
                  <a:ea typeface="Georgia "/>
                  <a:cs typeface="Georgia "/>
                  <a:sym typeface="Georgia "/>
                </a:rPr>
                <a:t>A</a:t>
              </a:r>
              <a:endParaRPr sz="3000" b="1" i="0" u="none" strike="noStrike" cap="none" dirty="0">
                <a:solidFill>
                  <a:srgbClr val="FFFFFF"/>
                </a:solidFill>
                <a:latin typeface="Georgia "/>
                <a:ea typeface="Georgia "/>
                <a:cs typeface="Georgia "/>
                <a:sym typeface="Georgia "/>
              </a:endParaRPr>
            </a:p>
          </p:txBody>
        </p:sp>
        <p:sp>
          <p:nvSpPr>
            <p:cNvPr id="20" name="Google Shape;101;p13">
              <a:extLst>
                <a:ext uri="{FF2B5EF4-FFF2-40B4-BE49-F238E27FC236}">
                  <a16:creationId xmlns:a16="http://schemas.microsoft.com/office/drawing/2014/main" id="{5FB2CB44-C9BE-A093-64B0-6F181497BD1F}"/>
                </a:ext>
              </a:extLst>
            </p:cNvPr>
            <p:cNvSpPr/>
            <p:nvPr/>
          </p:nvSpPr>
          <p:spPr>
            <a:xfrm>
              <a:off x="842674" y="2611747"/>
              <a:ext cx="1939491" cy="2581002"/>
            </a:xfrm>
            <a:custGeom>
              <a:avLst/>
              <a:gdLst/>
              <a:ahLst/>
              <a:cxnLst/>
              <a:rect l="l" t="t" r="r" b="b"/>
              <a:pathLst>
                <a:path w="29073" h="30817" extrusionOk="0">
                  <a:moveTo>
                    <a:pt x="184" y="0"/>
                  </a:moveTo>
                  <a:cubicBezTo>
                    <a:pt x="85" y="0"/>
                    <a:pt x="0" y="85"/>
                    <a:pt x="0" y="199"/>
                  </a:cubicBezTo>
                  <a:lnTo>
                    <a:pt x="0" y="30179"/>
                  </a:lnTo>
                  <a:cubicBezTo>
                    <a:pt x="0" y="30533"/>
                    <a:pt x="284" y="30816"/>
                    <a:pt x="638" y="30816"/>
                  </a:cubicBezTo>
                  <a:lnTo>
                    <a:pt x="28434" y="30816"/>
                  </a:lnTo>
                  <a:cubicBezTo>
                    <a:pt x="28789" y="30816"/>
                    <a:pt x="29073" y="30533"/>
                    <a:pt x="29073" y="30179"/>
                  </a:cubicBezTo>
                  <a:lnTo>
                    <a:pt x="29073" y="199"/>
                  </a:lnTo>
                  <a:cubicBezTo>
                    <a:pt x="29073" y="85"/>
                    <a:pt x="28988" y="0"/>
                    <a:pt x="28874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02;p13">
              <a:extLst>
                <a:ext uri="{FF2B5EF4-FFF2-40B4-BE49-F238E27FC236}">
                  <a16:creationId xmlns:a16="http://schemas.microsoft.com/office/drawing/2014/main" id="{5EBFCF4A-11AB-8B2F-FB8A-86F00688B684}"/>
                </a:ext>
              </a:extLst>
            </p:cNvPr>
            <p:cNvSpPr/>
            <p:nvPr/>
          </p:nvSpPr>
          <p:spPr>
            <a:xfrm>
              <a:off x="1018457" y="1767872"/>
              <a:ext cx="1515742" cy="1514675"/>
            </a:xfrm>
            <a:custGeom>
              <a:avLst/>
              <a:gdLst/>
              <a:ahLst/>
              <a:cxnLst/>
              <a:rect l="l" t="t" r="r" b="b"/>
              <a:pathLst>
                <a:path w="22721" h="22705" extrusionOk="0">
                  <a:moveTo>
                    <a:pt x="11360" y="0"/>
                  </a:moveTo>
                  <a:cubicBezTo>
                    <a:pt x="5092" y="0"/>
                    <a:pt x="1" y="5077"/>
                    <a:pt x="1" y="11345"/>
                  </a:cubicBezTo>
                  <a:cubicBezTo>
                    <a:pt x="1" y="17614"/>
                    <a:pt x="5092" y="22704"/>
                    <a:pt x="11360" y="22704"/>
                  </a:cubicBezTo>
                  <a:cubicBezTo>
                    <a:pt x="17628" y="22704"/>
                    <a:pt x="22720" y="17614"/>
                    <a:pt x="22720" y="11345"/>
                  </a:cubicBezTo>
                  <a:cubicBezTo>
                    <a:pt x="22720" y="5077"/>
                    <a:pt x="17628" y="0"/>
                    <a:pt x="113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03;p13">
              <a:extLst>
                <a:ext uri="{FF2B5EF4-FFF2-40B4-BE49-F238E27FC236}">
                  <a16:creationId xmlns:a16="http://schemas.microsoft.com/office/drawing/2014/main" id="{F6FE00BC-7905-9AA3-096C-F2D47C8E4A33}"/>
                </a:ext>
              </a:extLst>
            </p:cNvPr>
            <p:cNvSpPr/>
            <p:nvPr/>
          </p:nvSpPr>
          <p:spPr>
            <a:xfrm>
              <a:off x="1216180" y="1981671"/>
              <a:ext cx="1120213" cy="1086123"/>
            </a:xfrm>
            <a:custGeom>
              <a:avLst/>
              <a:gdLst/>
              <a:ahLst/>
              <a:cxnLst/>
              <a:rect l="l" t="t" r="r" b="b"/>
              <a:pathLst>
                <a:path w="16792" h="16281" extrusionOk="0">
                  <a:moveTo>
                    <a:pt x="8396" y="0"/>
                  </a:moveTo>
                  <a:cubicBezTo>
                    <a:pt x="3759" y="0"/>
                    <a:pt x="0" y="3644"/>
                    <a:pt x="0" y="8140"/>
                  </a:cubicBezTo>
                  <a:cubicBezTo>
                    <a:pt x="0" y="12635"/>
                    <a:pt x="3759" y="16281"/>
                    <a:pt x="8396" y="16281"/>
                  </a:cubicBezTo>
                  <a:cubicBezTo>
                    <a:pt x="13034" y="16281"/>
                    <a:pt x="16792" y="12635"/>
                    <a:pt x="16792" y="8140"/>
                  </a:cubicBezTo>
                  <a:cubicBezTo>
                    <a:pt x="16792" y="3644"/>
                    <a:pt x="13034" y="0"/>
                    <a:pt x="83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04;p13">
              <a:extLst>
                <a:ext uri="{FF2B5EF4-FFF2-40B4-BE49-F238E27FC236}">
                  <a16:creationId xmlns:a16="http://schemas.microsoft.com/office/drawing/2014/main" id="{430678B5-45AD-FE83-85FC-58AA233AB82A}"/>
                </a:ext>
              </a:extLst>
            </p:cNvPr>
            <p:cNvSpPr/>
            <p:nvPr/>
          </p:nvSpPr>
          <p:spPr>
            <a:xfrm>
              <a:off x="1417666" y="4930356"/>
              <a:ext cx="717190" cy="717190"/>
            </a:xfrm>
            <a:custGeom>
              <a:avLst/>
              <a:gdLst/>
              <a:ahLst/>
              <a:cxnLst/>
              <a:rect l="l" t="t" r="r" b="b"/>
              <a:pathLst>
                <a:path w="10751" h="10751" extrusionOk="0">
                  <a:moveTo>
                    <a:pt x="5375" y="0"/>
                  </a:moveTo>
                  <a:cubicBezTo>
                    <a:pt x="2397" y="0"/>
                    <a:pt x="1" y="2411"/>
                    <a:pt x="1" y="5375"/>
                  </a:cubicBezTo>
                  <a:cubicBezTo>
                    <a:pt x="1" y="8353"/>
                    <a:pt x="2397" y="10750"/>
                    <a:pt x="5375" y="10750"/>
                  </a:cubicBezTo>
                  <a:cubicBezTo>
                    <a:pt x="8340" y="10750"/>
                    <a:pt x="10750" y="8353"/>
                    <a:pt x="10750" y="5375"/>
                  </a:cubicBezTo>
                  <a:cubicBezTo>
                    <a:pt x="10750" y="2411"/>
                    <a:pt x="8340" y="0"/>
                    <a:pt x="53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05;p13">
              <a:extLst>
                <a:ext uri="{FF2B5EF4-FFF2-40B4-BE49-F238E27FC236}">
                  <a16:creationId xmlns:a16="http://schemas.microsoft.com/office/drawing/2014/main" id="{94655767-4858-D73B-9307-CE0D0D3E9425}"/>
                </a:ext>
              </a:extLst>
            </p:cNvPr>
            <p:cNvSpPr/>
            <p:nvPr/>
          </p:nvSpPr>
          <p:spPr>
            <a:xfrm>
              <a:off x="1776194" y="1624982"/>
              <a:ext cx="928218" cy="899799"/>
            </a:xfrm>
            <a:custGeom>
              <a:avLst/>
              <a:gdLst/>
              <a:ahLst/>
              <a:cxnLst/>
              <a:rect l="l" t="t" r="r" b="b"/>
              <a:pathLst>
                <a:path w="13914" h="13488" extrusionOk="0">
                  <a:moveTo>
                    <a:pt x="1" y="0"/>
                  </a:moveTo>
                  <a:lnTo>
                    <a:pt x="1" y="213"/>
                  </a:lnTo>
                  <a:cubicBezTo>
                    <a:pt x="7546" y="213"/>
                    <a:pt x="13701" y="6170"/>
                    <a:pt x="13701" y="13487"/>
                  </a:cubicBezTo>
                  <a:lnTo>
                    <a:pt x="13914" y="13487"/>
                  </a:lnTo>
                  <a:cubicBezTo>
                    <a:pt x="13914" y="6041"/>
                    <a:pt x="7674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06;p13">
              <a:extLst>
                <a:ext uri="{FF2B5EF4-FFF2-40B4-BE49-F238E27FC236}">
                  <a16:creationId xmlns:a16="http://schemas.microsoft.com/office/drawing/2014/main" id="{47A557AE-E819-1D9F-0F12-A9868B2B8766}"/>
                </a:ext>
              </a:extLst>
            </p:cNvPr>
            <p:cNvSpPr txBox="1"/>
            <p:nvPr/>
          </p:nvSpPr>
          <p:spPr>
            <a:xfrm>
              <a:off x="806592" y="3173209"/>
              <a:ext cx="1939647" cy="611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222A35"/>
                </a:buClr>
                <a:buSzPts val="1800"/>
                <a:buFont typeface="Georgia "/>
                <a:buNone/>
              </a:pPr>
              <a:r>
                <a:rPr lang="en-US" sz="1800" b="0" i="0" u="none" strike="noStrike" cap="none" dirty="0">
                  <a:solidFill>
                    <a:srgbClr val="222A35"/>
                  </a:solidFill>
                  <a:latin typeface="Georgia "/>
                  <a:ea typeface="Georgia "/>
                  <a:cs typeface="Georgia "/>
                  <a:sym typeface="Georgia "/>
                </a:rPr>
                <a:t>Sample collection </a:t>
              </a:r>
              <a:endParaRPr dirty="0"/>
            </a:p>
          </p:txBody>
        </p:sp>
        <p:sp>
          <p:nvSpPr>
            <p:cNvPr id="26" name="Google Shape;107;p13">
              <a:extLst>
                <a:ext uri="{FF2B5EF4-FFF2-40B4-BE49-F238E27FC236}">
                  <a16:creationId xmlns:a16="http://schemas.microsoft.com/office/drawing/2014/main" id="{1F39F0E8-12EF-60E1-0572-C7E8B7C27FB0}"/>
                </a:ext>
              </a:extLst>
            </p:cNvPr>
            <p:cNvSpPr txBox="1"/>
            <p:nvPr/>
          </p:nvSpPr>
          <p:spPr>
            <a:xfrm>
              <a:off x="1426017" y="4859552"/>
              <a:ext cx="700489" cy="4905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Georgia "/>
                <a:buNone/>
              </a:pPr>
              <a:r>
                <a:rPr lang="en-US" sz="3000" b="1" i="0" u="none" strike="noStrike" cap="none" dirty="0">
                  <a:solidFill>
                    <a:srgbClr val="FFFFFF"/>
                  </a:solidFill>
                  <a:latin typeface="Georgia "/>
                  <a:ea typeface="Georgia "/>
                  <a:cs typeface="Georgia "/>
                  <a:sym typeface="Georgia "/>
                </a:rPr>
                <a:t>S</a:t>
              </a:r>
              <a:endParaRPr sz="3000" b="1" i="0" u="none" strike="noStrike" cap="none" dirty="0">
                <a:solidFill>
                  <a:srgbClr val="FFFFFF"/>
                </a:solidFill>
                <a:latin typeface="Georgia "/>
                <a:ea typeface="Georgia "/>
                <a:cs typeface="Georgia "/>
                <a:sym typeface="Georgia "/>
              </a:endParaRPr>
            </a:p>
          </p:txBody>
        </p:sp>
        <p:sp>
          <p:nvSpPr>
            <p:cNvPr id="27" name="Google Shape;108;p13">
              <a:extLst>
                <a:ext uri="{FF2B5EF4-FFF2-40B4-BE49-F238E27FC236}">
                  <a16:creationId xmlns:a16="http://schemas.microsoft.com/office/drawing/2014/main" id="{EC3A168B-CB7A-2C89-4A18-B22ADBA9B251}"/>
                </a:ext>
              </a:extLst>
            </p:cNvPr>
            <p:cNvSpPr/>
            <p:nvPr/>
          </p:nvSpPr>
          <p:spPr>
            <a:xfrm>
              <a:off x="7314383" y="2611747"/>
              <a:ext cx="1939491" cy="2581002"/>
            </a:xfrm>
            <a:custGeom>
              <a:avLst/>
              <a:gdLst/>
              <a:ahLst/>
              <a:cxnLst/>
              <a:rect l="l" t="t" r="r" b="b"/>
              <a:pathLst>
                <a:path w="29073" h="30817" extrusionOk="0">
                  <a:moveTo>
                    <a:pt x="185" y="0"/>
                  </a:moveTo>
                  <a:cubicBezTo>
                    <a:pt x="85" y="0"/>
                    <a:pt x="0" y="85"/>
                    <a:pt x="0" y="199"/>
                  </a:cubicBezTo>
                  <a:lnTo>
                    <a:pt x="0" y="30179"/>
                  </a:lnTo>
                  <a:cubicBezTo>
                    <a:pt x="0" y="30533"/>
                    <a:pt x="284" y="30816"/>
                    <a:pt x="624" y="30816"/>
                  </a:cubicBezTo>
                  <a:lnTo>
                    <a:pt x="28435" y="30816"/>
                  </a:lnTo>
                  <a:cubicBezTo>
                    <a:pt x="28789" y="30816"/>
                    <a:pt x="29073" y="30533"/>
                    <a:pt x="29073" y="30179"/>
                  </a:cubicBezTo>
                  <a:lnTo>
                    <a:pt x="29073" y="199"/>
                  </a:lnTo>
                  <a:cubicBezTo>
                    <a:pt x="29073" y="85"/>
                    <a:pt x="28988" y="0"/>
                    <a:pt x="28874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109;p13">
              <a:extLst>
                <a:ext uri="{FF2B5EF4-FFF2-40B4-BE49-F238E27FC236}">
                  <a16:creationId xmlns:a16="http://schemas.microsoft.com/office/drawing/2014/main" id="{9D5A5F43-96C9-F91A-5118-3B4B22861F15}"/>
                </a:ext>
              </a:extLst>
            </p:cNvPr>
            <p:cNvSpPr/>
            <p:nvPr/>
          </p:nvSpPr>
          <p:spPr>
            <a:xfrm>
              <a:off x="7526236" y="1767872"/>
              <a:ext cx="1514808" cy="1514675"/>
            </a:xfrm>
            <a:custGeom>
              <a:avLst/>
              <a:gdLst/>
              <a:ahLst/>
              <a:cxnLst/>
              <a:rect l="l" t="t" r="r" b="b"/>
              <a:pathLst>
                <a:path w="22707" h="22705" extrusionOk="0">
                  <a:moveTo>
                    <a:pt x="11361" y="0"/>
                  </a:moveTo>
                  <a:cubicBezTo>
                    <a:pt x="5078" y="0"/>
                    <a:pt x="1" y="5077"/>
                    <a:pt x="1" y="11345"/>
                  </a:cubicBezTo>
                  <a:cubicBezTo>
                    <a:pt x="1" y="17614"/>
                    <a:pt x="5078" y="22704"/>
                    <a:pt x="11361" y="22704"/>
                  </a:cubicBezTo>
                  <a:cubicBezTo>
                    <a:pt x="17629" y="22704"/>
                    <a:pt x="22706" y="17614"/>
                    <a:pt x="22706" y="11345"/>
                  </a:cubicBezTo>
                  <a:cubicBezTo>
                    <a:pt x="22706" y="5077"/>
                    <a:pt x="17629" y="0"/>
                    <a:pt x="113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110;p13">
              <a:extLst>
                <a:ext uri="{FF2B5EF4-FFF2-40B4-BE49-F238E27FC236}">
                  <a16:creationId xmlns:a16="http://schemas.microsoft.com/office/drawing/2014/main" id="{336C9430-10A2-E557-C0E3-841FBE548950}"/>
                </a:ext>
              </a:extLst>
            </p:cNvPr>
            <p:cNvSpPr/>
            <p:nvPr/>
          </p:nvSpPr>
          <p:spPr>
            <a:xfrm>
              <a:off x="7723025" y="1981671"/>
              <a:ext cx="1121212" cy="1086123"/>
            </a:xfrm>
            <a:custGeom>
              <a:avLst/>
              <a:gdLst/>
              <a:ahLst/>
              <a:cxnLst/>
              <a:rect l="l" t="t" r="r" b="b"/>
              <a:pathLst>
                <a:path w="16807" h="16281" extrusionOk="0">
                  <a:moveTo>
                    <a:pt x="8411" y="0"/>
                  </a:moveTo>
                  <a:cubicBezTo>
                    <a:pt x="3773" y="0"/>
                    <a:pt x="1" y="3644"/>
                    <a:pt x="1" y="8140"/>
                  </a:cubicBezTo>
                  <a:cubicBezTo>
                    <a:pt x="1" y="12635"/>
                    <a:pt x="3773" y="16281"/>
                    <a:pt x="8411" y="16281"/>
                  </a:cubicBezTo>
                  <a:cubicBezTo>
                    <a:pt x="13048" y="16281"/>
                    <a:pt x="16807" y="12635"/>
                    <a:pt x="16807" y="8140"/>
                  </a:cubicBezTo>
                  <a:cubicBezTo>
                    <a:pt x="16807" y="3644"/>
                    <a:pt x="13048" y="0"/>
                    <a:pt x="84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111;p13">
              <a:extLst>
                <a:ext uri="{FF2B5EF4-FFF2-40B4-BE49-F238E27FC236}">
                  <a16:creationId xmlns:a16="http://schemas.microsoft.com/office/drawing/2014/main" id="{72DEE451-1621-20E5-282A-3E3823E7F51B}"/>
                </a:ext>
              </a:extLst>
            </p:cNvPr>
            <p:cNvSpPr/>
            <p:nvPr/>
          </p:nvSpPr>
          <p:spPr>
            <a:xfrm>
              <a:off x="7924432" y="4930356"/>
              <a:ext cx="718124" cy="717190"/>
            </a:xfrm>
            <a:custGeom>
              <a:avLst/>
              <a:gdLst/>
              <a:ahLst/>
              <a:cxnLst/>
              <a:rect l="l" t="t" r="r" b="b"/>
              <a:pathLst>
                <a:path w="10765" h="10751" extrusionOk="0">
                  <a:moveTo>
                    <a:pt x="5390" y="0"/>
                  </a:moveTo>
                  <a:cubicBezTo>
                    <a:pt x="2412" y="0"/>
                    <a:pt x="1" y="2411"/>
                    <a:pt x="1" y="5375"/>
                  </a:cubicBezTo>
                  <a:cubicBezTo>
                    <a:pt x="1" y="8353"/>
                    <a:pt x="2412" y="10750"/>
                    <a:pt x="5390" y="10750"/>
                  </a:cubicBezTo>
                  <a:cubicBezTo>
                    <a:pt x="8353" y="10750"/>
                    <a:pt x="10764" y="8353"/>
                    <a:pt x="10764" y="5375"/>
                  </a:cubicBezTo>
                  <a:cubicBezTo>
                    <a:pt x="10764" y="2411"/>
                    <a:pt x="8353" y="0"/>
                    <a:pt x="53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112;p13">
              <a:extLst>
                <a:ext uri="{FF2B5EF4-FFF2-40B4-BE49-F238E27FC236}">
                  <a16:creationId xmlns:a16="http://schemas.microsoft.com/office/drawing/2014/main" id="{7335A40E-EE95-B6DC-3B48-3186D6568F68}"/>
                </a:ext>
              </a:extLst>
            </p:cNvPr>
            <p:cNvSpPr/>
            <p:nvPr/>
          </p:nvSpPr>
          <p:spPr>
            <a:xfrm>
              <a:off x="8246216" y="1624982"/>
              <a:ext cx="928152" cy="899799"/>
            </a:xfrm>
            <a:custGeom>
              <a:avLst/>
              <a:gdLst/>
              <a:ahLst/>
              <a:cxnLst/>
              <a:rect l="l" t="t" r="r" b="b"/>
              <a:pathLst>
                <a:path w="13913" h="13488" extrusionOk="0">
                  <a:moveTo>
                    <a:pt x="1" y="0"/>
                  </a:moveTo>
                  <a:lnTo>
                    <a:pt x="1" y="213"/>
                  </a:lnTo>
                  <a:cubicBezTo>
                    <a:pt x="7559" y="213"/>
                    <a:pt x="13700" y="6170"/>
                    <a:pt x="13700" y="13487"/>
                  </a:cubicBezTo>
                  <a:lnTo>
                    <a:pt x="13912" y="13487"/>
                  </a:lnTo>
                  <a:cubicBezTo>
                    <a:pt x="13912" y="6041"/>
                    <a:pt x="7672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113;p13">
              <a:extLst>
                <a:ext uri="{FF2B5EF4-FFF2-40B4-BE49-F238E27FC236}">
                  <a16:creationId xmlns:a16="http://schemas.microsoft.com/office/drawing/2014/main" id="{631226A2-53A1-2F0C-7794-02D3F9108E67}"/>
                </a:ext>
              </a:extLst>
            </p:cNvPr>
            <p:cNvSpPr txBox="1"/>
            <p:nvPr/>
          </p:nvSpPr>
          <p:spPr>
            <a:xfrm>
              <a:off x="7314359" y="3247700"/>
              <a:ext cx="1939647" cy="888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A35"/>
                </a:buClr>
                <a:buSzPts val="1800"/>
                <a:buFont typeface="Georgia "/>
                <a:buNone/>
              </a:pPr>
              <a:r>
                <a:rPr lang="en-US" sz="1800" b="0" i="0" u="none" strike="noStrike" cap="none" dirty="0">
                  <a:solidFill>
                    <a:srgbClr val="222A35"/>
                  </a:solidFill>
                  <a:latin typeface="Georgia "/>
                  <a:ea typeface="Georgia "/>
                  <a:cs typeface="Georgia "/>
                  <a:sym typeface="Georgia "/>
                </a:rPr>
                <a:t>Genotypic AST</a:t>
              </a:r>
              <a:endParaRPr lang="en-US" dirty="0"/>
            </a:p>
          </p:txBody>
        </p:sp>
        <p:sp>
          <p:nvSpPr>
            <p:cNvPr id="33" name="Google Shape;114;p13">
              <a:extLst>
                <a:ext uri="{FF2B5EF4-FFF2-40B4-BE49-F238E27FC236}">
                  <a16:creationId xmlns:a16="http://schemas.microsoft.com/office/drawing/2014/main" id="{04B45942-88C7-F758-42A5-7B3FF6523FA9}"/>
                </a:ext>
              </a:extLst>
            </p:cNvPr>
            <p:cNvSpPr txBox="1"/>
            <p:nvPr/>
          </p:nvSpPr>
          <p:spPr>
            <a:xfrm>
              <a:off x="7920040" y="4849060"/>
              <a:ext cx="700489" cy="4905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Georgia "/>
                <a:buNone/>
              </a:pPr>
              <a:r>
                <a:rPr lang="en-US" sz="3000" b="1" i="0" u="none" strike="noStrike" cap="none" dirty="0">
                  <a:solidFill>
                    <a:srgbClr val="FFFFFF"/>
                  </a:solidFill>
                  <a:latin typeface="Georgia "/>
                  <a:ea typeface="Georgia "/>
                  <a:cs typeface="Georgia "/>
                  <a:sym typeface="Georgia "/>
                </a:rPr>
                <a:t>A</a:t>
              </a:r>
              <a:endParaRPr sz="3000" b="1" i="0" u="none" strike="noStrike" cap="none" dirty="0">
                <a:solidFill>
                  <a:srgbClr val="FFFFFF"/>
                </a:solidFill>
                <a:latin typeface="Georgia "/>
                <a:ea typeface="Georgia "/>
                <a:cs typeface="Georgia "/>
                <a:sym typeface="Georgia "/>
              </a:endParaRPr>
            </a:p>
          </p:txBody>
        </p:sp>
        <p:sp>
          <p:nvSpPr>
            <p:cNvPr id="34" name="Google Shape;115;p13">
              <a:extLst>
                <a:ext uri="{FF2B5EF4-FFF2-40B4-BE49-F238E27FC236}">
                  <a16:creationId xmlns:a16="http://schemas.microsoft.com/office/drawing/2014/main" id="{AC963796-17E7-BDEF-2C5D-B3F11B788E3F}"/>
                </a:ext>
              </a:extLst>
            </p:cNvPr>
            <p:cNvSpPr/>
            <p:nvPr/>
          </p:nvSpPr>
          <p:spPr>
            <a:xfrm>
              <a:off x="9411539" y="2611747"/>
              <a:ext cx="1939491" cy="2581002"/>
            </a:xfrm>
            <a:custGeom>
              <a:avLst/>
              <a:gdLst/>
              <a:ahLst/>
              <a:cxnLst/>
              <a:rect l="l" t="t" r="r" b="b"/>
              <a:pathLst>
                <a:path w="29073" h="30817" extrusionOk="0">
                  <a:moveTo>
                    <a:pt x="185" y="0"/>
                  </a:moveTo>
                  <a:cubicBezTo>
                    <a:pt x="85" y="0"/>
                    <a:pt x="0" y="85"/>
                    <a:pt x="0" y="199"/>
                  </a:cubicBezTo>
                  <a:lnTo>
                    <a:pt x="0" y="30179"/>
                  </a:lnTo>
                  <a:cubicBezTo>
                    <a:pt x="0" y="30533"/>
                    <a:pt x="284" y="30816"/>
                    <a:pt x="624" y="30816"/>
                  </a:cubicBezTo>
                  <a:lnTo>
                    <a:pt x="28435" y="30816"/>
                  </a:lnTo>
                  <a:cubicBezTo>
                    <a:pt x="28789" y="30816"/>
                    <a:pt x="29073" y="30533"/>
                    <a:pt x="29073" y="30179"/>
                  </a:cubicBezTo>
                  <a:lnTo>
                    <a:pt x="29073" y="199"/>
                  </a:lnTo>
                  <a:cubicBezTo>
                    <a:pt x="29073" y="85"/>
                    <a:pt x="28988" y="0"/>
                    <a:pt x="28874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116;p13">
              <a:extLst>
                <a:ext uri="{FF2B5EF4-FFF2-40B4-BE49-F238E27FC236}">
                  <a16:creationId xmlns:a16="http://schemas.microsoft.com/office/drawing/2014/main" id="{17ECE5C7-173E-909C-77EE-5EF6D389A09D}"/>
                </a:ext>
              </a:extLst>
            </p:cNvPr>
            <p:cNvSpPr/>
            <p:nvPr/>
          </p:nvSpPr>
          <p:spPr>
            <a:xfrm>
              <a:off x="9623391" y="1767872"/>
              <a:ext cx="1514808" cy="1514675"/>
            </a:xfrm>
            <a:custGeom>
              <a:avLst/>
              <a:gdLst/>
              <a:ahLst/>
              <a:cxnLst/>
              <a:rect l="l" t="t" r="r" b="b"/>
              <a:pathLst>
                <a:path w="22707" h="22705" extrusionOk="0">
                  <a:moveTo>
                    <a:pt x="11361" y="0"/>
                  </a:moveTo>
                  <a:cubicBezTo>
                    <a:pt x="5078" y="0"/>
                    <a:pt x="1" y="5077"/>
                    <a:pt x="1" y="11345"/>
                  </a:cubicBezTo>
                  <a:cubicBezTo>
                    <a:pt x="1" y="17614"/>
                    <a:pt x="5078" y="22704"/>
                    <a:pt x="11361" y="22704"/>
                  </a:cubicBezTo>
                  <a:cubicBezTo>
                    <a:pt x="17629" y="22704"/>
                    <a:pt x="22706" y="17614"/>
                    <a:pt x="22706" y="11345"/>
                  </a:cubicBezTo>
                  <a:cubicBezTo>
                    <a:pt x="22706" y="5077"/>
                    <a:pt x="17629" y="0"/>
                    <a:pt x="113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117;p13">
              <a:extLst>
                <a:ext uri="{FF2B5EF4-FFF2-40B4-BE49-F238E27FC236}">
                  <a16:creationId xmlns:a16="http://schemas.microsoft.com/office/drawing/2014/main" id="{8C3F1B71-725E-15D7-46E4-7C71F58281EF}"/>
                </a:ext>
              </a:extLst>
            </p:cNvPr>
            <p:cNvSpPr/>
            <p:nvPr/>
          </p:nvSpPr>
          <p:spPr>
            <a:xfrm>
              <a:off x="9820181" y="1981671"/>
              <a:ext cx="1121212" cy="1086123"/>
            </a:xfrm>
            <a:custGeom>
              <a:avLst/>
              <a:gdLst/>
              <a:ahLst/>
              <a:cxnLst/>
              <a:rect l="l" t="t" r="r" b="b"/>
              <a:pathLst>
                <a:path w="16807" h="16281" extrusionOk="0">
                  <a:moveTo>
                    <a:pt x="8411" y="0"/>
                  </a:moveTo>
                  <a:cubicBezTo>
                    <a:pt x="3773" y="0"/>
                    <a:pt x="1" y="3644"/>
                    <a:pt x="1" y="8140"/>
                  </a:cubicBezTo>
                  <a:cubicBezTo>
                    <a:pt x="1" y="12635"/>
                    <a:pt x="3773" y="16281"/>
                    <a:pt x="8411" y="16281"/>
                  </a:cubicBezTo>
                  <a:cubicBezTo>
                    <a:pt x="13048" y="16281"/>
                    <a:pt x="16807" y="12635"/>
                    <a:pt x="16807" y="8140"/>
                  </a:cubicBezTo>
                  <a:cubicBezTo>
                    <a:pt x="16807" y="3644"/>
                    <a:pt x="13048" y="0"/>
                    <a:pt x="84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118;p13">
              <a:extLst>
                <a:ext uri="{FF2B5EF4-FFF2-40B4-BE49-F238E27FC236}">
                  <a16:creationId xmlns:a16="http://schemas.microsoft.com/office/drawing/2014/main" id="{E9AFF215-B108-8214-CB9F-C583B06FFE27}"/>
                </a:ext>
              </a:extLst>
            </p:cNvPr>
            <p:cNvSpPr/>
            <p:nvPr/>
          </p:nvSpPr>
          <p:spPr>
            <a:xfrm>
              <a:off x="10021588" y="4930356"/>
              <a:ext cx="718124" cy="717190"/>
            </a:xfrm>
            <a:custGeom>
              <a:avLst/>
              <a:gdLst/>
              <a:ahLst/>
              <a:cxnLst/>
              <a:rect l="l" t="t" r="r" b="b"/>
              <a:pathLst>
                <a:path w="10765" h="10751" extrusionOk="0">
                  <a:moveTo>
                    <a:pt x="5390" y="0"/>
                  </a:moveTo>
                  <a:cubicBezTo>
                    <a:pt x="2412" y="0"/>
                    <a:pt x="1" y="2411"/>
                    <a:pt x="1" y="5375"/>
                  </a:cubicBezTo>
                  <a:cubicBezTo>
                    <a:pt x="1" y="8353"/>
                    <a:pt x="2412" y="10750"/>
                    <a:pt x="5390" y="10750"/>
                  </a:cubicBezTo>
                  <a:cubicBezTo>
                    <a:pt x="8353" y="10750"/>
                    <a:pt x="10764" y="8353"/>
                    <a:pt x="10764" y="5375"/>
                  </a:cubicBezTo>
                  <a:cubicBezTo>
                    <a:pt x="10764" y="2411"/>
                    <a:pt x="8353" y="0"/>
                    <a:pt x="53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119;p13">
              <a:extLst>
                <a:ext uri="{FF2B5EF4-FFF2-40B4-BE49-F238E27FC236}">
                  <a16:creationId xmlns:a16="http://schemas.microsoft.com/office/drawing/2014/main" id="{63836D59-094F-EB8E-6481-2FD996C97B23}"/>
                </a:ext>
              </a:extLst>
            </p:cNvPr>
            <p:cNvSpPr/>
            <p:nvPr/>
          </p:nvSpPr>
          <p:spPr>
            <a:xfrm>
              <a:off x="10343371" y="1624982"/>
              <a:ext cx="928152" cy="899799"/>
            </a:xfrm>
            <a:custGeom>
              <a:avLst/>
              <a:gdLst/>
              <a:ahLst/>
              <a:cxnLst/>
              <a:rect l="l" t="t" r="r" b="b"/>
              <a:pathLst>
                <a:path w="13913" h="13488" extrusionOk="0">
                  <a:moveTo>
                    <a:pt x="1" y="0"/>
                  </a:moveTo>
                  <a:lnTo>
                    <a:pt x="1" y="213"/>
                  </a:lnTo>
                  <a:cubicBezTo>
                    <a:pt x="7559" y="213"/>
                    <a:pt x="13700" y="6170"/>
                    <a:pt x="13700" y="13487"/>
                  </a:cubicBezTo>
                  <a:lnTo>
                    <a:pt x="13912" y="13487"/>
                  </a:lnTo>
                  <a:cubicBezTo>
                    <a:pt x="13912" y="6041"/>
                    <a:pt x="7672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120;p13">
              <a:extLst>
                <a:ext uri="{FF2B5EF4-FFF2-40B4-BE49-F238E27FC236}">
                  <a16:creationId xmlns:a16="http://schemas.microsoft.com/office/drawing/2014/main" id="{C2EE100B-C98C-5447-3EF6-7E2DDDAFF680}"/>
                </a:ext>
              </a:extLst>
            </p:cNvPr>
            <p:cNvSpPr txBox="1"/>
            <p:nvPr/>
          </p:nvSpPr>
          <p:spPr>
            <a:xfrm>
              <a:off x="9411517" y="3275498"/>
              <a:ext cx="1939647" cy="4592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A35"/>
                </a:buClr>
                <a:buSzPts val="1800"/>
                <a:buFont typeface="Georgia "/>
                <a:buNone/>
              </a:pPr>
              <a:r>
                <a:rPr lang="en-US" sz="1600" b="0" i="0" u="none" strike="noStrike" cap="none" dirty="0">
                  <a:solidFill>
                    <a:srgbClr val="222A35"/>
                  </a:solidFill>
                  <a:latin typeface="Georgia "/>
                  <a:ea typeface="Georgia "/>
                  <a:cs typeface="Georgia "/>
                  <a:sym typeface="Georgia "/>
                </a:rPr>
                <a:t>Phylogenetic analyses</a:t>
              </a:r>
              <a:endParaRPr lang="en-US" sz="1600" dirty="0"/>
            </a:p>
          </p:txBody>
        </p:sp>
        <p:sp>
          <p:nvSpPr>
            <p:cNvPr id="40" name="Google Shape;121;p13">
              <a:extLst>
                <a:ext uri="{FF2B5EF4-FFF2-40B4-BE49-F238E27FC236}">
                  <a16:creationId xmlns:a16="http://schemas.microsoft.com/office/drawing/2014/main" id="{DA64C91E-1A3C-DC1F-57A0-DEAE3507E95E}"/>
                </a:ext>
              </a:extLst>
            </p:cNvPr>
            <p:cNvSpPr txBox="1"/>
            <p:nvPr/>
          </p:nvSpPr>
          <p:spPr>
            <a:xfrm>
              <a:off x="10058891" y="4835167"/>
              <a:ext cx="700489" cy="4905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Georgia "/>
                <a:buNone/>
              </a:pPr>
              <a:r>
                <a:rPr lang="en-US" sz="3000" b="1" dirty="0">
                  <a:solidFill>
                    <a:srgbClr val="FFFFFF"/>
                  </a:solidFill>
                  <a:latin typeface="Georgia "/>
                  <a:ea typeface="Georgia "/>
                  <a:cs typeface="Georgia "/>
                  <a:sym typeface="Georgia "/>
                </a:rPr>
                <a:t>P</a:t>
              </a:r>
              <a:endParaRPr sz="3000" b="1" i="0" u="none" strike="noStrike" cap="none" dirty="0">
                <a:solidFill>
                  <a:srgbClr val="FFFFFF"/>
                </a:solidFill>
                <a:latin typeface="Georgia "/>
                <a:ea typeface="Georgia "/>
                <a:cs typeface="Georgia "/>
                <a:sym typeface="Georgia "/>
              </a:endParaRPr>
            </a:p>
          </p:txBody>
        </p:sp>
        <p:sp>
          <p:nvSpPr>
            <p:cNvPr id="41" name="Google Shape;122;p13">
              <a:extLst>
                <a:ext uri="{FF2B5EF4-FFF2-40B4-BE49-F238E27FC236}">
                  <a16:creationId xmlns:a16="http://schemas.microsoft.com/office/drawing/2014/main" id="{AC7B9E49-F7AC-7C47-A2FB-77FEFD72015B}"/>
                </a:ext>
              </a:extLst>
            </p:cNvPr>
            <p:cNvSpPr/>
            <p:nvPr/>
          </p:nvSpPr>
          <p:spPr>
            <a:xfrm>
              <a:off x="3758091" y="2371343"/>
              <a:ext cx="374952" cy="30677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618" y="20400"/>
                  </a:moveTo>
                  <a:lnTo>
                    <a:pt x="18655" y="20400"/>
                  </a:lnTo>
                  <a:lnTo>
                    <a:pt x="18655" y="1200"/>
                  </a:lnTo>
                  <a:lnTo>
                    <a:pt x="20618" y="1200"/>
                  </a:lnTo>
                  <a:cubicBezTo>
                    <a:pt x="20618" y="1200"/>
                    <a:pt x="20618" y="20400"/>
                    <a:pt x="20618" y="20400"/>
                  </a:cubicBezTo>
                  <a:close/>
                  <a:moveTo>
                    <a:pt x="21109" y="0"/>
                  </a:moveTo>
                  <a:lnTo>
                    <a:pt x="18164" y="0"/>
                  </a:lnTo>
                  <a:cubicBezTo>
                    <a:pt x="17893" y="0"/>
                    <a:pt x="17673" y="269"/>
                    <a:pt x="17673" y="600"/>
                  </a:cubicBezTo>
                  <a:lnTo>
                    <a:pt x="17673" y="21000"/>
                  </a:lnTo>
                  <a:cubicBezTo>
                    <a:pt x="17673" y="21332"/>
                    <a:pt x="17893" y="21600"/>
                    <a:pt x="18164" y="21600"/>
                  </a:cubicBezTo>
                  <a:lnTo>
                    <a:pt x="21109" y="21600"/>
                  </a:lnTo>
                  <a:cubicBezTo>
                    <a:pt x="21380" y="21600"/>
                    <a:pt x="21600" y="21332"/>
                    <a:pt x="21600" y="21000"/>
                  </a:cubicBezTo>
                  <a:lnTo>
                    <a:pt x="21600" y="600"/>
                  </a:lnTo>
                  <a:cubicBezTo>
                    <a:pt x="21600" y="269"/>
                    <a:pt x="21380" y="0"/>
                    <a:pt x="21109" y="0"/>
                  </a:cubicBezTo>
                  <a:moveTo>
                    <a:pt x="8836" y="20400"/>
                  </a:moveTo>
                  <a:lnTo>
                    <a:pt x="6873" y="20400"/>
                  </a:lnTo>
                  <a:lnTo>
                    <a:pt x="6873" y="3600"/>
                  </a:lnTo>
                  <a:lnTo>
                    <a:pt x="8836" y="3600"/>
                  </a:lnTo>
                  <a:cubicBezTo>
                    <a:pt x="8836" y="3600"/>
                    <a:pt x="8836" y="20400"/>
                    <a:pt x="8836" y="20400"/>
                  </a:cubicBezTo>
                  <a:close/>
                  <a:moveTo>
                    <a:pt x="9327" y="2400"/>
                  </a:moveTo>
                  <a:lnTo>
                    <a:pt x="6382" y="2400"/>
                  </a:lnTo>
                  <a:cubicBezTo>
                    <a:pt x="6111" y="2400"/>
                    <a:pt x="5891" y="2669"/>
                    <a:pt x="5891" y="3000"/>
                  </a:cubicBezTo>
                  <a:lnTo>
                    <a:pt x="5891" y="21000"/>
                  </a:lnTo>
                  <a:cubicBezTo>
                    <a:pt x="5891" y="21332"/>
                    <a:pt x="6111" y="21600"/>
                    <a:pt x="6382" y="21600"/>
                  </a:cubicBezTo>
                  <a:lnTo>
                    <a:pt x="9327" y="21600"/>
                  </a:lnTo>
                  <a:cubicBezTo>
                    <a:pt x="9598" y="21600"/>
                    <a:pt x="9818" y="21332"/>
                    <a:pt x="9818" y="21000"/>
                  </a:cubicBezTo>
                  <a:lnTo>
                    <a:pt x="9818" y="3000"/>
                  </a:lnTo>
                  <a:cubicBezTo>
                    <a:pt x="9818" y="2669"/>
                    <a:pt x="9598" y="2400"/>
                    <a:pt x="9327" y="2400"/>
                  </a:cubicBezTo>
                  <a:moveTo>
                    <a:pt x="14727" y="20400"/>
                  </a:moveTo>
                  <a:lnTo>
                    <a:pt x="12764" y="20400"/>
                  </a:lnTo>
                  <a:lnTo>
                    <a:pt x="12764" y="10800"/>
                  </a:lnTo>
                  <a:lnTo>
                    <a:pt x="14727" y="10800"/>
                  </a:lnTo>
                  <a:cubicBezTo>
                    <a:pt x="14727" y="10800"/>
                    <a:pt x="14727" y="20400"/>
                    <a:pt x="14727" y="20400"/>
                  </a:cubicBezTo>
                  <a:close/>
                  <a:moveTo>
                    <a:pt x="15218" y="9600"/>
                  </a:moveTo>
                  <a:lnTo>
                    <a:pt x="12273" y="9600"/>
                  </a:lnTo>
                  <a:cubicBezTo>
                    <a:pt x="12002" y="9600"/>
                    <a:pt x="11782" y="9869"/>
                    <a:pt x="11782" y="10200"/>
                  </a:cubicBezTo>
                  <a:lnTo>
                    <a:pt x="11782" y="21000"/>
                  </a:lnTo>
                  <a:cubicBezTo>
                    <a:pt x="11782" y="21332"/>
                    <a:pt x="12002" y="21600"/>
                    <a:pt x="12273" y="21600"/>
                  </a:cubicBezTo>
                  <a:lnTo>
                    <a:pt x="15218" y="21600"/>
                  </a:lnTo>
                  <a:cubicBezTo>
                    <a:pt x="15489" y="21600"/>
                    <a:pt x="15709" y="21332"/>
                    <a:pt x="15709" y="21000"/>
                  </a:cubicBezTo>
                  <a:lnTo>
                    <a:pt x="15709" y="10200"/>
                  </a:lnTo>
                  <a:cubicBezTo>
                    <a:pt x="15709" y="9869"/>
                    <a:pt x="15489" y="9600"/>
                    <a:pt x="15218" y="9600"/>
                  </a:cubicBezTo>
                  <a:moveTo>
                    <a:pt x="2945" y="20400"/>
                  </a:moveTo>
                  <a:lnTo>
                    <a:pt x="982" y="20400"/>
                  </a:lnTo>
                  <a:lnTo>
                    <a:pt x="982" y="14400"/>
                  </a:lnTo>
                  <a:lnTo>
                    <a:pt x="2945" y="14400"/>
                  </a:lnTo>
                  <a:cubicBezTo>
                    <a:pt x="2945" y="14400"/>
                    <a:pt x="2945" y="20400"/>
                    <a:pt x="2945" y="20400"/>
                  </a:cubicBezTo>
                  <a:close/>
                  <a:moveTo>
                    <a:pt x="3436" y="13200"/>
                  </a:moveTo>
                  <a:lnTo>
                    <a:pt x="491" y="13200"/>
                  </a:lnTo>
                  <a:cubicBezTo>
                    <a:pt x="220" y="13200"/>
                    <a:pt x="0" y="13469"/>
                    <a:pt x="0" y="13800"/>
                  </a:cubicBezTo>
                  <a:lnTo>
                    <a:pt x="0" y="21000"/>
                  </a:lnTo>
                  <a:cubicBezTo>
                    <a:pt x="0" y="21332"/>
                    <a:pt x="220" y="21600"/>
                    <a:pt x="491" y="21600"/>
                  </a:cubicBezTo>
                  <a:lnTo>
                    <a:pt x="3436" y="21600"/>
                  </a:lnTo>
                  <a:cubicBezTo>
                    <a:pt x="3707" y="21600"/>
                    <a:pt x="3927" y="21332"/>
                    <a:pt x="3927" y="21000"/>
                  </a:cubicBezTo>
                  <a:lnTo>
                    <a:pt x="3927" y="13800"/>
                  </a:lnTo>
                  <a:cubicBezTo>
                    <a:pt x="3927" y="13469"/>
                    <a:pt x="3707" y="13200"/>
                    <a:pt x="3436" y="1320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123;p13">
              <a:extLst>
                <a:ext uri="{FF2B5EF4-FFF2-40B4-BE49-F238E27FC236}">
                  <a16:creationId xmlns:a16="http://schemas.microsoft.com/office/drawing/2014/main" id="{72CC9FAA-66B5-5BD6-5C81-2F5D093D40AA}"/>
                </a:ext>
              </a:extLst>
            </p:cNvPr>
            <p:cNvSpPr/>
            <p:nvPr/>
          </p:nvSpPr>
          <p:spPr>
            <a:xfrm>
              <a:off x="8096155" y="2337256"/>
              <a:ext cx="374952" cy="37495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9327" y="17673"/>
                  </a:moveTo>
                  <a:cubicBezTo>
                    <a:pt x="4718" y="17673"/>
                    <a:pt x="982" y="13936"/>
                    <a:pt x="982" y="9327"/>
                  </a:cubicBezTo>
                  <a:cubicBezTo>
                    <a:pt x="982" y="4718"/>
                    <a:pt x="4718" y="982"/>
                    <a:pt x="9327" y="982"/>
                  </a:cubicBezTo>
                  <a:cubicBezTo>
                    <a:pt x="13936" y="982"/>
                    <a:pt x="17673" y="4718"/>
                    <a:pt x="17673" y="9327"/>
                  </a:cubicBezTo>
                  <a:cubicBezTo>
                    <a:pt x="17673" y="13936"/>
                    <a:pt x="13936" y="17673"/>
                    <a:pt x="9327" y="17673"/>
                  </a:cubicBezTo>
                  <a:moveTo>
                    <a:pt x="21456" y="20762"/>
                  </a:moveTo>
                  <a:lnTo>
                    <a:pt x="16253" y="15559"/>
                  </a:lnTo>
                  <a:cubicBezTo>
                    <a:pt x="17741" y="13907"/>
                    <a:pt x="18655" y="11726"/>
                    <a:pt x="18655" y="9327"/>
                  </a:cubicBezTo>
                  <a:cubicBezTo>
                    <a:pt x="18655" y="4176"/>
                    <a:pt x="14479" y="0"/>
                    <a:pt x="9327" y="0"/>
                  </a:cubicBezTo>
                  <a:cubicBezTo>
                    <a:pt x="4176" y="0"/>
                    <a:pt x="0" y="4176"/>
                    <a:pt x="0" y="9327"/>
                  </a:cubicBezTo>
                  <a:cubicBezTo>
                    <a:pt x="0" y="14479"/>
                    <a:pt x="4176" y="18655"/>
                    <a:pt x="9327" y="18655"/>
                  </a:cubicBezTo>
                  <a:cubicBezTo>
                    <a:pt x="11726" y="18655"/>
                    <a:pt x="13907" y="17742"/>
                    <a:pt x="15559" y="16253"/>
                  </a:cubicBezTo>
                  <a:lnTo>
                    <a:pt x="20762" y="21456"/>
                  </a:lnTo>
                  <a:cubicBezTo>
                    <a:pt x="20851" y="21546"/>
                    <a:pt x="20973" y="21600"/>
                    <a:pt x="21109" y="21600"/>
                  </a:cubicBezTo>
                  <a:cubicBezTo>
                    <a:pt x="21380" y="21600"/>
                    <a:pt x="21600" y="21381"/>
                    <a:pt x="21600" y="21109"/>
                  </a:cubicBezTo>
                  <a:cubicBezTo>
                    <a:pt x="21600" y="20974"/>
                    <a:pt x="21545" y="20851"/>
                    <a:pt x="21456" y="2076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3" name="Google Shape;132;p13">
              <a:extLst>
                <a:ext uri="{FF2B5EF4-FFF2-40B4-BE49-F238E27FC236}">
                  <a16:creationId xmlns:a16="http://schemas.microsoft.com/office/drawing/2014/main" id="{8FAB80DA-9CEB-8FEE-EEEF-A973BB4D812B}"/>
                </a:ext>
              </a:extLst>
            </p:cNvPr>
            <p:cNvCxnSpPr/>
            <p:nvPr/>
          </p:nvCxnSpPr>
          <p:spPr>
            <a:xfrm>
              <a:off x="1908478" y="2349046"/>
              <a:ext cx="0" cy="0"/>
            </a:xfrm>
            <a:prstGeom prst="straightConnector1">
              <a:avLst/>
            </a:prstGeom>
            <a:noFill/>
            <a:ln w="12700" cap="rnd" cmpd="sng">
              <a:solidFill>
                <a:srgbClr val="13030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4" name="Google Shape;140;p13">
              <a:extLst>
                <a:ext uri="{FF2B5EF4-FFF2-40B4-BE49-F238E27FC236}">
                  <a16:creationId xmlns:a16="http://schemas.microsoft.com/office/drawing/2014/main" id="{025CF073-9AF6-A330-FFCE-FC673154DCAF}"/>
                </a:ext>
              </a:extLst>
            </p:cNvPr>
            <p:cNvSpPr txBox="1"/>
            <p:nvPr/>
          </p:nvSpPr>
          <p:spPr>
            <a:xfrm>
              <a:off x="807659" y="4127621"/>
              <a:ext cx="2009519" cy="5542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238"/>
                </a:buClr>
                <a:buSzPts val="1200"/>
                <a:buFont typeface="Geo"/>
                <a:buNone/>
              </a:pPr>
              <a:r>
                <a:rPr lang="en-US" sz="1200" b="0" i="0" u="none" strike="noStrike" cap="none" dirty="0">
                  <a:solidFill>
                    <a:srgbClr val="263238"/>
                  </a:solidFill>
                  <a:latin typeface="Geo"/>
                  <a:ea typeface="Geo"/>
                  <a:cs typeface="Geo"/>
                  <a:sym typeface="Geo"/>
                </a:rPr>
                <a:t>Metadata design and collection</a:t>
              </a: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141;p13">
              <a:extLst>
                <a:ext uri="{FF2B5EF4-FFF2-40B4-BE49-F238E27FC236}">
                  <a16:creationId xmlns:a16="http://schemas.microsoft.com/office/drawing/2014/main" id="{BEAAD2F6-F470-C2B3-9D83-0FD8C4606DA2}"/>
                </a:ext>
              </a:extLst>
            </p:cNvPr>
            <p:cNvSpPr txBox="1"/>
            <p:nvPr/>
          </p:nvSpPr>
          <p:spPr>
            <a:xfrm>
              <a:off x="2960134" y="4126824"/>
              <a:ext cx="2009519" cy="5542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238"/>
                </a:buClr>
                <a:buSzPts val="1200"/>
                <a:buFont typeface="Geo"/>
                <a:buNone/>
              </a:pPr>
              <a:r>
                <a:rPr lang="en-US" sz="1200" b="0" i="0" u="none" strike="noStrike" cap="none" dirty="0">
                  <a:solidFill>
                    <a:srgbClr val="263238"/>
                  </a:solidFill>
                  <a:latin typeface="Geo"/>
                  <a:ea typeface="Geo"/>
                  <a:cs typeface="Geo"/>
                  <a:sym typeface="Geo"/>
                </a:rPr>
                <a:t>Isolation, culture, disc diffusion</a:t>
              </a: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142;p13">
              <a:extLst>
                <a:ext uri="{FF2B5EF4-FFF2-40B4-BE49-F238E27FC236}">
                  <a16:creationId xmlns:a16="http://schemas.microsoft.com/office/drawing/2014/main" id="{1F30FAD6-FFC4-4B53-4BC8-3BFAE48AC766}"/>
                </a:ext>
              </a:extLst>
            </p:cNvPr>
            <p:cNvSpPr txBox="1"/>
            <p:nvPr/>
          </p:nvSpPr>
          <p:spPr>
            <a:xfrm>
              <a:off x="5084517" y="4156354"/>
              <a:ext cx="2009519" cy="6525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238"/>
                </a:buClr>
                <a:buSzPts val="1200"/>
                <a:buFont typeface="Geo"/>
                <a:buNone/>
              </a:pPr>
              <a:r>
                <a:rPr lang="en-US" sz="1200" b="0" i="0" u="none" strike="noStrike" cap="none" dirty="0">
                  <a:solidFill>
                    <a:srgbClr val="263238"/>
                  </a:solidFill>
                  <a:latin typeface="Geo"/>
                  <a:ea typeface="Geo"/>
                  <a:cs typeface="Geo"/>
                  <a:sym typeface="Geo"/>
                </a:rPr>
                <a:t>Illumina &amp; ONT, genomic QC</a:t>
              </a: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143;p13">
              <a:extLst>
                <a:ext uri="{FF2B5EF4-FFF2-40B4-BE49-F238E27FC236}">
                  <a16:creationId xmlns:a16="http://schemas.microsoft.com/office/drawing/2014/main" id="{B1C869C9-AB86-0804-FDD7-39EA568B024D}"/>
                </a:ext>
              </a:extLst>
            </p:cNvPr>
            <p:cNvSpPr txBox="1"/>
            <p:nvPr/>
          </p:nvSpPr>
          <p:spPr>
            <a:xfrm>
              <a:off x="7266405" y="4082446"/>
              <a:ext cx="2009519" cy="913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238"/>
                </a:buClr>
                <a:buSzPts val="1200"/>
                <a:buFont typeface="Geo"/>
                <a:buNone/>
              </a:pPr>
              <a:r>
                <a:rPr lang="en-US" sz="1200" b="0" i="0" u="none" strike="noStrike" cap="none" dirty="0">
                  <a:solidFill>
                    <a:srgbClr val="263238"/>
                  </a:solidFill>
                  <a:latin typeface="Geo"/>
                  <a:ea typeface="Geo"/>
                  <a:cs typeface="Geo"/>
                  <a:sym typeface="Geo"/>
                </a:rPr>
                <a:t>AMR bioinformatic detection and metagenomics</a:t>
              </a:r>
              <a:endPara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144;p13">
              <a:extLst>
                <a:ext uri="{FF2B5EF4-FFF2-40B4-BE49-F238E27FC236}">
                  <a16:creationId xmlns:a16="http://schemas.microsoft.com/office/drawing/2014/main" id="{841EFD5D-C456-477E-F7B4-22D953895E2F}"/>
                </a:ext>
              </a:extLst>
            </p:cNvPr>
            <p:cNvSpPr txBox="1"/>
            <p:nvPr/>
          </p:nvSpPr>
          <p:spPr>
            <a:xfrm>
              <a:off x="9263378" y="4070148"/>
              <a:ext cx="2208758" cy="913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238"/>
                </a:buClr>
                <a:buSzPts val="1200"/>
                <a:buFont typeface="Geo"/>
                <a:buNone/>
              </a:pPr>
              <a:r>
                <a:rPr lang="en-US" sz="1200" dirty="0">
                  <a:solidFill>
                    <a:srgbClr val="263238"/>
                  </a:solidFill>
                  <a:latin typeface="Geo"/>
                  <a:ea typeface="Geo"/>
                  <a:cs typeface="Geo"/>
                  <a:sym typeface="Geo"/>
                </a:rPr>
                <a:t>A</a:t>
              </a:r>
              <a:r>
                <a:rPr lang="en-US" sz="1200" b="0" i="0" u="none" strike="noStrike" cap="none" dirty="0">
                  <a:solidFill>
                    <a:srgbClr val="263238"/>
                  </a:solidFill>
                  <a:latin typeface="Geo"/>
                  <a:ea typeface="Geo"/>
                  <a:cs typeface="Geo"/>
                  <a:sym typeface="Geo"/>
                </a:rPr>
                <a:t>lignment and variant calling, phylogenetic reconstruction</a:t>
              </a:r>
              <a:endPara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9" name="Picture 48">
            <a:extLst>
              <a:ext uri="{FF2B5EF4-FFF2-40B4-BE49-F238E27FC236}">
                <a16:creationId xmlns:a16="http://schemas.microsoft.com/office/drawing/2014/main" id="{78900721-C519-DA4B-DB79-DD880CD0F8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702" y="2430817"/>
            <a:ext cx="427833" cy="427833"/>
          </a:xfrm>
          <a:prstGeom prst="rect">
            <a:avLst/>
          </a:prstGeom>
        </p:spPr>
      </p:pic>
      <p:pic>
        <p:nvPicPr>
          <p:cNvPr id="50" name="Picture 49" descr="A diagram of a circle with black circles&#10;&#10;Description automatically generated">
            <a:extLst>
              <a:ext uri="{FF2B5EF4-FFF2-40B4-BE49-F238E27FC236}">
                <a16:creationId xmlns:a16="http://schemas.microsoft.com/office/drawing/2014/main" id="{2B409522-846D-066D-1BF9-0F336B1B4D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324" t="9368" r="27541" b="45815"/>
          <a:stretch/>
        </p:blipFill>
        <p:spPr>
          <a:xfrm>
            <a:off x="3501765" y="2373744"/>
            <a:ext cx="524216" cy="549023"/>
          </a:xfrm>
          <a:prstGeom prst="rect">
            <a:avLst/>
          </a:prstGeom>
          <a:noFill/>
          <a:ln w="22225">
            <a:noFill/>
          </a:ln>
        </p:spPr>
      </p:pic>
      <p:pic>
        <p:nvPicPr>
          <p:cNvPr id="51" name="Picture 2" descr="Nanopore store: MinION">
            <a:extLst>
              <a:ext uri="{FF2B5EF4-FFF2-40B4-BE49-F238E27FC236}">
                <a16:creationId xmlns:a16="http://schemas.microsoft.com/office/drawing/2014/main" id="{3F2278F4-C32E-B045-027C-63DEFB92C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6754" y="2471043"/>
            <a:ext cx="541463" cy="399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 descr="figure 3">
            <a:extLst>
              <a:ext uri="{FF2B5EF4-FFF2-40B4-BE49-F238E27FC236}">
                <a16:creationId xmlns:a16="http://schemas.microsoft.com/office/drawing/2014/main" id="{47C2C455-3F80-06E1-37A1-50D90FD589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52" t="38209" r="19041" b="42682"/>
          <a:stretch/>
        </p:blipFill>
        <p:spPr bwMode="auto">
          <a:xfrm>
            <a:off x="8007759" y="2381656"/>
            <a:ext cx="583982" cy="51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F2AB7FED-B7D4-4B1E-9E36-1A28F153F660}"/>
              </a:ext>
            </a:extLst>
          </p:cNvPr>
          <p:cNvSpPr txBox="1"/>
          <p:nvPr/>
        </p:nvSpPr>
        <p:spPr>
          <a:xfrm>
            <a:off x="1624571" y="4988059"/>
            <a:ext cx="11379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 err="1">
                <a:latin typeface="Georgia" panose="02040502050405020303" pitchFamily="18" charset="0"/>
              </a:rPr>
              <a:t>Epicollect</a:t>
            </a:r>
            <a:endParaRPr lang="en-GB" b="1" dirty="0">
              <a:latin typeface="Georgia" panose="02040502050405020303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C554D90-0DA1-47B1-F42E-228FE60E796E}"/>
              </a:ext>
            </a:extLst>
          </p:cNvPr>
          <p:cNvSpPr txBox="1"/>
          <p:nvPr/>
        </p:nvSpPr>
        <p:spPr>
          <a:xfrm>
            <a:off x="3377103" y="5002817"/>
            <a:ext cx="703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Georgia" panose="02040502050405020303" pitchFamily="18" charset="0"/>
              </a:rPr>
              <a:t>LP1</a:t>
            </a:r>
            <a:endParaRPr lang="en-GB" b="1" dirty="0">
              <a:latin typeface="Georgia" panose="02040502050405020303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A3CD90B-7A80-B333-78AB-F9B22CBEE89C}"/>
              </a:ext>
            </a:extLst>
          </p:cNvPr>
          <p:cNvSpPr txBox="1"/>
          <p:nvPr/>
        </p:nvSpPr>
        <p:spPr>
          <a:xfrm>
            <a:off x="4535984" y="5002817"/>
            <a:ext cx="18037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Georgia" panose="02040502050405020303" pitchFamily="18" charset="0"/>
              </a:rPr>
              <a:t>LP2, CP1, CP2</a:t>
            </a:r>
            <a:endParaRPr lang="en-GB" b="1" dirty="0">
              <a:latin typeface="Georgia" panose="02040502050405020303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368DB82-CBB0-4C4E-1DE9-C94A978246FD}"/>
              </a:ext>
            </a:extLst>
          </p:cNvPr>
          <p:cNvSpPr txBox="1"/>
          <p:nvPr/>
        </p:nvSpPr>
        <p:spPr>
          <a:xfrm>
            <a:off x="6172779" y="4995784"/>
            <a:ext cx="17271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Georgia" panose="02040502050405020303" pitchFamily="18" charset="0"/>
              </a:rPr>
              <a:t>CP6, CP7, CP8</a:t>
            </a:r>
            <a:endParaRPr lang="en-GB" b="1" dirty="0">
              <a:latin typeface="Georgia" panose="02040502050405020303" pitchFamily="18" charset="0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4F29456-F7C0-3A2E-AD13-2D8DB9E9652B}"/>
              </a:ext>
            </a:extLst>
          </p:cNvPr>
          <p:cNvGrpSpPr/>
          <p:nvPr/>
        </p:nvGrpSpPr>
        <p:grpSpPr>
          <a:xfrm>
            <a:off x="9085431" y="2006170"/>
            <a:ext cx="1421574" cy="2845642"/>
            <a:chOff x="9071112" y="2056142"/>
            <a:chExt cx="1673738" cy="3350412"/>
          </a:xfrm>
        </p:grpSpPr>
        <p:sp>
          <p:nvSpPr>
            <p:cNvPr id="58" name="Google Shape;115;p13">
              <a:extLst>
                <a:ext uri="{FF2B5EF4-FFF2-40B4-BE49-F238E27FC236}">
                  <a16:creationId xmlns:a16="http://schemas.microsoft.com/office/drawing/2014/main" id="{993EA3B0-9799-0B15-90AD-F5D6281BA240}"/>
                </a:ext>
              </a:extLst>
            </p:cNvPr>
            <p:cNvSpPr/>
            <p:nvPr/>
          </p:nvSpPr>
          <p:spPr>
            <a:xfrm>
              <a:off x="9110636" y="2878023"/>
              <a:ext cx="1615411" cy="2149728"/>
            </a:xfrm>
            <a:custGeom>
              <a:avLst/>
              <a:gdLst/>
              <a:ahLst/>
              <a:cxnLst/>
              <a:rect l="l" t="t" r="r" b="b"/>
              <a:pathLst>
                <a:path w="29073" h="30817" extrusionOk="0">
                  <a:moveTo>
                    <a:pt x="185" y="0"/>
                  </a:moveTo>
                  <a:cubicBezTo>
                    <a:pt x="85" y="0"/>
                    <a:pt x="0" y="85"/>
                    <a:pt x="0" y="199"/>
                  </a:cubicBezTo>
                  <a:lnTo>
                    <a:pt x="0" y="30179"/>
                  </a:lnTo>
                  <a:cubicBezTo>
                    <a:pt x="0" y="30533"/>
                    <a:pt x="284" y="30816"/>
                    <a:pt x="624" y="30816"/>
                  </a:cubicBezTo>
                  <a:lnTo>
                    <a:pt x="28435" y="30816"/>
                  </a:lnTo>
                  <a:cubicBezTo>
                    <a:pt x="28789" y="30816"/>
                    <a:pt x="29073" y="30533"/>
                    <a:pt x="29073" y="30179"/>
                  </a:cubicBezTo>
                  <a:lnTo>
                    <a:pt x="29073" y="199"/>
                  </a:lnTo>
                  <a:cubicBezTo>
                    <a:pt x="29073" y="85"/>
                    <a:pt x="28988" y="0"/>
                    <a:pt x="28874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116;p13">
              <a:extLst>
                <a:ext uri="{FF2B5EF4-FFF2-40B4-BE49-F238E27FC236}">
                  <a16:creationId xmlns:a16="http://schemas.microsoft.com/office/drawing/2014/main" id="{081ECBD9-13EB-4F2A-7D30-93BB5D7D2A96}"/>
                </a:ext>
              </a:extLst>
            </p:cNvPr>
            <p:cNvSpPr/>
            <p:nvPr/>
          </p:nvSpPr>
          <p:spPr>
            <a:xfrm>
              <a:off x="9287089" y="2175156"/>
              <a:ext cx="1261691" cy="1261580"/>
            </a:xfrm>
            <a:custGeom>
              <a:avLst/>
              <a:gdLst/>
              <a:ahLst/>
              <a:cxnLst/>
              <a:rect l="l" t="t" r="r" b="b"/>
              <a:pathLst>
                <a:path w="22707" h="22705" extrusionOk="0">
                  <a:moveTo>
                    <a:pt x="11361" y="0"/>
                  </a:moveTo>
                  <a:cubicBezTo>
                    <a:pt x="5078" y="0"/>
                    <a:pt x="1" y="5077"/>
                    <a:pt x="1" y="11345"/>
                  </a:cubicBezTo>
                  <a:cubicBezTo>
                    <a:pt x="1" y="17614"/>
                    <a:pt x="5078" y="22704"/>
                    <a:pt x="11361" y="22704"/>
                  </a:cubicBezTo>
                  <a:cubicBezTo>
                    <a:pt x="17629" y="22704"/>
                    <a:pt x="22706" y="17614"/>
                    <a:pt x="22706" y="11345"/>
                  </a:cubicBezTo>
                  <a:cubicBezTo>
                    <a:pt x="22706" y="5077"/>
                    <a:pt x="17629" y="0"/>
                    <a:pt x="113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118;p13">
              <a:extLst>
                <a:ext uri="{FF2B5EF4-FFF2-40B4-BE49-F238E27FC236}">
                  <a16:creationId xmlns:a16="http://schemas.microsoft.com/office/drawing/2014/main" id="{39F03876-05AD-C916-0193-A07BA12D4440}"/>
                </a:ext>
              </a:extLst>
            </p:cNvPr>
            <p:cNvSpPr/>
            <p:nvPr/>
          </p:nvSpPr>
          <p:spPr>
            <a:xfrm>
              <a:off x="9618749" y="4809203"/>
              <a:ext cx="598129" cy="597351"/>
            </a:xfrm>
            <a:custGeom>
              <a:avLst/>
              <a:gdLst/>
              <a:ahLst/>
              <a:cxnLst/>
              <a:rect l="l" t="t" r="r" b="b"/>
              <a:pathLst>
                <a:path w="10765" h="10751" extrusionOk="0">
                  <a:moveTo>
                    <a:pt x="5390" y="0"/>
                  </a:moveTo>
                  <a:cubicBezTo>
                    <a:pt x="2412" y="0"/>
                    <a:pt x="1" y="2411"/>
                    <a:pt x="1" y="5375"/>
                  </a:cubicBezTo>
                  <a:cubicBezTo>
                    <a:pt x="1" y="8353"/>
                    <a:pt x="2412" y="10750"/>
                    <a:pt x="5390" y="10750"/>
                  </a:cubicBezTo>
                  <a:cubicBezTo>
                    <a:pt x="8353" y="10750"/>
                    <a:pt x="10764" y="8353"/>
                    <a:pt x="10764" y="5375"/>
                  </a:cubicBezTo>
                  <a:cubicBezTo>
                    <a:pt x="10764" y="2411"/>
                    <a:pt x="8353" y="0"/>
                    <a:pt x="53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119;p13">
              <a:extLst>
                <a:ext uri="{FF2B5EF4-FFF2-40B4-BE49-F238E27FC236}">
                  <a16:creationId xmlns:a16="http://schemas.microsoft.com/office/drawing/2014/main" id="{0519D9EA-9164-4225-0727-9A88BCD7EAB5}"/>
                </a:ext>
              </a:extLst>
            </p:cNvPr>
            <p:cNvSpPr/>
            <p:nvPr/>
          </p:nvSpPr>
          <p:spPr>
            <a:xfrm>
              <a:off x="9886764" y="2056142"/>
              <a:ext cx="773062" cy="749447"/>
            </a:xfrm>
            <a:custGeom>
              <a:avLst/>
              <a:gdLst/>
              <a:ahLst/>
              <a:cxnLst/>
              <a:rect l="l" t="t" r="r" b="b"/>
              <a:pathLst>
                <a:path w="13913" h="13488" extrusionOk="0">
                  <a:moveTo>
                    <a:pt x="1" y="0"/>
                  </a:moveTo>
                  <a:lnTo>
                    <a:pt x="1" y="213"/>
                  </a:lnTo>
                  <a:cubicBezTo>
                    <a:pt x="7559" y="213"/>
                    <a:pt x="13700" y="6170"/>
                    <a:pt x="13700" y="13487"/>
                  </a:cubicBezTo>
                  <a:lnTo>
                    <a:pt x="13912" y="13487"/>
                  </a:lnTo>
                  <a:cubicBezTo>
                    <a:pt x="13912" y="6041"/>
                    <a:pt x="7672" y="0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121;p13">
              <a:extLst>
                <a:ext uri="{FF2B5EF4-FFF2-40B4-BE49-F238E27FC236}">
                  <a16:creationId xmlns:a16="http://schemas.microsoft.com/office/drawing/2014/main" id="{3E9E10EF-B7E2-4B68-6FFE-69339CD372B8}"/>
                </a:ext>
              </a:extLst>
            </p:cNvPr>
            <p:cNvSpPr txBox="1"/>
            <p:nvPr/>
          </p:nvSpPr>
          <p:spPr>
            <a:xfrm>
              <a:off x="9626668" y="4741496"/>
              <a:ext cx="583441" cy="4085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Georgia "/>
                <a:buNone/>
              </a:pPr>
              <a:r>
                <a:rPr lang="en-US" sz="3000" b="1" dirty="0">
                  <a:solidFill>
                    <a:srgbClr val="FFFFFF"/>
                  </a:solidFill>
                  <a:latin typeface="Georgia "/>
                  <a:ea typeface="Georgia "/>
                  <a:cs typeface="Georgia "/>
                  <a:sym typeface="Georgia "/>
                </a:rPr>
                <a:t>I</a:t>
              </a:r>
              <a:endParaRPr sz="3000" b="1" i="0" u="none" strike="noStrike" cap="none" dirty="0">
                <a:solidFill>
                  <a:srgbClr val="FFFFFF"/>
                </a:solidFill>
                <a:latin typeface="Georgia "/>
                <a:ea typeface="Georgia "/>
                <a:cs typeface="Georgia "/>
                <a:sym typeface="Georgia "/>
              </a:endParaRPr>
            </a:p>
          </p:txBody>
        </p:sp>
        <p:sp>
          <p:nvSpPr>
            <p:cNvPr id="63" name="Google Shape;117;p13">
              <a:extLst>
                <a:ext uri="{FF2B5EF4-FFF2-40B4-BE49-F238E27FC236}">
                  <a16:creationId xmlns:a16="http://schemas.microsoft.com/office/drawing/2014/main" id="{A53ACAA0-048F-93A9-91C6-893144C7D7EA}"/>
                </a:ext>
              </a:extLst>
            </p:cNvPr>
            <p:cNvSpPr/>
            <p:nvPr/>
          </p:nvSpPr>
          <p:spPr>
            <a:xfrm>
              <a:off x="9450881" y="2348308"/>
              <a:ext cx="933863" cy="904637"/>
            </a:xfrm>
            <a:custGeom>
              <a:avLst/>
              <a:gdLst/>
              <a:ahLst/>
              <a:cxnLst/>
              <a:rect l="l" t="t" r="r" b="b"/>
              <a:pathLst>
                <a:path w="16807" h="16281" extrusionOk="0">
                  <a:moveTo>
                    <a:pt x="8411" y="0"/>
                  </a:moveTo>
                  <a:cubicBezTo>
                    <a:pt x="3773" y="0"/>
                    <a:pt x="1" y="3644"/>
                    <a:pt x="1" y="8140"/>
                  </a:cubicBezTo>
                  <a:cubicBezTo>
                    <a:pt x="1" y="12635"/>
                    <a:pt x="3773" y="16281"/>
                    <a:pt x="8411" y="16281"/>
                  </a:cubicBezTo>
                  <a:cubicBezTo>
                    <a:pt x="13048" y="16281"/>
                    <a:pt x="16807" y="12635"/>
                    <a:pt x="16807" y="8140"/>
                  </a:cubicBezTo>
                  <a:cubicBezTo>
                    <a:pt x="16807" y="3644"/>
                    <a:pt x="13048" y="0"/>
                    <a:pt x="84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120;p13">
              <a:extLst>
                <a:ext uri="{FF2B5EF4-FFF2-40B4-BE49-F238E27FC236}">
                  <a16:creationId xmlns:a16="http://schemas.microsoft.com/office/drawing/2014/main" id="{375376C0-6316-1E7B-B48D-87ECD6B7B87F}"/>
                </a:ext>
              </a:extLst>
            </p:cNvPr>
            <p:cNvSpPr txBox="1"/>
            <p:nvPr/>
          </p:nvSpPr>
          <p:spPr>
            <a:xfrm>
              <a:off x="9100784" y="3397874"/>
              <a:ext cx="1615541" cy="3824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A35"/>
                </a:buClr>
                <a:buSzPts val="1800"/>
                <a:buFont typeface="Georgia "/>
                <a:buNone/>
              </a:pPr>
              <a:r>
                <a:rPr lang="en-US" sz="1800" b="0" i="0" u="none" strike="noStrike" cap="none" dirty="0">
                  <a:solidFill>
                    <a:srgbClr val="222A35"/>
                  </a:solidFill>
                  <a:latin typeface="Georgia "/>
                  <a:ea typeface="Georgia "/>
                  <a:cs typeface="Georgia "/>
                  <a:sym typeface="Georgia "/>
                </a:rPr>
                <a:t>Data integration</a:t>
              </a:r>
              <a:endParaRPr dirty="0"/>
            </a:p>
          </p:txBody>
        </p:sp>
        <p:sp>
          <p:nvSpPr>
            <p:cNvPr id="65" name="Google Shape;144;p13">
              <a:extLst>
                <a:ext uri="{FF2B5EF4-FFF2-40B4-BE49-F238E27FC236}">
                  <a16:creationId xmlns:a16="http://schemas.microsoft.com/office/drawing/2014/main" id="{D9914953-6B68-3950-BC86-41441D5B8072}"/>
                </a:ext>
              </a:extLst>
            </p:cNvPr>
            <p:cNvSpPr txBox="1"/>
            <p:nvPr/>
          </p:nvSpPr>
          <p:spPr>
            <a:xfrm>
              <a:off x="9071112" y="4233388"/>
              <a:ext cx="1673738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238"/>
                </a:buClr>
                <a:buSzPts val="1200"/>
                <a:buFont typeface="Geo"/>
                <a:buNone/>
              </a:pPr>
              <a:r>
                <a:rPr lang="en-US" sz="1200" b="0" i="0" u="none" strike="noStrike" cap="none" dirty="0" err="1">
                  <a:solidFill>
                    <a:srgbClr val="263238"/>
                  </a:solidFill>
                  <a:latin typeface="Geo"/>
                  <a:ea typeface="Geo"/>
                  <a:cs typeface="Geo"/>
                  <a:sym typeface="Geo"/>
                </a:rPr>
                <a:t>Epicollect</a:t>
              </a:r>
              <a:r>
                <a:rPr lang="en-US" sz="1200" b="0" i="0" u="none" strike="noStrike" cap="none" dirty="0">
                  <a:solidFill>
                    <a:srgbClr val="263238"/>
                  </a:solidFill>
                  <a:latin typeface="Geo"/>
                  <a:ea typeface="Geo"/>
                  <a:cs typeface="Geo"/>
                  <a:sym typeface="Geo"/>
                </a:rPr>
                <a:t>, </a:t>
              </a:r>
              <a:r>
                <a:rPr lang="en-US" sz="1200" b="0" i="0" u="none" strike="noStrike" cap="none" dirty="0" err="1">
                  <a:solidFill>
                    <a:srgbClr val="263238"/>
                  </a:solidFill>
                  <a:latin typeface="Geo"/>
                  <a:ea typeface="Geo"/>
                  <a:cs typeface="Geo"/>
                  <a:sym typeface="Geo"/>
                </a:rPr>
                <a:t>Microreact</a:t>
              </a: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6" name="Picture 4" descr="Microreact - Open data visualization and sharing for genomic epidemiology">
            <a:extLst>
              <a:ext uri="{FF2B5EF4-FFF2-40B4-BE49-F238E27FC236}">
                <a16:creationId xmlns:a16="http://schemas.microsoft.com/office/drawing/2014/main" id="{63AF27B6-2BC5-EA2D-621F-1B2717717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9086" y="2353676"/>
            <a:ext cx="599777" cy="599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Right Arrow 66">
            <a:extLst>
              <a:ext uri="{FF2B5EF4-FFF2-40B4-BE49-F238E27FC236}">
                <a16:creationId xmlns:a16="http://schemas.microsoft.com/office/drawing/2014/main" id="{7F61E776-8761-6558-3A2B-7AF8C0BD3C12}"/>
              </a:ext>
            </a:extLst>
          </p:cNvPr>
          <p:cNvSpPr/>
          <p:nvPr/>
        </p:nvSpPr>
        <p:spPr>
          <a:xfrm>
            <a:off x="2479894" y="4530079"/>
            <a:ext cx="1041514" cy="206087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Right Arrow 67">
            <a:extLst>
              <a:ext uri="{FF2B5EF4-FFF2-40B4-BE49-F238E27FC236}">
                <a16:creationId xmlns:a16="http://schemas.microsoft.com/office/drawing/2014/main" id="{559CB18D-EA4A-4FA5-F95D-0377150545BA}"/>
              </a:ext>
            </a:extLst>
          </p:cNvPr>
          <p:cNvSpPr/>
          <p:nvPr/>
        </p:nvSpPr>
        <p:spPr>
          <a:xfrm>
            <a:off x="4008998" y="4515224"/>
            <a:ext cx="1041514" cy="206087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Right Arrow 68">
            <a:extLst>
              <a:ext uri="{FF2B5EF4-FFF2-40B4-BE49-F238E27FC236}">
                <a16:creationId xmlns:a16="http://schemas.microsoft.com/office/drawing/2014/main" id="{2DDDF6EE-6499-237E-EADC-68287B72D41F}"/>
              </a:ext>
            </a:extLst>
          </p:cNvPr>
          <p:cNvSpPr/>
          <p:nvPr/>
        </p:nvSpPr>
        <p:spPr>
          <a:xfrm>
            <a:off x="5548194" y="4519313"/>
            <a:ext cx="1041514" cy="206087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Right Arrow 69">
            <a:extLst>
              <a:ext uri="{FF2B5EF4-FFF2-40B4-BE49-F238E27FC236}">
                <a16:creationId xmlns:a16="http://schemas.microsoft.com/office/drawing/2014/main" id="{E651293A-78B5-A074-E9AC-BCEF764B5099}"/>
              </a:ext>
            </a:extLst>
          </p:cNvPr>
          <p:cNvSpPr/>
          <p:nvPr/>
        </p:nvSpPr>
        <p:spPr>
          <a:xfrm>
            <a:off x="7078563" y="4515224"/>
            <a:ext cx="974514" cy="206087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Right Arrow 70">
            <a:extLst>
              <a:ext uri="{FF2B5EF4-FFF2-40B4-BE49-F238E27FC236}">
                <a16:creationId xmlns:a16="http://schemas.microsoft.com/office/drawing/2014/main" id="{62C8718D-A08E-DDE7-5A00-36AE5C9CE6A3}"/>
              </a:ext>
            </a:extLst>
          </p:cNvPr>
          <p:cNvSpPr/>
          <p:nvPr/>
        </p:nvSpPr>
        <p:spPr>
          <a:xfrm>
            <a:off x="8568798" y="4518741"/>
            <a:ext cx="974514" cy="206087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43422A4-33C6-942C-B1B8-E0FFE9A1648D}"/>
              </a:ext>
            </a:extLst>
          </p:cNvPr>
          <p:cNvSpPr txBox="1"/>
          <p:nvPr/>
        </p:nvSpPr>
        <p:spPr>
          <a:xfrm>
            <a:off x="7669212" y="4980555"/>
            <a:ext cx="1727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Georgia" panose="02040502050405020303" pitchFamily="18" charset="0"/>
              </a:rPr>
              <a:t>CP3, CP4, CP5,</a:t>
            </a:r>
          </a:p>
          <a:p>
            <a:r>
              <a:rPr lang="en-GB" sz="1400" b="1" dirty="0">
                <a:latin typeface="Georgia" panose="02040502050405020303" pitchFamily="18" charset="0"/>
              </a:rPr>
              <a:t>CP9, CP11</a:t>
            </a:r>
            <a:endParaRPr lang="en-GB" b="1" dirty="0">
              <a:latin typeface="Georgia" panose="02040502050405020303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9228374-5B5A-64DC-F522-C20C838A1009}"/>
              </a:ext>
            </a:extLst>
          </p:cNvPr>
          <p:cNvSpPr txBox="1"/>
          <p:nvPr/>
        </p:nvSpPr>
        <p:spPr>
          <a:xfrm>
            <a:off x="9268869" y="4975949"/>
            <a:ext cx="17271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Georgia" panose="02040502050405020303" pitchFamily="18" charset="0"/>
              </a:rPr>
              <a:t>CP10, GP</a:t>
            </a:r>
            <a:endParaRPr lang="en-GB" b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025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85;p13">
            <a:extLst>
              <a:ext uri="{FF2B5EF4-FFF2-40B4-BE49-F238E27FC236}">
                <a16:creationId xmlns:a16="http://schemas.microsoft.com/office/drawing/2014/main" id="{9B384191-4535-D695-361E-D8BD3A8266E9}"/>
              </a:ext>
            </a:extLst>
          </p:cNvPr>
          <p:cNvGrpSpPr/>
          <p:nvPr/>
        </p:nvGrpSpPr>
        <p:grpSpPr>
          <a:xfrm>
            <a:off x="1540411" y="2006179"/>
            <a:ext cx="8004401" cy="2845642"/>
            <a:chOff x="806592" y="1624982"/>
            <a:chExt cx="11314919" cy="4022564"/>
          </a:xfrm>
        </p:grpSpPr>
        <p:sp>
          <p:nvSpPr>
            <p:cNvPr id="5" name="Google Shape;86;p13">
              <a:extLst>
                <a:ext uri="{FF2B5EF4-FFF2-40B4-BE49-F238E27FC236}">
                  <a16:creationId xmlns:a16="http://schemas.microsoft.com/office/drawing/2014/main" id="{B8ABAD3B-7488-42AB-9101-0A721C751EE0}"/>
                </a:ext>
              </a:extLst>
            </p:cNvPr>
            <p:cNvSpPr/>
            <p:nvPr/>
          </p:nvSpPr>
          <p:spPr>
            <a:xfrm>
              <a:off x="1002389" y="5311350"/>
              <a:ext cx="11119122" cy="64628"/>
            </a:xfrm>
            <a:custGeom>
              <a:avLst/>
              <a:gdLst/>
              <a:ahLst/>
              <a:cxnLst/>
              <a:rect l="l" t="t" r="r" b="b"/>
              <a:pathLst>
                <a:path w="126956" h="128" extrusionOk="0">
                  <a:moveTo>
                    <a:pt x="0" y="1"/>
                  </a:moveTo>
                  <a:lnTo>
                    <a:pt x="0" y="128"/>
                  </a:lnTo>
                  <a:lnTo>
                    <a:pt x="126955" y="128"/>
                  </a:lnTo>
                  <a:lnTo>
                    <a:pt x="126955" y="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87;p13">
              <a:extLst>
                <a:ext uri="{FF2B5EF4-FFF2-40B4-BE49-F238E27FC236}">
                  <a16:creationId xmlns:a16="http://schemas.microsoft.com/office/drawing/2014/main" id="{CF5A1D46-51DB-7529-3DA1-51BF8593DB87}"/>
                </a:ext>
              </a:extLst>
            </p:cNvPr>
            <p:cNvSpPr/>
            <p:nvPr/>
          </p:nvSpPr>
          <p:spPr>
            <a:xfrm>
              <a:off x="5145096" y="2611747"/>
              <a:ext cx="1939558" cy="2581002"/>
            </a:xfrm>
            <a:custGeom>
              <a:avLst/>
              <a:gdLst/>
              <a:ahLst/>
              <a:cxnLst/>
              <a:rect l="l" t="t" r="r" b="b"/>
              <a:pathLst>
                <a:path w="29074" h="30817" extrusionOk="0">
                  <a:moveTo>
                    <a:pt x="185" y="0"/>
                  </a:moveTo>
                  <a:cubicBezTo>
                    <a:pt x="86" y="0"/>
                    <a:pt x="0" y="85"/>
                    <a:pt x="0" y="199"/>
                  </a:cubicBezTo>
                  <a:lnTo>
                    <a:pt x="0" y="30179"/>
                  </a:lnTo>
                  <a:cubicBezTo>
                    <a:pt x="0" y="30533"/>
                    <a:pt x="284" y="30816"/>
                    <a:pt x="639" y="30816"/>
                  </a:cubicBezTo>
                  <a:lnTo>
                    <a:pt x="28435" y="30816"/>
                  </a:lnTo>
                  <a:cubicBezTo>
                    <a:pt x="28789" y="30816"/>
                    <a:pt x="29073" y="30533"/>
                    <a:pt x="29073" y="30179"/>
                  </a:cubicBezTo>
                  <a:lnTo>
                    <a:pt x="29073" y="199"/>
                  </a:lnTo>
                  <a:cubicBezTo>
                    <a:pt x="29073" y="85"/>
                    <a:pt x="28988" y="0"/>
                    <a:pt x="28875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88;p13">
              <a:extLst>
                <a:ext uri="{FF2B5EF4-FFF2-40B4-BE49-F238E27FC236}">
                  <a16:creationId xmlns:a16="http://schemas.microsoft.com/office/drawing/2014/main" id="{F2D75224-8926-352F-895C-9734D3B14C01}"/>
                </a:ext>
              </a:extLst>
            </p:cNvPr>
            <p:cNvSpPr/>
            <p:nvPr/>
          </p:nvSpPr>
          <p:spPr>
            <a:xfrm>
              <a:off x="5357021" y="1767872"/>
              <a:ext cx="1514674" cy="1514675"/>
            </a:xfrm>
            <a:custGeom>
              <a:avLst/>
              <a:gdLst/>
              <a:ahLst/>
              <a:cxnLst/>
              <a:rect l="l" t="t" r="r" b="b"/>
              <a:pathLst>
                <a:path w="22705" h="22705" extrusionOk="0">
                  <a:moveTo>
                    <a:pt x="11360" y="0"/>
                  </a:moveTo>
                  <a:cubicBezTo>
                    <a:pt x="5091" y="0"/>
                    <a:pt x="1" y="5077"/>
                    <a:pt x="1" y="11345"/>
                  </a:cubicBezTo>
                  <a:cubicBezTo>
                    <a:pt x="1" y="17614"/>
                    <a:pt x="5091" y="22704"/>
                    <a:pt x="11360" y="22704"/>
                  </a:cubicBezTo>
                  <a:cubicBezTo>
                    <a:pt x="17628" y="22704"/>
                    <a:pt x="22705" y="17614"/>
                    <a:pt x="22705" y="11345"/>
                  </a:cubicBezTo>
                  <a:cubicBezTo>
                    <a:pt x="22705" y="5077"/>
                    <a:pt x="17628" y="0"/>
                    <a:pt x="113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89;p13">
              <a:extLst>
                <a:ext uri="{FF2B5EF4-FFF2-40B4-BE49-F238E27FC236}">
                  <a16:creationId xmlns:a16="http://schemas.microsoft.com/office/drawing/2014/main" id="{F216410D-BB41-DCCF-F26C-F63DF75A0653}"/>
                </a:ext>
              </a:extLst>
            </p:cNvPr>
            <p:cNvSpPr/>
            <p:nvPr/>
          </p:nvSpPr>
          <p:spPr>
            <a:xfrm>
              <a:off x="5554676" y="1981671"/>
              <a:ext cx="1120279" cy="1086123"/>
            </a:xfrm>
            <a:custGeom>
              <a:avLst/>
              <a:gdLst/>
              <a:ahLst/>
              <a:cxnLst/>
              <a:rect l="l" t="t" r="r" b="b"/>
              <a:pathLst>
                <a:path w="16793" h="16281" extrusionOk="0">
                  <a:moveTo>
                    <a:pt x="8397" y="0"/>
                  </a:moveTo>
                  <a:cubicBezTo>
                    <a:pt x="3760" y="0"/>
                    <a:pt x="1" y="3644"/>
                    <a:pt x="1" y="8140"/>
                  </a:cubicBezTo>
                  <a:cubicBezTo>
                    <a:pt x="1" y="12635"/>
                    <a:pt x="3760" y="16281"/>
                    <a:pt x="8397" y="16281"/>
                  </a:cubicBezTo>
                  <a:cubicBezTo>
                    <a:pt x="13035" y="16281"/>
                    <a:pt x="16792" y="12635"/>
                    <a:pt x="16792" y="8140"/>
                  </a:cubicBezTo>
                  <a:cubicBezTo>
                    <a:pt x="16792" y="3644"/>
                    <a:pt x="13035" y="0"/>
                    <a:pt x="83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90;p13">
              <a:extLst>
                <a:ext uri="{FF2B5EF4-FFF2-40B4-BE49-F238E27FC236}">
                  <a16:creationId xmlns:a16="http://schemas.microsoft.com/office/drawing/2014/main" id="{40EB2070-5EA4-AF61-243F-0CD10D7F07C6}"/>
                </a:ext>
              </a:extLst>
            </p:cNvPr>
            <p:cNvSpPr/>
            <p:nvPr/>
          </p:nvSpPr>
          <p:spPr>
            <a:xfrm>
              <a:off x="5756177" y="4930356"/>
              <a:ext cx="717123" cy="717190"/>
            </a:xfrm>
            <a:custGeom>
              <a:avLst/>
              <a:gdLst/>
              <a:ahLst/>
              <a:cxnLst/>
              <a:rect l="l" t="t" r="r" b="b"/>
              <a:pathLst>
                <a:path w="10750" h="10751" extrusionOk="0">
                  <a:moveTo>
                    <a:pt x="5375" y="0"/>
                  </a:moveTo>
                  <a:cubicBezTo>
                    <a:pt x="2396" y="0"/>
                    <a:pt x="0" y="2411"/>
                    <a:pt x="0" y="5375"/>
                  </a:cubicBezTo>
                  <a:cubicBezTo>
                    <a:pt x="0" y="8353"/>
                    <a:pt x="2396" y="10750"/>
                    <a:pt x="5375" y="10750"/>
                  </a:cubicBezTo>
                  <a:cubicBezTo>
                    <a:pt x="8339" y="10750"/>
                    <a:pt x="10750" y="8353"/>
                    <a:pt x="10750" y="5375"/>
                  </a:cubicBezTo>
                  <a:cubicBezTo>
                    <a:pt x="10750" y="2411"/>
                    <a:pt x="8339" y="0"/>
                    <a:pt x="53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91;p13">
              <a:extLst>
                <a:ext uri="{FF2B5EF4-FFF2-40B4-BE49-F238E27FC236}">
                  <a16:creationId xmlns:a16="http://schemas.microsoft.com/office/drawing/2014/main" id="{A74C82B9-08C7-8D27-D9A3-C38FAA4D3BB3}"/>
                </a:ext>
              </a:extLst>
            </p:cNvPr>
            <p:cNvSpPr/>
            <p:nvPr/>
          </p:nvSpPr>
          <p:spPr>
            <a:xfrm>
              <a:off x="6089276" y="1624982"/>
              <a:ext cx="928085" cy="899799"/>
            </a:xfrm>
            <a:custGeom>
              <a:avLst/>
              <a:gdLst/>
              <a:ahLst/>
              <a:cxnLst/>
              <a:rect l="l" t="t" r="r" b="b"/>
              <a:pathLst>
                <a:path w="13912" h="13488" extrusionOk="0">
                  <a:moveTo>
                    <a:pt x="0" y="0"/>
                  </a:moveTo>
                  <a:lnTo>
                    <a:pt x="0" y="213"/>
                  </a:lnTo>
                  <a:cubicBezTo>
                    <a:pt x="7559" y="213"/>
                    <a:pt x="13700" y="6170"/>
                    <a:pt x="13700" y="13487"/>
                  </a:cubicBezTo>
                  <a:lnTo>
                    <a:pt x="13912" y="13487"/>
                  </a:lnTo>
                  <a:cubicBezTo>
                    <a:pt x="13912" y="6041"/>
                    <a:pt x="7672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92;p13">
              <a:extLst>
                <a:ext uri="{FF2B5EF4-FFF2-40B4-BE49-F238E27FC236}">
                  <a16:creationId xmlns:a16="http://schemas.microsoft.com/office/drawing/2014/main" id="{680E0940-5E6F-16CE-02B5-7E2457F491BC}"/>
                </a:ext>
              </a:extLst>
            </p:cNvPr>
            <p:cNvSpPr txBox="1"/>
            <p:nvPr/>
          </p:nvSpPr>
          <p:spPr>
            <a:xfrm>
              <a:off x="5145104" y="3247701"/>
              <a:ext cx="1939647" cy="4592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A35"/>
                </a:buClr>
                <a:buSzPts val="1800"/>
                <a:buFont typeface="Georgia "/>
                <a:buNone/>
              </a:pPr>
              <a:r>
                <a:rPr lang="en-US" dirty="0">
                  <a:solidFill>
                    <a:srgbClr val="222A35"/>
                  </a:solidFill>
                  <a:latin typeface="Georgia "/>
                  <a:sym typeface="Georgia "/>
                </a:rPr>
                <a:t>WGS and QC</a:t>
              </a:r>
              <a:endParaRPr dirty="0"/>
            </a:p>
          </p:txBody>
        </p:sp>
        <p:sp>
          <p:nvSpPr>
            <p:cNvPr id="12" name="Google Shape;93;p13">
              <a:extLst>
                <a:ext uri="{FF2B5EF4-FFF2-40B4-BE49-F238E27FC236}">
                  <a16:creationId xmlns:a16="http://schemas.microsoft.com/office/drawing/2014/main" id="{A13EE5FE-9F2F-DFBC-2C3F-BF809C5DE41F}"/>
                </a:ext>
              </a:extLst>
            </p:cNvPr>
            <p:cNvSpPr txBox="1"/>
            <p:nvPr/>
          </p:nvSpPr>
          <p:spPr>
            <a:xfrm>
              <a:off x="5750753" y="4861255"/>
              <a:ext cx="700489" cy="4905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Georgia "/>
                <a:buNone/>
              </a:pPr>
              <a:r>
                <a:rPr lang="en-US" sz="3000" b="1" i="0" u="none" strike="noStrike" cap="none" dirty="0">
                  <a:solidFill>
                    <a:srgbClr val="FFFFFF"/>
                  </a:solidFill>
                  <a:latin typeface="Georgia "/>
                  <a:ea typeface="Georgia "/>
                  <a:cs typeface="Georgia "/>
                  <a:sym typeface="Georgia "/>
                </a:rPr>
                <a:t>G</a:t>
              </a:r>
              <a:endParaRPr sz="3000" b="1" i="0" u="none" strike="noStrike" cap="none" dirty="0">
                <a:solidFill>
                  <a:srgbClr val="FFFFFF"/>
                </a:solidFill>
                <a:latin typeface="Georgia "/>
                <a:ea typeface="Georgia "/>
                <a:cs typeface="Georgia "/>
                <a:sym typeface="Georgia "/>
              </a:endParaRPr>
            </a:p>
          </p:txBody>
        </p:sp>
        <p:sp>
          <p:nvSpPr>
            <p:cNvPr id="13" name="Google Shape;94;p13">
              <a:extLst>
                <a:ext uri="{FF2B5EF4-FFF2-40B4-BE49-F238E27FC236}">
                  <a16:creationId xmlns:a16="http://schemas.microsoft.com/office/drawing/2014/main" id="{C8F76C16-4ACD-D26A-06A5-9999658A4649}"/>
                </a:ext>
              </a:extLst>
            </p:cNvPr>
            <p:cNvSpPr/>
            <p:nvPr/>
          </p:nvSpPr>
          <p:spPr>
            <a:xfrm>
              <a:off x="2975832" y="2611747"/>
              <a:ext cx="1939558" cy="2581002"/>
            </a:xfrm>
            <a:custGeom>
              <a:avLst/>
              <a:gdLst/>
              <a:ahLst/>
              <a:cxnLst/>
              <a:rect l="l" t="t" r="r" b="b"/>
              <a:pathLst>
                <a:path w="29074" h="30817" extrusionOk="0">
                  <a:moveTo>
                    <a:pt x="185" y="0"/>
                  </a:moveTo>
                  <a:cubicBezTo>
                    <a:pt x="86" y="0"/>
                    <a:pt x="0" y="85"/>
                    <a:pt x="0" y="199"/>
                  </a:cubicBezTo>
                  <a:lnTo>
                    <a:pt x="0" y="30179"/>
                  </a:lnTo>
                  <a:cubicBezTo>
                    <a:pt x="0" y="30533"/>
                    <a:pt x="284" y="30816"/>
                    <a:pt x="639" y="30816"/>
                  </a:cubicBezTo>
                  <a:lnTo>
                    <a:pt x="28435" y="30816"/>
                  </a:lnTo>
                  <a:cubicBezTo>
                    <a:pt x="28789" y="30816"/>
                    <a:pt x="29073" y="30533"/>
                    <a:pt x="29073" y="30179"/>
                  </a:cubicBezTo>
                  <a:lnTo>
                    <a:pt x="29073" y="199"/>
                  </a:lnTo>
                  <a:cubicBezTo>
                    <a:pt x="29073" y="85"/>
                    <a:pt x="28988" y="0"/>
                    <a:pt x="28875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95;p13">
              <a:extLst>
                <a:ext uri="{FF2B5EF4-FFF2-40B4-BE49-F238E27FC236}">
                  <a16:creationId xmlns:a16="http://schemas.microsoft.com/office/drawing/2014/main" id="{F158B38F-537B-813B-C14B-371007F11D2C}"/>
                </a:ext>
              </a:extLst>
            </p:cNvPr>
            <p:cNvSpPr/>
            <p:nvPr/>
          </p:nvSpPr>
          <p:spPr>
            <a:xfrm>
              <a:off x="3187739" y="1767872"/>
              <a:ext cx="1514741" cy="1514675"/>
            </a:xfrm>
            <a:custGeom>
              <a:avLst/>
              <a:gdLst/>
              <a:ahLst/>
              <a:cxnLst/>
              <a:rect l="l" t="t" r="r" b="b"/>
              <a:pathLst>
                <a:path w="22706" h="22705" extrusionOk="0">
                  <a:moveTo>
                    <a:pt x="11360" y="0"/>
                  </a:moveTo>
                  <a:cubicBezTo>
                    <a:pt x="5092" y="0"/>
                    <a:pt x="0" y="5077"/>
                    <a:pt x="0" y="11345"/>
                  </a:cubicBezTo>
                  <a:cubicBezTo>
                    <a:pt x="0" y="17614"/>
                    <a:pt x="5092" y="22704"/>
                    <a:pt x="11360" y="22704"/>
                  </a:cubicBezTo>
                  <a:cubicBezTo>
                    <a:pt x="17629" y="22704"/>
                    <a:pt x="22706" y="17614"/>
                    <a:pt x="22706" y="11345"/>
                  </a:cubicBezTo>
                  <a:cubicBezTo>
                    <a:pt x="22706" y="5077"/>
                    <a:pt x="17629" y="0"/>
                    <a:pt x="11360" y="0"/>
                  </a:cubicBezTo>
                  <a:close/>
                </a:path>
              </a:pathLst>
            </a:custGeom>
            <a:solidFill>
              <a:srgbClr val="0775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96;p13">
              <a:extLst>
                <a:ext uri="{FF2B5EF4-FFF2-40B4-BE49-F238E27FC236}">
                  <a16:creationId xmlns:a16="http://schemas.microsoft.com/office/drawing/2014/main" id="{EF9B087C-C4B6-DB47-EF30-159034B55340}"/>
                </a:ext>
              </a:extLst>
            </p:cNvPr>
            <p:cNvSpPr/>
            <p:nvPr/>
          </p:nvSpPr>
          <p:spPr>
            <a:xfrm>
              <a:off x="3385461" y="1981671"/>
              <a:ext cx="1120213" cy="1086123"/>
            </a:xfrm>
            <a:custGeom>
              <a:avLst/>
              <a:gdLst/>
              <a:ahLst/>
              <a:cxnLst/>
              <a:rect l="l" t="t" r="r" b="b"/>
              <a:pathLst>
                <a:path w="16792" h="16281" extrusionOk="0">
                  <a:moveTo>
                    <a:pt x="8396" y="0"/>
                  </a:moveTo>
                  <a:cubicBezTo>
                    <a:pt x="3758" y="0"/>
                    <a:pt x="1" y="3644"/>
                    <a:pt x="1" y="8140"/>
                  </a:cubicBezTo>
                  <a:cubicBezTo>
                    <a:pt x="1" y="12635"/>
                    <a:pt x="3758" y="16281"/>
                    <a:pt x="8396" y="16281"/>
                  </a:cubicBezTo>
                  <a:cubicBezTo>
                    <a:pt x="13033" y="16281"/>
                    <a:pt x="16792" y="12635"/>
                    <a:pt x="16792" y="8140"/>
                  </a:cubicBezTo>
                  <a:cubicBezTo>
                    <a:pt x="16792" y="3644"/>
                    <a:pt x="13033" y="0"/>
                    <a:pt x="83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97;p13">
              <a:extLst>
                <a:ext uri="{FF2B5EF4-FFF2-40B4-BE49-F238E27FC236}">
                  <a16:creationId xmlns:a16="http://schemas.microsoft.com/office/drawing/2014/main" id="{9F2DC308-7F83-1CD5-D544-A3C1BD153275}"/>
                </a:ext>
              </a:extLst>
            </p:cNvPr>
            <p:cNvSpPr/>
            <p:nvPr/>
          </p:nvSpPr>
          <p:spPr>
            <a:xfrm>
              <a:off x="3586854" y="4930356"/>
              <a:ext cx="717178" cy="717178"/>
            </a:xfrm>
            <a:custGeom>
              <a:avLst/>
              <a:gdLst/>
              <a:ahLst/>
              <a:cxnLst/>
              <a:rect l="l" t="t" r="r" b="b"/>
              <a:pathLst>
                <a:path w="10751" h="10751" extrusionOk="0">
                  <a:moveTo>
                    <a:pt x="5376" y="0"/>
                  </a:moveTo>
                  <a:cubicBezTo>
                    <a:pt x="2398" y="0"/>
                    <a:pt x="1" y="2411"/>
                    <a:pt x="1" y="5375"/>
                  </a:cubicBezTo>
                  <a:cubicBezTo>
                    <a:pt x="1" y="8353"/>
                    <a:pt x="2398" y="10750"/>
                    <a:pt x="5376" y="10750"/>
                  </a:cubicBezTo>
                  <a:cubicBezTo>
                    <a:pt x="8340" y="10750"/>
                    <a:pt x="10751" y="8353"/>
                    <a:pt x="10751" y="5375"/>
                  </a:cubicBezTo>
                  <a:cubicBezTo>
                    <a:pt x="10751" y="2411"/>
                    <a:pt x="8340" y="0"/>
                    <a:pt x="5376" y="0"/>
                  </a:cubicBezTo>
                  <a:close/>
                </a:path>
              </a:pathLst>
            </a:custGeom>
            <a:solidFill>
              <a:srgbClr val="0775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98;p13">
              <a:extLst>
                <a:ext uri="{FF2B5EF4-FFF2-40B4-BE49-F238E27FC236}">
                  <a16:creationId xmlns:a16="http://schemas.microsoft.com/office/drawing/2014/main" id="{04FBCC50-B60C-7307-890E-2EDD612D13CB}"/>
                </a:ext>
              </a:extLst>
            </p:cNvPr>
            <p:cNvSpPr/>
            <p:nvPr/>
          </p:nvSpPr>
          <p:spPr>
            <a:xfrm>
              <a:off x="3933202" y="1624982"/>
              <a:ext cx="928218" cy="899799"/>
            </a:xfrm>
            <a:custGeom>
              <a:avLst/>
              <a:gdLst/>
              <a:ahLst/>
              <a:cxnLst/>
              <a:rect l="l" t="t" r="r" b="b"/>
              <a:pathLst>
                <a:path w="13914" h="13488" extrusionOk="0">
                  <a:moveTo>
                    <a:pt x="0" y="0"/>
                  </a:moveTo>
                  <a:lnTo>
                    <a:pt x="0" y="213"/>
                  </a:lnTo>
                  <a:cubicBezTo>
                    <a:pt x="7545" y="213"/>
                    <a:pt x="13686" y="6170"/>
                    <a:pt x="13686" y="13487"/>
                  </a:cubicBezTo>
                  <a:lnTo>
                    <a:pt x="13913" y="13487"/>
                  </a:lnTo>
                  <a:cubicBezTo>
                    <a:pt x="13913" y="6041"/>
                    <a:pt x="7673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rgbClr val="0775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99;p13">
              <a:extLst>
                <a:ext uri="{FF2B5EF4-FFF2-40B4-BE49-F238E27FC236}">
                  <a16:creationId xmlns:a16="http://schemas.microsoft.com/office/drawing/2014/main" id="{3B760CF4-7D97-7E0B-49AC-05ACDB0165E0}"/>
                </a:ext>
              </a:extLst>
            </p:cNvPr>
            <p:cNvSpPr txBox="1"/>
            <p:nvPr/>
          </p:nvSpPr>
          <p:spPr>
            <a:xfrm>
              <a:off x="2975787" y="3249211"/>
              <a:ext cx="1939647" cy="4592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A35"/>
                </a:buClr>
                <a:buSzPts val="1800"/>
                <a:buFont typeface="Georgia "/>
                <a:buNone/>
              </a:pPr>
              <a:r>
                <a:rPr lang="en-US" sz="1800" b="0" i="0" u="none" strike="noStrike" cap="none" dirty="0">
                  <a:solidFill>
                    <a:srgbClr val="222A35"/>
                  </a:solidFill>
                  <a:latin typeface="Georgia "/>
                  <a:ea typeface="Georgia "/>
                  <a:cs typeface="Georgia "/>
                  <a:sym typeface="Georgia "/>
                </a:rPr>
                <a:t>Phenotypic AST </a:t>
              </a:r>
              <a:endParaRPr dirty="0"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 dirty="0">
                <a:solidFill>
                  <a:srgbClr val="222A35"/>
                </a:solidFill>
                <a:latin typeface="Georgia "/>
                <a:ea typeface="Georgia "/>
                <a:cs typeface="Georgia "/>
                <a:sym typeface="Georgia "/>
              </a:endParaRPr>
            </a:p>
          </p:txBody>
        </p:sp>
        <p:sp>
          <p:nvSpPr>
            <p:cNvPr id="19" name="Google Shape;100;p13">
              <a:extLst>
                <a:ext uri="{FF2B5EF4-FFF2-40B4-BE49-F238E27FC236}">
                  <a16:creationId xmlns:a16="http://schemas.microsoft.com/office/drawing/2014/main" id="{1022E7BF-1225-A170-68AF-715A302FAB3D}"/>
                </a:ext>
              </a:extLst>
            </p:cNvPr>
            <p:cNvSpPr txBox="1"/>
            <p:nvPr/>
          </p:nvSpPr>
          <p:spPr>
            <a:xfrm>
              <a:off x="3595349" y="4859550"/>
              <a:ext cx="700489" cy="4905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Georgia "/>
                <a:buNone/>
              </a:pPr>
              <a:r>
                <a:rPr lang="en-US" sz="3000" b="1" dirty="0">
                  <a:solidFill>
                    <a:srgbClr val="FFFFFF"/>
                  </a:solidFill>
                  <a:latin typeface="Georgia "/>
                  <a:ea typeface="Georgia "/>
                  <a:cs typeface="Georgia "/>
                  <a:sym typeface="Georgia "/>
                </a:rPr>
                <a:t>A</a:t>
              </a:r>
              <a:endParaRPr sz="3000" b="1" i="0" u="none" strike="noStrike" cap="none" dirty="0">
                <a:solidFill>
                  <a:srgbClr val="FFFFFF"/>
                </a:solidFill>
                <a:latin typeface="Georgia "/>
                <a:ea typeface="Georgia "/>
                <a:cs typeface="Georgia "/>
                <a:sym typeface="Georgia "/>
              </a:endParaRPr>
            </a:p>
          </p:txBody>
        </p:sp>
        <p:sp>
          <p:nvSpPr>
            <p:cNvPr id="20" name="Google Shape;101;p13">
              <a:extLst>
                <a:ext uri="{FF2B5EF4-FFF2-40B4-BE49-F238E27FC236}">
                  <a16:creationId xmlns:a16="http://schemas.microsoft.com/office/drawing/2014/main" id="{5FB2CB44-C9BE-A093-64B0-6F181497BD1F}"/>
                </a:ext>
              </a:extLst>
            </p:cNvPr>
            <p:cNvSpPr/>
            <p:nvPr/>
          </p:nvSpPr>
          <p:spPr>
            <a:xfrm>
              <a:off x="842674" y="2611747"/>
              <a:ext cx="1939491" cy="2581002"/>
            </a:xfrm>
            <a:custGeom>
              <a:avLst/>
              <a:gdLst/>
              <a:ahLst/>
              <a:cxnLst/>
              <a:rect l="l" t="t" r="r" b="b"/>
              <a:pathLst>
                <a:path w="29073" h="30817" extrusionOk="0">
                  <a:moveTo>
                    <a:pt x="184" y="0"/>
                  </a:moveTo>
                  <a:cubicBezTo>
                    <a:pt x="85" y="0"/>
                    <a:pt x="0" y="85"/>
                    <a:pt x="0" y="199"/>
                  </a:cubicBezTo>
                  <a:lnTo>
                    <a:pt x="0" y="30179"/>
                  </a:lnTo>
                  <a:cubicBezTo>
                    <a:pt x="0" y="30533"/>
                    <a:pt x="284" y="30816"/>
                    <a:pt x="638" y="30816"/>
                  </a:cubicBezTo>
                  <a:lnTo>
                    <a:pt x="28434" y="30816"/>
                  </a:lnTo>
                  <a:cubicBezTo>
                    <a:pt x="28789" y="30816"/>
                    <a:pt x="29073" y="30533"/>
                    <a:pt x="29073" y="30179"/>
                  </a:cubicBezTo>
                  <a:lnTo>
                    <a:pt x="29073" y="199"/>
                  </a:lnTo>
                  <a:cubicBezTo>
                    <a:pt x="29073" y="85"/>
                    <a:pt x="28988" y="0"/>
                    <a:pt x="28874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02;p13">
              <a:extLst>
                <a:ext uri="{FF2B5EF4-FFF2-40B4-BE49-F238E27FC236}">
                  <a16:creationId xmlns:a16="http://schemas.microsoft.com/office/drawing/2014/main" id="{5EBFCF4A-11AB-8B2F-FB8A-86F00688B684}"/>
                </a:ext>
              </a:extLst>
            </p:cNvPr>
            <p:cNvSpPr/>
            <p:nvPr/>
          </p:nvSpPr>
          <p:spPr>
            <a:xfrm>
              <a:off x="1018457" y="1767872"/>
              <a:ext cx="1515742" cy="1514675"/>
            </a:xfrm>
            <a:custGeom>
              <a:avLst/>
              <a:gdLst/>
              <a:ahLst/>
              <a:cxnLst/>
              <a:rect l="l" t="t" r="r" b="b"/>
              <a:pathLst>
                <a:path w="22721" h="22705" extrusionOk="0">
                  <a:moveTo>
                    <a:pt x="11360" y="0"/>
                  </a:moveTo>
                  <a:cubicBezTo>
                    <a:pt x="5092" y="0"/>
                    <a:pt x="1" y="5077"/>
                    <a:pt x="1" y="11345"/>
                  </a:cubicBezTo>
                  <a:cubicBezTo>
                    <a:pt x="1" y="17614"/>
                    <a:pt x="5092" y="22704"/>
                    <a:pt x="11360" y="22704"/>
                  </a:cubicBezTo>
                  <a:cubicBezTo>
                    <a:pt x="17628" y="22704"/>
                    <a:pt x="22720" y="17614"/>
                    <a:pt x="22720" y="11345"/>
                  </a:cubicBezTo>
                  <a:cubicBezTo>
                    <a:pt x="22720" y="5077"/>
                    <a:pt x="17628" y="0"/>
                    <a:pt x="113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03;p13">
              <a:extLst>
                <a:ext uri="{FF2B5EF4-FFF2-40B4-BE49-F238E27FC236}">
                  <a16:creationId xmlns:a16="http://schemas.microsoft.com/office/drawing/2014/main" id="{F6FE00BC-7905-9AA3-096C-F2D47C8E4A33}"/>
                </a:ext>
              </a:extLst>
            </p:cNvPr>
            <p:cNvSpPr/>
            <p:nvPr/>
          </p:nvSpPr>
          <p:spPr>
            <a:xfrm>
              <a:off x="1216180" y="1981671"/>
              <a:ext cx="1120213" cy="1086123"/>
            </a:xfrm>
            <a:custGeom>
              <a:avLst/>
              <a:gdLst/>
              <a:ahLst/>
              <a:cxnLst/>
              <a:rect l="l" t="t" r="r" b="b"/>
              <a:pathLst>
                <a:path w="16792" h="16281" extrusionOk="0">
                  <a:moveTo>
                    <a:pt x="8396" y="0"/>
                  </a:moveTo>
                  <a:cubicBezTo>
                    <a:pt x="3759" y="0"/>
                    <a:pt x="0" y="3644"/>
                    <a:pt x="0" y="8140"/>
                  </a:cubicBezTo>
                  <a:cubicBezTo>
                    <a:pt x="0" y="12635"/>
                    <a:pt x="3759" y="16281"/>
                    <a:pt x="8396" y="16281"/>
                  </a:cubicBezTo>
                  <a:cubicBezTo>
                    <a:pt x="13034" y="16281"/>
                    <a:pt x="16792" y="12635"/>
                    <a:pt x="16792" y="8140"/>
                  </a:cubicBezTo>
                  <a:cubicBezTo>
                    <a:pt x="16792" y="3644"/>
                    <a:pt x="13034" y="0"/>
                    <a:pt x="83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04;p13">
              <a:extLst>
                <a:ext uri="{FF2B5EF4-FFF2-40B4-BE49-F238E27FC236}">
                  <a16:creationId xmlns:a16="http://schemas.microsoft.com/office/drawing/2014/main" id="{430678B5-45AD-FE83-85FC-58AA233AB82A}"/>
                </a:ext>
              </a:extLst>
            </p:cNvPr>
            <p:cNvSpPr/>
            <p:nvPr/>
          </p:nvSpPr>
          <p:spPr>
            <a:xfrm>
              <a:off x="1417666" y="4930356"/>
              <a:ext cx="717190" cy="717190"/>
            </a:xfrm>
            <a:custGeom>
              <a:avLst/>
              <a:gdLst/>
              <a:ahLst/>
              <a:cxnLst/>
              <a:rect l="l" t="t" r="r" b="b"/>
              <a:pathLst>
                <a:path w="10751" h="10751" extrusionOk="0">
                  <a:moveTo>
                    <a:pt x="5375" y="0"/>
                  </a:moveTo>
                  <a:cubicBezTo>
                    <a:pt x="2397" y="0"/>
                    <a:pt x="1" y="2411"/>
                    <a:pt x="1" y="5375"/>
                  </a:cubicBezTo>
                  <a:cubicBezTo>
                    <a:pt x="1" y="8353"/>
                    <a:pt x="2397" y="10750"/>
                    <a:pt x="5375" y="10750"/>
                  </a:cubicBezTo>
                  <a:cubicBezTo>
                    <a:pt x="8340" y="10750"/>
                    <a:pt x="10750" y="8353"/>
                    <a:pt x="10750" y="5375"/>
                  </a:cubicBezTo>
                  <a:cubicBezTo>
                    <a:pt x="10750" y="2411"/>
                    <a:pt x="8340" y="0"/>
                    <a:pt x="53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05;p13">
              <a:extLst>
                <a:ext uri="{FF2B5EF4-FFF2-40B4-BE49-F238E27FC236}">
                  <a16:creationId xmlns:a16="http://schemas.microsoft.com/office/drawing/2014/main" id="{94655767-4858-D73B-9307-CE0D0D3E9425}"/>
                </a:ext>
              </a:extLst>
            </p:cNvPr>
            <p:cNvSpPr/>
            <p:nvPr/>
          </p:nvSpPr>
          <p:spPr>
            <a:xfrm>
              <a:off x="1776194" y="1624982"/>
              <a:ext cx="928218" cy="899799"/>
            </a:xfrm>
            <a:custGeom>
              <a:avLst/>
              <a:gdLst/>
              <a:ahLst/>
              <a:cxnLst/>
              <a:rect l="l" t="t" r="r" b="b"/>
              <a:pathLst>
                <a:path w="13914" h="13488" extrusionOk="0">
                  <a:moveTo>
                    <a:pt x="1" y="0"/>
                  </a:moveTo>
                  <a:lnTo>
                    <a:pt x="1" y="213"/>
                  </a:lnTo>
                  <a:cubicBezTo>
                    <a:pt x="7546" y="213"/>
                    <a:pt x="13701" y="6170"/>
                    <a:pt x="13701" y="13487"/>
                  </a:cubicBezTo>
                  <a:lnTo>
                    <a:pt x="13914" y="13487"/>
                  </a:lnTo>
                  <a:cubicBezTo>
                    <a:pt x="13914" y="6041"/>
                    <a:pt x="7674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06;p13">
              <a:extLst>
                <a:ext uri="{FF2B5EF4-FFF2-40B4-BE49-F238E27FC236}">
                  <a16:creationId xmlns:a16="http://schemas.microsoft.com/office/drawing/2014/main" id="{47A557AE-E819-1D9F-0F12-A9868B2B8766}"/>
                </a:ext>
              </a:extLst>
            </p:cNvPr>
            <p:cNvSpPr txBox="1"/>
            <p:nvPr/>
          </p:nvSpPr>
          <p:spPr>
            <a:xfrm>
              <a:off x="806592" y="3173209"/>
              <a:ext cx="1939647" cy="611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222A35"/>
                </a:buClr>
                <a:buSzPts val="1800"/>
                <a:buFont typeface="Georgia "/>
                <a:buNone/>
              </a:pPr>
              <a:r>
                <a:rPr lang="en-US" sz="1800" b="0" i="0" u="none" strike="noStrike" cap="none" dirty="0">
                  <a:solidFill>
                    <a:srgbClr val="222A35"/>
                  </a:solidFill>
                  <a:latin typeface="Georgia "/>
                  <a:ea typeface="Georgia "/>
                  <a:cs typeface="Georgia "/>
                  <a:sym typeface="Georgia "/>
                </a:rPr>
                <a:t>Sample collection </a:t>
              </a:r>
              <a:endParaRPr dirty="0"/>
            </a:p>
          </p:txBody>
        </p:sp>
        <p:sp>
          <p:nvSpPr>
            <p:cNvPr id="26" name="Google Shape;107;p13">
              <a:extLst>
                <a:ext uri="{FF2B5EF4-FFF2-40B4-BE49-F238E27FC236}">
                  <a16:creationId xmlns:a16="http://schemas.microsoft.com/office/drawing/2014/main" id="{1F39F0E8-12EF-60E1-0572-C7E8B7C27FB0}"/>
                </a:ext>
              </a:extLst>
            </p:cNvPr>
            <p:cNvSpPr txBox="1"/>
            <p:nvPr/>
          </p:nvSpPr>
          <p:spPr>
            <a:xfrm>
              <a:off x="1426017" y="4859552"/>
              <a:ext cx="700489" cy="4905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Georgia "/>
                <a:buNone/>
              </a:pPr>
              <a:r>
                <a:rPr lang="en-US" sz="3000" b="1" i="0" u="none" strike="noStrike" cap="none" dirty="0">
                  <a:solidFill>
                    <a:srgbClr val="FFFFFF"/>
                  </a:solidFill>
                  <a:latin typeface="Georgia "/>
                  <a:ea typeface="Georgia "/>
                  <a:cs typeface="Georgia "/>
                  <a:sym typeface="Georgia "/>
                </a:rPr>
                <a:t>S</a:t>
              </a:r>
              <a:endParaRPr sz="3000" b="1" i="0" u="none" strike="noStrike" cap="none" dirty="0">
                <a:solidFill>
                  <a:srgbClr val="FFFFFF"/>
                </a:solidFill>
                <a:latin typeface="Georgia "/>
                <a:ea typeface="Georgia "/>
                <a:cs typeface="Georgia "/>
                <a:sym typeface="Georgia "/>
              </a:endParaRPr>
            </a:p>
          </p:txBody>
        </p:sp>
        <p:sp>
          <p:nvSpPr>
            <p:cNvPr id="27" name="Google Shape;108;p13">
              <a:extLst>
                <a:ext uri="{FF2B5EF4-FFF2-40B4-BE49-F238E27FC236}">
                  <a16:creationId xmlns:a16="http://schemas.microsoft.com/office/drawing/2014/main" id="{EC3A168B-CB7A-2C89-4A18-B22ADBA9B251}"/>
                </a:ext>
              </a:extLst>
            </p:cNvPr>
            <p:cNvSpPr/>
            <p:nvPr/>
          </p:nvSpPr>
          <p:spPr>
            <a:xfrm>
              <a:off x="7314383" y="2611747"/>
              <a:ext cx="1939491" cy="2581002"/>
            </a:xfrm>
            <a:custGeom>
              <a:avLst/>
              <a:gdLst/>
              <a:ahLst/>
              <a:cxnLst/>
              <a:rect l="l" t="t" r="r" b="b"/>
              <a:pathLst>
                <a:path w="29073" h="30817" extrusionOk="0">
                  <a:moveTo>
                    <a:pt x="185" y="0"/>
                  </a:moveTo>
                  <a:cubicBezTo>
                    <a:pt x="85" y="0"/>
                    <a:pt x="0" y="85"/>
                    <a:pt x="0" y="199"/>
                  </a:cubicBezTo>
                  <a:lnTo>
                    <a:pt x="0" y="30179"/>
                  </a:lnTo>
                  <a:cubicBezTo>
                    <a:pt x="0" y="30533"/>
                    <a:pt x="284" y="30816"/>
                    <a:pt x="624" y="30816"/>
                  </a:cubicBezTo>
                  <a:lnTo>
                    <a:pt x="28435" y="30816"/>
                  </a:lnTo>
                  <a:cubicBezTo>
                    <a:pt x="28789" y="30816"/>
                    <a:pt x="29073" y="30533"/>
                    <a:pt x="29073" y="30179"/>
                  </a:cubicBezTo>
                  <a:lnTo>
                    <a:pt x="29073" y="199"/>
                  </a:lnTo>
                  <a:cubicBezTo>
                    <a:pt x="29073" y="85"/>
                    <a:pt x="28988" y="0"/>
                    <a:pt x="28874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109;p13">
              <a:extLst>
                <a:ext uri="{FF2B5EF4-FFF2-40B4-BE49-F238E27FC236}">
                  <a16:creationId xmlns:a16="http://schemas.microsoft.com/office/drawing/2014/main" id="{9D5A5F43-96C9-F91A-5118-3B4B22861F15}"/>
                </a:ext>
              </a:extLst>
            </p:cNvPr>
            <p:cNvSpPr/>
            <p:nvPr/>
          </p:nvSpPr>
          <p:spPr>
            <a:xfrm>
              <a:off x="7526236" y="1767872"/>
              <a:ext cx="1514808" cy="1514675"/>
            </a:xfrm>
            <a:custGeom>
              <a:avLst/>
              <a:gdLst/>
              <a:ahLst/>
              <a:cxnLst/>
              <a:rect l="l" t="t" r="r" b="b"/>
              <a:pathLst>
                <a:path w="22707" h="22705" extrusionOk="0">
                  <a:moveTo>
                    <a:pt x="11361" y="0"/>
                  </a:moveTo>
                  <a:cubicBezTo>
                    <a:pt x="5078" y="0"/>
                    <a:pt x="1" y="5077"/>
                    <a:pt x="1" y="11345"/>
                  </a:cubicBezTo>
                  <a:cubicBezTo>
                    <a:pt x="1" y="17614"/>
                    <a:pt x="5078" y="22704"/>
                    <a:pt x="11361" y="22704"/>
                  </a:cubicBezTo>
                  <a:cubicBezTo>
                    <a:pt x="17629" y="22704"/>
                    <a:pt x="22706" y="17614"/>
                    <a:pt x="22706" y="11345"/>
                  </a:cubicBezTo>
                  <a:cubicBezTo>
                    <a:pt x="22706" y="5077"/>
                    <a:pt x="17629" y="0"/>
                    <a:pt x="113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110;p13">
              <a:extLst>
                <a:ext uri="{FF2B5EF4-FFF2-40B4-BE49-F238E27FC236}">
                  <a16:creationId xmlns:a16="http://schemas.microsoft.com/office/drawing/2014/main" id="{336C9430-10A2-E557-C0E3-841FBE548950}"/>
                </a:ext>
              </a:extLst>
            </p:cNvPr>
            <p:cNvSpPr/>
            <p:nvPr/>
          </p:nvSpPr>
          <p:spPr>
            <a:xfrm>
              <a:off x="7723025" y="1981671"/>
              <a:ext cx="1121212" cy="1086123"/>
            </a:xfrm>
            <a:custGeom>
              <a:avLst/>
              <a:gdLst/>
              <a:ahLst/>
              <a:cxnLst/>
              <a:rect l="l" t="t" r="r" b="b"/>
              <a:pathLst>
                <a:path w="16807" h="16281" extrusionOk="0">
                  <a:moveTo>
                    <a:pt x="8411" y="0"/>
                  </a:moveTo>
                  <a:cubicBezTo>
                    <a:pt x="3773" y="0"/>
                    <a:pt x="1" y="3644"/>
                    <a:pt x="1" y="8140"/>
                  </a:cubicBezTo>
                  <a:cubicBezTo>
                    <a:pt x="1" y="12635"/>
                    <a:pt x="3773" y="16281"/>
                    <a:pt x="8411" y="16281"/>
                  </a:cubicBezTo>
                  <a:cubicBezTo>
                    <a:pt x="13048" y="16281"/>
                    <a:pt x="16807" y="12635"/>
                    <a:pt x="16807" y="8140"/>
                  </a:cubicBezTo>
                  <a:cubicBezTo>
                    <a:pt x="16807" y="3644"/>
                    <a:pt x="13048" y="0"/>
                    <a:pt x="84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111;p13">
              <a:extLst>
                <a:ext uri="{FF2B5EF4-FFF2-40B4-BE49-F238E27FC236}">
                  <a16:creationId xmlns:a16="http://schemas.microsoft.com/office/drawing/2014/main" id="{72DEE451-1621-20E5-282A-3E3823E7F51B}"/>
                </a:ext>
              </a:extLst>
            </p:cNvPr>
            <p:cNvSpPr/>
            <p:nvPr/>
          </p:nvSpPr>
          <p:spPr>
            <a:xfrm>
              <a:off x="7924432" y="4930356"/>
              <a:ext cx="718124" cy="717190"/>
            </a:xfrm>
            <a:custGeom>
              <a:avLst/>
              <a:gdLst/>
              <a:ahLst/>
              <a:cxnLst/>
              <a:rect l="l" t="t" r="r" b="b"/>
              <a:pathLst>
                <a:path w="10765" h="10751" extrusionOk="0">
                  <a:moveTo>
                    <a:pt x="5390" y="0"/>
                  </a:moveTo>
                  <a:cubicBezTo>
                    <a:pt x="2412" y="0"/>
                    <a:pt x="1" y="2411"/>
                    <a:pt x="1" y="5375"/>
                  </a:cubicBezTo>
                  <a:cubicBezTo>
                    <a:pt x="1" y="8353"/>
                    <a:pt x="2412" y="10750"/>
                    <a:pt x="5390" y="10750"/>
                  </a:cubicBezTo>
                  <a:cubicBezTo>
                    <a:pt x="8353" y="10750"/>
                    <a:pt x="10764" y="8353"/>
                    <a:pt x="10764" y="5375"/>
                  </a:cubicBezTo>
                  <a:cubicBezTo>
                    <a:pt x="10764" y="2411"/>
                    <a:pt x="8353" y="0"/>
                    <a:pt x="53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112;p13">
              <a:extLst>
                <a:ext uri="{FF2B5EF4-FFF2-40B4-BE49-F238E27FC236}">
                  <a16:creationId xmlns:a16="http://schemas.microsoft.com/office/drawing/2014/main" id="{7335A40E-EE95-B6DC-3B48-3186D6568F68}"/>
                </a:ext>
              </a:extLst>
            </p:cNvPr>
            <p:cNvSpPr/>
            <p:nvPr/>
          </p:nvSpPr>
          <p:spPr>
            <a:xfrm>
              <a:off x="8246216" y="1624982"/>
              <a:ext cx="928152" cy="899799"/>
            </a:xfrm>
            <a:custGeom>
              <a:avLst/>
              <a:gdLst/>
              <a:ahLst/>
              <a:cxnLst/>
              <a:rect l="l" t="t" r="r" b="b"/>
              <a:pathLst>
                <a:path w="13913" h="13488" extrusionOk="0">
                  <a:moveTo>
                    <a:pt x="1" y="0"/>
                  </a:moveTo>
                  <a:lnTo>
                    <a:pt x="1" y="213"/>
                  </a:lnTo>
                  <a:cubicBezTo>
                    <a:pt x="7559" y="213"/>
                    <a:pt x="13700" y="6170"/>
                    <a:pt x="13700" y="13487"/>
                  </a:cubicBezTo>
                  <a:lnTo>
                    <a:pt x="13912" y="13487"/>
                  </a:lnTo>
                  <a:cubicBezTo>
                    <a:pt x="13912" y="6041"/>
                    <a:pt x="7672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113;p13">
              <a:extLst>
                <a:ext uri="{FF2B5EF4-FFF2-40B4-BE49-F238E27FC236}">
                  <a16:creationId xmlns:a16="http://schemas.microsoft.com/office/drawing/2014/main" id="{631226A2-53A1-2F0C-7794-02D3F9108E67}"/>
                </a:ext>
              </a:extLst>
            </p:cNvPr>
            <p:cNvSpPr txBox="1"/>
            <p:nvPr/>
          </p:nvSpPr>
          <p:spPr>
            <a:xfrm>
              <a:off x="7314359" y="3247700"/>
              <a:ext cx="1939647" cy="8888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A35"/>
                </a:buClr>
                <a:buSzPts val="1800"/>
                <a:buFont typeface="Georgia "/>
                <a:buNone/>
              </a:pPr>
              <a:r>
                <a:rPr lang="en-US" sz="1800" b="0" i="0" u="none" strike="noStrike" cap="none" dirty="0">
                  <a:solidFill>
                    <a:srgbClr val="222A35"/>
                  </a:solidFill>
                  <a:latin typeface="Georgia "/>
                  <a:ea typeface="Georgia "/>
                  <a:cs typeface="Georgia "/>
                  <a:sym typeface="Georgia "/>
                </a:rPr>
                <a:t>Genotypic AST</a:t>
              </a:r>
              <a:endParaRPr lang="en-US" dirty="0"/>
            </a:p>
          </p:txBody>
        </p:sp>
        <p:sp>
          <p:nvSpPr>
            <p:cNvPr id="33" name="Google Shape;114;p13">
              <a:extLst>
                <a:ext uri="{FF2B5EF4-FFF2-40B4-BE49-F238E27FC236}">
                  <a16:creationId xmlns:a16="http://schemas.microsoft.com/office/drawing/2014/main" id="{04B45942-88C7-F758-42A5-7B3FF6523FA9}"/>
                </a:ext>
              </a:extLst>
            </p:cNvPr>
            <p:cNvSpPr txBox="1"/>
            <p:nvPr/>
          </p:nvSpPr>
          <p:spPr>
            <a:xfrm>
              <a:off x="7920040" y="4849060"/>
              <a:ext cx="700489" cy="4905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Georgia "/>
                <a:buNone/>
              </a:pPr>
              <a:r>
                <a:rPr lang="en-US" sz="3000" b="1" i="0" u="none" strike="noStrike" cap="none" dirty="0">
                  <a:solidFill>
                    <a:srgbClr val="FFFFFF"/>
                  </a:solidFill>
                  <a:latin typeface="Georgia "/>
                  <a:ea typeface="Georgia "/>
                  <a:cs typeface="Georgia "/>
                  <a:sym typeface="Georgia "/>
                </a:rPr>
                <a:t>A</a:t>
              </a:r>
              <a:endParaRPr sz="3000" b="1" i="0" u="none" strike="noStrike" cap="none" dirty="0">
                <a:solidFill>
                  <a:srgbClr val="FFFFFF"/>
                </a:solidFill>
                <a:latin typeface="Georgia "/>
                <a:ea typeface="Georgia "/>
                <a:cs typeface="Georgia "/>
                <a:sym typeface="Georgia "/>
              </a:endParaRPr>
            </a:p>
          </p:txBody>
        </p:sp>
        <p:sp>
          <p:nvSpPr>
            <p:cNvPr id="34" name="Google Shape;115;p13">
              <a:extLst>
                <a:ext uri="{FF2B5EF4-FFF2-40B4-BE49-F238E27FC236}">
                  <a16:creationId xmlns:a16="http://schemas.microsoft.com/office/drawing/2014/main" id="{AC963796-17E7-BDEF-2C5D-B3F11B788E3F}"/>
                </a:ext>
              </a:extLst>
            </p:cNvPr>
            <p:cNvSpPr/>
            <p:nvPr/>
          </p:nvSpPr>
          <p:spPr>
            <a:xfrm>
              <a:off x="9411539" y="2611747"/>
              <a:ext cx="1939491" cy="2581002"/>
            </a:xfrm>
            <a:custGeom>
              <a:avLst/>
              <a:gdLst/>
              <a:ahLst/>
              <a:cxnLst/>
              <a:rect l="l" t="t" r="r" b="b"/>
              <a:pathLst>
                <a:path w="29073" h="30817" extrusionOk="0">
                  <a:moveTo>
                    <a:pt x="185" y="0"/>
                  </a:moveTo>
                  <a:cubicBezTo>
                    <a:pt x="85" y="0"/>
                    <a:pt x="0" y="85"/>
                    <a:pt x="0" y="199"/>
                  </a:cubicBezTo>
                  <a:lnTo>
                    <a:pt x="0" y="30179"/>
                  </a:lnTo>
                  <a:cubicBezTo>
                    <a:pt x="0" y="30533"/>
                    <a:pt x="284" y="30816"/>
                    <a:pt x="624" y="30816"/>
                  </a:cubicBezTo>
                  <a:lnTo>
                    <a:pt x="28435" y="30816"/>
                  </a:lnTo>
                  <a:cubicBezTo>
                    <a:pt x="28789" y="30816"/>
                    <a:pt x="29073" y="30533"/>
                    <a:pt x="29073" y="30179"/>
                  </a:cubicBezTo>
                  <a:lnTo>
                    <a:pt x="29073" y="199"/>
                  </a:lnTo>
                  <a:cubicBezTo>
                    <a:pt x="29073" y="85"/>
                    <a:pt x="28988" y="0"/>
                    <a:pt x="28874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116;p13">
              <a:extLst>
                <a:ext uri="{FF2B5EF4-FFF2-40B4-BE49-F238E27FC236}">
                  <a16:creationId xmlns:a16="http://schemas.microsoft.com/office/drawing/2014/main" id="{17ECE5C7-173E-909C-77EE-5EF6D389A09D}"/>
                </a:ext>
              </a:extLst>
            </p:cNvPr>
            <p:cNvSpPr/>
            <p:nvPr/>
          </p:nvSpPr>
          <p:spPr>
            <a:xfrm>
              <a:off x="9623391" y="1767872"/>
              <a:ext cx="1514808" cy="1514675"/>
            </a:xfrm>
            <a:custGeom>
              <a:avLst/>
              <a:gdLst/>
              <a:ahLst/>
              <a:cxnLst/>
              <a:rect l="l" t="t" r="r" b="b"/>
              <a:pathLst>
                <a:path w="22707" h="22705" extrusionOk="0">
                  <a:moveTo>
                    <a:pt x="11361" y="0"/>
                  </a:moveTo>
                  <a:cubicBezTo>
                    <a:pt x="5078" y="0"/>
                    <a:pt x="1" y="5077"/>
                    <a:pt x="1" y="11345"/>
                  </a:cubicBezTo>
                  <a:cubicBezTo>
                    <a:pt x="1" y="17614"/>
                    <a:pt x="5078" y="22704"/>
                    <a:pt x="11361" y="22704"/>
                  </a:cubicBezTo>
                  <a:cubicBezTo>
                    <a:pt x="17629" y="22704"/>
                    <a:pt x="22706" y="17614"/>
                    <a:pt x="22706" y="11345"/>
                  </a:cubicBezTo>
                  <a:cubicBezTo>
                    <a:pt x="22706" y="5077"/>
                    <a:pt x="17629" y="0"/>
                    <a:pt x="113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117;p13">
              <a:extLst>
                <a:ext uri="{FF2B5EF4-FFF2-40B4-BE49-F238E27FC236}">
                  <a16:creationId xmlns:a16="http://schemas.microsoft.com/office/drawing/2014/main" id="{8C3F1B71-725E-15D7-46E4-7C71F58281EF}"/>
                </a:ext>
              </a:extLst>
            </p:cNvPr>
            <p:cNvSpPr/>
            <p:nvPr/>
          </p:nvSpPr>
          <p:spPr>
            <a:xfrm>
              <a:off x="9820181" y="1981671"/>
              <a:ext cx="1121212" cy="1086123"/>
            </a:xfrm>
            <a:custGeom>
              <a:avLst/>
              <a:gdLst/>
              <a:ahLst/>
              <a:cxnLst/>
              <a:rect l="l" t="t" r="r" b="b"/>
              <a:pathLst>
                <a:path w="16807" h="16281" extrusionOk="0">
                  <a:moveTo>
                    <a:pt x="8411" y="0"/>
                  </a:moveTo>
                  <a:cubicBezTo>
                    <a:pt x="3773" y="0"/>
                    <a:pt x="1" y="3644"/>
                    <a:pt x="1" y="8140"/>
                  </a:cubicBezTo>
                  <a:cubicBezTo>
                    <a:pt x="1" y="12635"/>
                    <a:pt x="3773" y="16281"/>
                    <a:pt x="8411" y="16281"/>
                  </a:cubicBezTo>
                  <a:cubicBezTo>
                    <a:pt x="13048" y="16281"/>
                    <a:pt x="16807" y="12635"/>
                    <a:pt x="16807" y="8140"/>
                  </a:cubicBezTo>
                  <a:cubicBezTo>
                    <a:pt x="16807" y="3644"/>
                    <a:pt x="13048" y="0"/>
                    <a:pt x="84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118;p13">
              <a:extLst>
                <a:ext uri="{FF2B5EF4-FFF2-40B4-BE49-F238E27FC236}">
                  <a16:creationId xmlns:a16="http://schemas.microsoft.com/office/drawing/2014/main" id="{E9AFF215-B108-8214-CB9F-C583B06FFE27}"/>
                </a:ext>
              </a:extLst>
            </p:cNvPr>
            <p:cNvSpPr/>
            <p:nvPr/>
          </p:nvSpPr>
          <p:spPr>
            <a:xfrm>
              <a:off x="10021588" y="4930356"/>
              <a:ext cx="718124" cy="717190"/>
            </a:xfrm>
            <a:custGeom>
              <a:avLst/>
              <a:gdLst/>
              <a:ahLst/>
              <a:cxnLst/>
              <a:rect l="l" t="t" r="r" b="b"/>
              <a:pathLst>
                <a:path w="10765" h="10751" extrusionOk="0">
                  <a:moveTo>
                    <a:pt x="5390" y="0"/>
                  </a:moveTo>
                  <a:cubicBezTo>
                    <a:pt x="2412" y="0"/>
                    <a:pt x="1" y="2411"/>
                    <a:pt x="1" y="5375"/>
                  </a:cubicBezTo>
                  <a:cubicBezTo>
                    <a:pt x="1" y="8353"/>
                    <a:pt x="2412" y="10750"/>
                    <a:pt x="5390" y="10750"/>
                  </a:cubicBezTo>
                  <a:cubicBezTo>
                    <a:pt x="8353" y="10750"/>
                    <a:pt x="10764" y="8353"/>
                    <a:pt x="10764" y="5375"/>
                  </a:cubicBezTo>
                  <a:cubicBezTo>
                    <a:pt x="10764" y="2411"/>
                    <a:pt x="8353" y="0"/>
                    <a:pt x="53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119;p13">
              <a:extLst>
                <a:ext uri="{FF2B5EF4-FFF2-40B4-BE49-F238E27FC236}">
                  <a16:creationId xmlns:a16="http://schemas.microsoft.com/office/drawing/2014/main" id="{63836D59-094F-EB8E-6481-2FD996C97B23}"/>
                </a:ext>
              </a:extLst>
            </p:cNvPr>
            <p:cNvSpPr/>
            <p:nvPr/>
          </p:nvSpPr>
          <p:spPr>
            <a:xfrm>
              <a:off x="10343371" y="1624982"/>
              <a:ext cx="928152" cy="899799"/>
            </a:xfrm>
            <a:custGeom>
              <a:avLst/>
              <a:gdLst/>
              <a:ahLst/>
              <a:cxnLst/>
              <a:rect l="l" t="t" r="r" b="b"/>
              <a:pathLst>
                <a:path w="13913" h="13488" extrusionOk="0">
                  <a:moveTo>
                    <a:pt x="1" y="0"/>
                  </a:moveTo>
                  <a:lnTo>
                    <a:pt x="1" y="213"/>
                  </a:lnTo>
                  <a:cubicBezTo>
                    <a:pt x="7559" y="213"/>
                    <a:pt x="13700" y="6170"/>
                    <a:pt x="13700" y="13487"/>
                  </a:cubicBezTo>
                  <a:lnTo>
                    <a:pt x="13912" y="13487"/>
                  </a:lnTo>
                  <a:cubicBezTo>
                    <a:pt x="13912" y="6041"/>
                    <a:pt x="7672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120;p13">
              <a:extLst>
                <a:ext uri="{FF2B5EF4-FFF2-40B4-BE49-F238E27FC236}">
                  <a16:creationId xmlns:a16="http://schemas.microsoft.com/office/drawing/2014/main" id="{C2EE100B-C98C-5447-3EF6-7E2DDDAFF680}"/>
                </a:ext>
              </a:extLst>
            </p:cNvPr>
            <p:cNvSpPr txBox="1"/>
            <p:nvPr/>
          </p:nvSpPr>
          <p:spPr>
            <a:xfrm>
              <a:off x="9411517" y="3275498"/>
              <a:ext cx="1939647" cy="4592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A35"/>
                </a:buClr>
                <a:buSzPts val="1800"/>
                <a:buFont typeface="Georgia "/>
                <a:buNone/>
              </a:pPr>
              <a:r>
                <a:rPr lang="en-US" sz="1600" b="0" i="0" u="none" strike="noStrike" cap="none" dirty="0">
                  <a:solidFill>
                    <a:srgbClr val="222A35"/>
                  </a:solidFill>
                  <a:latin typeface="Georgia "/>
                  <a:ea typeface="Georgia "/>
                  <a:cs typeface="Georgia "/>
                  <a:sym typeface="Georgia "/>
                </a:rPr>
                <a:t>Phylogenetic analyses</a:t>
              </a:r>
              <a:endParaRPr lang="en-US" sz="1600" dirty="0"/>
            </a:p>
          </p:txBody>
        </p:sp>
        <p:sp>
          <p:nvSpPr>
            <p:cNvPr id="40" name="Google Shape;121;p13">
              <a:extLst>
                <a:ext uri="{FF2B5EF4-FFF2-40B4-BE49-F238E27FC236}">
                  <a16:creationId xmlns:a16="http://schemas.microsoft.com/office/drawing/2014/main" id="{DA64C91E-1A3C-DC1F-57A0-DEAE3507E95E}"/>
                </a:ext>
              </a:extLst>
            </p:cNvPr>
            <p:cNvSpPr txBox="1"/>
            <p:nvPr/>
          </p:nvSpPr>
          <p:spPr>
            <a:xfrm>
              <a:off x="10058891" y="4835167"/>
              <a:ext cx="700489" cy="4905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Georgia "/>
                <a:buNone/>
              </a:pPr>
              <a:r>
                <a:rPr lang="en-US" sz="3000" b="1" dirty="0">
                  <a:solidFill>
                    <a:srgbClr val="FFFFFF"/>
                  </a:solidFill>
                  <a:latin typeface="Georgia "/>
                  <a:ea typeface="Georgia "/>
                  <a:cs typeface="Georgia "/>
                  <a:sym typeface="Georgia "/>
                </a:rPr>
                <a:t>P</a:t>
              </a:r>
              <a:endParaRPr sz="3000" b="1" i="0" u="none" strike="noStrike" cap="none" dirty="0">
                <a:solidFill>
                  <a:srgbClr val="FFFFFF"/>
                </a:solidFill>
                <a:latin typeface="Georgia "/>
                <a:ea typeface="Georgia "/>
                <a:cs typeface="Georgia "/>
                <a:sym typeface="Georgia "/>
              </a:endParaRPr>
            </a:p>
          </p:txBody>
        </p:sp>
        <p:sp>
          <p:nvSpPr>
            <p:cNvPr id="41" name="Google Shape;122;p13">
              <a:extLst>
                <a:ext uri="{FF2B5EF4-FFF2-40B4-BE49-F238E27FC236}">
                  <a16:creationId xmlns:a16="http://schemas.microsoft.com/office/drawing/2014/main" id="{AC7B9E49-F7AC-7C47-A2FB-77FEFD72015B}"/>
                </a:ext>
              </a:extLst>
            </p:cNvPr>
            <p:cNvSpPr/>
            <p:nvPr/>
          </p:nvSpPr>
          <p:spPr>
            <a:xfrm>
              <a:off x="3758091" y="2371343"/>
              <a:ext cx="374952" cy="30677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618" y="20400"/>
                  </a:moveTo>
                  <a:lnTo>
                    <a:pt x="18655" y="20400"/>
                  </a:lnTo>
                  <a:lnTo>
                    <a:pt x="18655" y="1200"/>
                  </a:lnTo>
                  <a:lnTo>
                    <a:pt x="20618" y="1200"/>
                  </a:lnTo>
                  <a:cubicBezTo>
                    <a:pt x="20618" y="1200"/>
                    <a:pt x="20618" y="20400"/>
                    <a:pt x="20618" y="20400"/>
                  </a:cubicBezTo>
                  <a:close/>
                  <a:moveTo>
                    <a:pt x="21109" y="0"/>
                  </a:moveTo>
                  <a:lnTo>
                    <a:pt x="18164" y="0"/>
                  </a:lnTo>
                  <a:cubicBezTo>
                    <a:pt x="17893" y="0"/>
                    <a:pt x="17673" y="269"/>
                    <a:pt x="17673" y="600"/>
                  </a:cubicBezTo>
                  <a:lnTo>
                    <a:pt x="17673" y="21000"/>
                  </a:lnTo>
                  <a:cubicBezTo>
                    <a:pt x="17673" y="21332"/>
                    <a:pt x="17893" y="21600"/>
                    <a:pt x="18164" y="21600"/>
                  </a:cubicBezTo>
                  <a:lnTo>
                    <a:pt x="21109" y="21600"/>
                  </a:lnTo>
                  <a:cubicBezTo>
                    <a:pt x="21380" y="21600"/>
                    <a:pt x="21600" y="21332"/>
                    <a:pt x="21600" y="21000"/>
                  </a:cubicBezTo>
                  <a:lnTo>
                    <a:pt x="21600" y="600"/>
                  </a:lnTo>
                  <a:cubicBezTo>
                    <a:pt x="21600" y="269"/>
                    <a:pt x="21380" y="0"/>
                    <a:pt x="21109" y="0"/>
                  </a:cubicBezTo>
                  <a:moveTo>
                    <a:pt x="8836" y="20400"/>
                  </a:moveTo>
                  <a:lnTo>
                    <a:pt x="6873" y="20400"/>
                  </a:lnTo>
                  <a:lnTo>
                    <a:pt x="6873" y="3600"/>
                  </a:lnTo>
                  <a:lnTo>
                    <a:pt x="8836" y="3600"/>
                  </a:lnTo>
                  <a:cubicBezTo>
                    <a:pt x="8836" y="3600"/>
                    <a:pt x="8836" y="20400"/>
                    <a:pt x="8836" y="20400"/>
                  </a:cubicBezTo>
                  <a:close/>
                  <a:moveTo>
                    <a:pt x="9327" y="2400"/>
                  </a:moveTo>
                  <a:lnTo>
                    <a:pt x="6382" y="2400"/>
                  </a:lnTo>
                  <a:cubicBezTo>
                    <a:pt x="6111" y="2400"/>
                    <a:pt x="5891" y="2669"/>
                    <a:pt x="5891" y="3000"/>
                  </a:cubicBezTo>
                  <a:lnTo>
                    <a:pt x="5891" y="21000"/>
                  </a:lnTo>
                  <a:cubicBezTo>
                    <a:pt x="5891" y="21332"/>
                    <a:pt x="6111" y="21600"/>
                    <a:pt x="6382" y="21600"/>
                  </a:cubicBezTo>
                  <a:lnTo>
                    <a:pt x="9327" y="21600"/>
                  </a:lnTo>
                  <a:cubicBezTo>
                    <a:pt x="9598" y="21600"/>
                    <a:pt x="9818" y="21332"/>
                    <a:pt x="9818" y="21000"/>
                  </a:cubicBezTo>
                  <a:lnTo>
                    <a:pt x="9818" y="3000"/>
                  </a:lnTo>
                  <a:cubicBezTo>
                    <a:pt x="9818" y="2669"/>
                    <a:pt x="9598" y="2400"/>
                    <a:pt x="9327" y="2400"/>
                  </a:cubicBezTo>
                  <a:moveTo>
                    <a:pt x="14727" y="20400"/>
                  </a:moveTo>
                  <a:lnTo>
                    <a:pt x="12764" y="20400"/>
                  </a:lnTo>
                  <a:lnTo>
                    <a:pt x="12764" y="10800"/>
                  </a:lnTo>
                  <a:lnTo>
                    <a:pt x="14727" y="10800"/>
                  </a:lnTo>
                  <a:cubicBezTo>
                    <a:pt x="14727" y="10800"/>
                    <a:pt x="14727" y="20400"/>
                    <a:pt x="14727" y="20400"/>
                  </a:cubicBezTo>
                  <a:close/>
                  <a:moveTo>
                    <a:pt x="15218" y="9600"/>
                  </a:moveTo>
                  <a:lnTo>
                    <a:pt x="12273" y="9600"/>
                  </a:lnTo>
                  <a:cubicBezTo>
                    <a:pt x="12002" y="9600"/>
                    <a:pt x="11782" y="9869"/>
                    <a:pt x="11782" y="10200"/>
                  </a:cubicBezTo>
                  <a:lnTo>
                    <a:pt x="11782" y="21000"/>
                  </a:lnTo>
                  <a:cubicBezTo>
                    <a:pt x="11782" y="21332"/>
                    <a:pt x="12002" y="21600"/>
                    <a:pt x="12273" y="21600"/>
                  </a:cubicBezTo>
                  <a:lnTo>
                    <a:pt x="15218" y="21600"/>
                  </a:lnTo>
                  <a:cubicBezTo>
                    <a:pt x="15489" y="21600"/>
                    <a:pt x="15709" y="21332"/>
                    <a:pt x="15709" y="21000"/>
                  </a:cubicBezTo>
                  <a:lnTo>
                    <a:pt x="15709" y="10200"/>
                  </a:lnTo>
                  <a:cubicBezTo>
                    <a:pt x="15709" y="9869"/>
                    <a:pt x="15489" y="9600"/>
                    <a:pt x="15218" y="9600"/>
                  </a:cubicBezTo>
                  <a:moveTo>
                    <a:pt x="2945" y="20400"/>
                  </a:moveTo>
                  <a:lnTo>
                    <a:pt x="982" y="20400"/>
                  </a:lnTo>
                  <a:lnTo>
                    <a:pt x="982" y="14400"/>
                  </a:lnTo>
                  <a:lnTo>
                    <a:pt x="2945" y="14400"/>
                  </a:lnTo>
                  <a:cubicBezTo>
                    <a:pt x="2945" y="14400"/>
                    <a:pt x="2945" y="20400"/>
                    <a:pt x="2945" y="20400"/>
                  </a:cubicBezTo>
                  <a:close/>
                  <a:moveTo>
                    <a:pt x="3436" y="13200"/>
                  </a:moveTo>
                  <a:lnTo>
                    <a:pt x="491" y="13200"/>
                  </a:lnTo>
                  <a:cubicBezTo>
                    <a:pt x="220" y="13200"/>
                    <a:pt x="0" y="13469"/>
                    <a:pt x="0" y="13800"/>
                  </a:cubicBezTo>
                  <a:lnTo>
                    <a:pt x="0" y="21000"/>
                  </a:lnTo>
                  <a:cubicBezTo>
                    <a:pt x="0" y="21332"/>
                    <a:pt x="220" y="21600"/>
                    <a:pt x="491" y="21600"/>
                  </a:cubicBezTo>
                  <a:lnTo>
                    <a:pt x="3436" y="21600"/>
                  </a:lnTo>
                  <a:cubicBezTo>
                    <a:pt x="3707" y="21600"/>
                    <a:pt x="3927" y="21332"/>
                    <a:pt x="3927" y="21000"/>
                  </a:cubicBezTo>
                  <a:lnTo>
                    <a:pt x="3927" y="13800"/>
                  </a:lnTo>
                  <a:cubicBezTo>
                    <a:pt x="3927" y="13469"/>
                    <a:pt x="3707" y="13200"/>
                    <a:pt x="3436" y="1320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123;p13">
              <a:extLst>
                <a:ext uri="{FF2B5EF4-FFF2-40B4-BE49-F238E27FC236}">
                  <a16:creationId xmlns:a16="http://schemas.microsoft.com/office/drawing/2014/main" id="{72CC9FAA-66B5-5BD6-5C81-2F5D093D40AA}"/>
                </a:ext>
              </a:extLst>
            </p:cNvPr>
            <p:cNvSpPr/>
            <p:nvPr/>
          </p:nvSpPr>
          <p:spPr>
            <a:xfrm>
              <a:off x="8096155" y="2337256"/>
              <a:ext cx="374952" cy="37495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9327" y="17673"/>
                  </a:moveTo>
                  <a:cubicBezTo>
                    <a:pt x="4718" y="17673"/>
                    <a:pt x="982" y="13936"/>
                    <a:pt x="982" y="9327"/>
                  </a:cubicBezTo>
                  <a:cubicBezTo>
                    <a:pt x="982" y="4718"/>
                    <a:pt x="4718" y="982"/>
                    <a:pt x="9327" y="982"/>
                  </a:cubicBezTo>
                  <a:cubicBezTo>
                    <a:pt x="13936" y="982"/>
                    <a:pt x="17673" y="4718"/>
                    <a:pt x="17673" y="9327"/>
                  </a:cubicBezTo>
                  <a:cubicBezTo>
                    <a:pt x="17673" y="13936"/>
                    <a:pt x="13936" y="17673"/>
                    <a:pt x="9327" y="17673"/>
                  </a:cubicBezTo>
                  <a:moveTo>
                    <a:pt x="21456" y="20762"/>
                  </a:moveTo>
                  <a:lnTo>
                    <a:pt x="16253" y="15559"/>
                  </a:lnTo>
                  <a:cubicBezTo>
                    <a:pt x="17741" y="13907"/>
                    <a:pt x="18655" y="11726"/>
                    <a:pt x="18655" y="9327"/>
                  </a:cubicBezTo>
                  <a:cubicBezTo>
                    <a:pt x="18655" y="4176"/>
                    <a:pt x="14479" y="0"/>
                    <a:pt x="9327" y="0"/>
                  </a:cubicBezTo>
                  <a:cubicBezTo>
                    <a:pt x="4176" y="0"/>
                    <a:pt x="0" y="4176"/>
                    <a:pt x="0" y="9327"/>
                  </a:cubicBezTo>
                  <a:cubicBezTo>
                    <a:pt x="0" y="14479"/>
                    <a:pt x="4176" y="18655"/>
                    <a:pt x="9327" y="18655"/>
                  </a:cubicBezTo>
                  <a:cubicBezTo>
                    <a:pt x="11726" y="18655"/>
                    <a:pt x="13907" y="17742"/>
                    <a:pt x="15559" y="16253"/>
                  </a:cubicBezTo>
                  <a:lnTo>
                    <a:pt x="20762" y="21456"/>
                  </a:lnTo>
                  <a:cubicBezTo>
                    <a:pt x="20851" y="21546"/>
                    <a:pt x="20973" y="21600"/>
                    <a:pt x="21109" y="21600"/>
                  </a:cubicBezTo>
                  <a:cubicBezTo>
                    <a:pt x="21380" y="21600"/>
                    <a:pt x="21600" y="21381"/>
                    <a:pt x="21600" y="21109"/>
                  </a:cubicBezTo>
                  <a:cubicBezTo>
                    <a:pt x="21600" y="20974"/>
                    <a:pt x="21545" y="20851"/>
                    <a:pt x="21456" y="2076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3" name="Google Shape;132;p13">
              <a:extLst>
                <a:ext uri="{FF2B5EF4-FFF2-40B4-BE49-F238E27FC236}">
                  <a16:creationId xmlns:a16="http://schemas.microsoft.com/office/drawing/2014/main" id="{8FAB80DA-9CEB-8FEE-EEEF-A973BB4D812B}"/>
                </a:ext>
              </a:extLst>
            </p:cNvPr>
            <p:cNvCxnSpPr/>
            <p:nvPr/>
          </p:nvCxnSpPr>
          <p:spPr>
            <a:xfrm>
              <a:off x="1908478" y="2349046"/>
              <a:ext cx="0" cy="0"/>
            </a:xfrm>
            <a:prstGeom prst="straightConnector1">
              <a:avLst/>
            </a:prstGeom>
            <a:noFill/>
            <a:ln w="12700" cap="rnd" cmpd="sng">
              <a:solidFill>
                <a:srgbClr val="13030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4" name="Google Shape;140;p13">
              <a:extLst>
                <a:ext uri="{FF2B5EF4-FFF2-40B4-BE49-F238E27FC236}">
                  <a16:creationId xmlns:a16="http://schemas.microsoft.com/office/drawing/2014/main" id="{025CF073-9AF6-A330-FFCE-FC673154DCAF}"/>
                </a:ext>
              </a:extLst>
            </p:cNvPr>
            <p:cNvSpPr txBox="1"/>
            <p:nvPr/>
          </p:nvSpPr>
          <p:spPr>
            <a:xfrm>
              <a:off x="807659" y="4127621"/>
              <a:ext cx="2009519" cy="5542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238"/>
                </a:buClr>
                <a:buSzPts val="1200"/>
                <a:buFont typeface="Geo"/>
                <a:buNone/>
              </a:pPr>
              <a:r>
                <a:rPr lang="en-US" sz="1200" b="0" i="0" u="none" strike="noStrike" cap="none" dirty="0">
                  <a:solidFill>
                    <a:srgbClr val="263238"/>
                  </a:solidFill>
                  <a:latin typeface="Geo"/>
                  <a:ea typeface="Geo"/>
                  <a:cs typeface="Geo"/>
                  <a:sym typeface="Geo"/>
                </a:rPr>
                <a:t>Metadata design and collection</a:t>
              </a: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141;p13">
              <a:extLst>
                <a:ext uri="{FF2B5EF4-FFF2-40B4-BE49-F238E27FC236}">
                  <a16:creationId xmlns:a16="http://schemas.microsoft.com/office/drawing/2014/main" id="{BEAAD2F6-F470-C2B3-9D83-0FD8C4606DA2}"/>
                </a:ext>
              </a:extLst>
            </p:cNvPr>
            <p:cNvSpPr txBox="1"/>
            <p:nvPr/>
          </p:nvSpPr>
          <p:spPr>
            <a:xfrm>
              <a:off x="2960134" y="4126824"/>
              <a:ext cx="2009519" cy="5542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238"/>
                </a:buClr>
                <a:buSzPts val="1200"/>
                <a:buFont typeface="Geo"/>
                <a:buNone/>
              </a:pPr>
              <a:r>
                <a:rPr lang="en-US" sz="1200" b="0" i="0" u="none" strike="noStrike" cap="none" dirty="0">
                  <a:solidFill>
                    <a:srgbClr val="263238"/>
                  </a:solidFill>
                  <a:latin typeface="Geo"/>
                  <a:ea typeface="Geo"/>
                  <a:cs typeface="Geo"/>
                  <a:sym typeface="Geo"/>
                </a:rPr>
                <a:t>Isolation, culture, disc diffusion</a:t>
              </a: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142;p13">
              <a:extLst>
                <a:ext uri="{FF2B5EF4-FFF2-40B4-BE49-F238E27FC236}">
                  <a16:creationId xmlns:a16="http://schemas.microsoft.com/office/drawing/2014/main" id="{1F30FAD6-FFC4-4B53-4BC8-3BFAE48AC766}"/>
                </a:ext>
              </a:extLst>
            </p:cNvPr>
            <p:cNvSpPr txBox="1"/>
            <p:nvPr/>
          </p:nvSpPr>
          <p:spPr>
            <a:xfrm>
              <a:off x="5084517" y="4156354"/>
              <a:ext cx="2009519" cy="6525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238"/>
                </a:buClr>
                <a:buSzPts val="1200"/>
                <a:buFont typeface="Geo"/>
                <a:buNone/>
              </a:pPr>
              <a:r>
                <a:rPr lang="en-US" sz="1200" b="0" i="0" u="none" strike="noStrike" cap="none" dirty="0">
                  <a:solidFill>
                    <a:srgbClr val="263238"/>
                  </a:solidFill>
                  <a:latin typeface="Geo"/>
                  <a:ea typeface="Geo"/>
                  <a:cs typeface="Geo"/>
                  <a:sym typeface="Geo"/>
                </a:rPr>
                <a:t>Illumina &amp; ONT, genomic QC</a:t>
              </a: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143;p13">
              <a:extLst>
                <a:ext uri="{FF2B5EF4-FFF2-40B4-BE49-F238E27FC236}">
                  <a16:creationId xmlns:a16="http://schemas.microsoft.com/office/drawing/2014/main" id="{B1C869C9-AB86-0804-FDD7-39EA568B024D}"/>
                </a:ext>
              </a:extLst>
            </p:cNvPr>
            <p:cNvSpPr txBox="1"/>
            <p:nvPr/>
          </p:nvSpPr>
          <p:spPr>
            <a:xfrm>
              <a:off x="7266405" y="4082446"/>
              <a:ext cx="2009519" cy="913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238"/>
                </a:buClr>
                <a:buSzPts val="1200"/>
                <a:buFont typeface="Geo"/>
                <a:buNone/>
              </a:pPr>
              <a:r>
                <a:rPr lang="en-US" sz="1200" b="0" i="0" u="none" strike="noStrike" cap="none" dirty="0">
                  <a:solidFill>
                    <a:srgbClr val="263238"/>
                  </a:solidFill>
                  <a:latin typeface="Geo"/>
                  <a:ea typeface="Geo"/>
                  <a:cs typeface="Geo"/>
                  <a:sym typeface="Geo"/>
                </a:rPr>
                <a:t>AMR bioinformatic detection and metagenomics</a:t>
              </a:r>
              <a:endPara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144;p13">
              <a:extLst>
                <a:ext uri="{FF2B5EF4-FFF2-40B4-BE49-F238E27FC236}">
                  <a16:creationId xmlns:a16="http://schemas.microsoft.com/office/drawing/2014/main" id="{841EFD5D-C456-477E-F7B4-22D953895E2F}"/>
                </a:ext>
              </a:extLst>
            </p:cNvPr>
            <p:cNvSpPr txBox="1"/>
            <p:nvPr/>
          </p:nvSpPr>
          <p:spPr>
            <a:xfrm>
              <a:off x="9263378" y="4070148"/>
              <a:ext cx="2208758" cy="913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238"/>
                </a:buClr>
                <a:buSzPts val="1200"/>
                <a:buFont typeface="Geo"/>
                <a:buNone/>
              </a:pPr>
              <a:r>
                <a:rPr lang="en-US" sz="1200" dirty="0">
                  <a:solidFill>
                    <a:srgbClr val="263238"/>
                  </a:solidFill>
                  <a:latin typeface="Geo"/>
                  <a:ea typeface="Geo"/>
                  <a:cs typeface="Geo"/>
                  <a:sym typeface="Geo"/>
                </a:rPr>
                <a:t>A</a:t>
              </a:r>
              <a:r>
                <a:rPr lang="en-US" sz="1200" b="0" i="0" u="none" strike="noStrike" cap="none" dirty="0">
                  <a:solidFill>
                    <a:srgbClr val="263238"/>
                  </a:solidFill>
                  <a:latin typeface="Geo"/>
                  <a:ea typeface="Geo"/>
                  <a:cs typeface="Geo"/>
                  <a:sym typeface="Geo"/>
                </a:rPr>
                <a:t>lignment and variant calling, phylogenetic reconstruction</a:t>
              </a:r>
              <a:endPara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9" name="Picture 48">
            <a:extLst>
              <a:ext uri="{FF2B5EF4-FFF2-40B4-BE49-F238E27FC236}">
                <a16:creationId xmlns:a16="http://schemas.microsoft.com/office/drawing/2014/main" id="{78900721-C519-DA4B-DB79-DD880CD0F8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702" y="2430817"/>
            <a:ext cx="427833" cy="427833"/>
          </a:xfrm>
          <a:prstGeom prst="rect">
            <a:avLst/>
          </a:prstGeom>
        </p:spPr>
      </p:pic>
      <p:pic>
        <p:nvPicPr>
          <p:cNvPr id="50" name="Picture 49" descr="A diagram of a circle with black circles&#10;&#10;Description automatically generated">
            <a:extLst>
              <a:ext uri="{FF2B5EF4-FFF2-40B4-BE49-F238E27FC236}">
                <a16:creationId xmlns:a16="http://schemas.microsoft.com/office/drawing/2014/main" id="{2B409522-846D-066D-1BF9-0F336B1B4D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324" t="9368" r="27541" b="45815"/>
          <a:stretch/>
        </p:blipFill>
        <p:spPr>
          <a:xfrm>
            <a:off x="3501765" y="2373744"/>
            <a:ext cx="524216" cy="549023"/>
          </a:xfrm>
          <a:prstGeom prst="rect">
            <a:avLst/>
          </a:prstGeom>
          <a:noFill/>
          <a:ln w="22225">
            <a:noFill/>
          </a:ln>
        </p:spPr>
      </p:pic>
      <p:pic>
        <p:nvPicPr>
          <p:cNvPr id="51" name="Picture 2" descr="Nanopore store: MinION">
            <a:extLst>
              <a:ext uri="{FF2B5EF4-FFF2-40B4-BE49-F238E27FC236}">
                <a16:creationId xmlns:a16="http://schemas.microsoft.com/office/drawing/2014/main" id="{3F2278F4-C32E-B045-027C-63DEFB92C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6754" y="2471043"/>
            <a:ext cx="541463" cy="399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 descr="figure 3">
            <a:extLst>
              <a:ext uri="{FF2B5EF4-FFF2-40B4-BE49-F238E27FC236}">
                <a16:creationId xmlns:a16="http://schemas.microsoft.com/office/drawing/2014/main" id="{47C2C455-3F80-06E1-37A1-50D90FD589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52" t="38209" r="19041" b="42682"/>
          <a:stretch/>
        </p:blipFill>
        <p:spPr bwMode="auto">
          <a:xfrm>
            <a:off x="8007759" y="2381656"/>
            <a:ext cx="583982" cy="51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F2AB7FED-B7D4-4B1E-9E36-1A28F153F660}"/>
              </a:ext>
            </a:extLst>
          </p:cNvPr>
          <p:cNvSpPr txBox="1"/>
          <p:nvPr/>
        </p:nvSpPr>
        <p:spPr>
          <a:xfrm>
            <a:off x="1624571" y="4988059"/>
            <a:ext cx="11379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 err="1">
                <a:latin typeface="Georgia" panose="02040502050405020303" pitchFamily="18" charset="0"/>
              </a:rPr>
              <a:t>Epicollect</a:t>
            </a:r>
            <a:endParaRPr lang="en-GB" b="1" dirty="0">
              <a:latin typeface="Georgia" panose="02040502050405020303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C554D90-0DA1-47B1-F42E-228FE60E796E}"/>
              </a:ext>
            </a:extLst>
          </p:cNvPr>
          <p:cNvSpPr txBox="1"/>
          <p:nvPr/>
        </p:nvSpPr>
        <p:spPr>
          <a:xfrm>
            <a:off x="3377103" y="5002817"/>
            <a:ext cx="703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Georgia" panose="02040502050405020303" pitchFamily="18" charset="0"/>
              </a:rPr>
              <a:t>LP1</a:t>
            </a:r>
            <a:endParaRPr lang="en-GB" b="1" dirty="0">
              <a:latin typeface="Georgia" panose="02040502050405020303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A3CD90B-7A80-B333-78AB-F9B22CBEE89C}"/>
              </a:ext>
            </a:extLst>
          </p:cNvPr>
          <p:cNvSpPr txBox="1"/>
          <p:nvPr/>
        </p:nvSpPr>
        <p:spPr>
          <a:xfrm>
            <a:off x="4535984" y="5002817"/>
            <a:ext cx="18037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Georgia" panose="02040502050405020303" pitchFamily="18" charset="0"/>
              </a:rPr>
              <a:t>LP2, CP1, CP2</a:t>
            </a:r>
            <a:endParaRPr lang="en-GB" b="1" dirty="0">
              <a:latin typeface="Georgia" panose="02040502050405020303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368DB82-CBB0-4C4E-1DE9-C94A978246FD}"/>
              </a:ext>
            </a:extLst>
          </p:cNvPr>
          <p:cNvSpPr txBox="1"/>
          <p:nvPr/>
        </p:nvSpPr>
        <p:spPr>
          <a:xfrm>
            <a:off x="6172779" y="4995784"/>
            <a:ext cx="17271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Georgia" panose="02040502050405020303" pitchFamily="18" charset="0"/>
              </a:rPr>
              <a:t>CP6, CP7, CP8</a:t>
            </a:r>
            <a:endParaRPr lang="en-GB" b="1" dirty="0">
              <a:latin typeface="Georgia" panose="02040502050405020303" pitchFamily="18" charset="0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4F29456-F7C0-3A2E-AD13-2D8DB9E9652B}"/>
              </a:ext>
            </a:extLst>
          </p:cNvPr>
          <p:cNvGrpSpPr/>
          <p:nvPr/>
        </p:nvGrpSpPr>
        <p:grpSpPr>
          <a:xfrm>
            <a:off x="9085431" y="2006170"/>
            <a:ext cx="1421574" cy="2845642"/>
            <a:chOff x="9071112" y="2056142"/>
            <a:chExt cx="1673738" cy="3350412"/>
          </a:xfrm>
        </p:grpSpPr>
        <p:sp>
          <p:nvSpPr>
            <p:cNvPr id="58" name="Google Shape;115;p13">
              <a:extLst>
                <a:ext uri="{FF2B5EF4-FFF2-40B4-BE49-F238E27FC236}">
                  <a16:creationId xmlns:a16="http://schemas.microsoft.com/office/drawing/2014/main" id="{993EA3B0-9799-0B15-90AD-F5D6281BA240}"/>
                </a:ext>
              </a:extLst>
            </p:cNvPr>
            <p:cNvSpPr/>
            <p:nvPr/>
          </p:nvSpPr>
          <p:spPr>
            <a:xfrm>
              <a:off x="9110636" y="2878023"/>
              <a:ext cx="1615411" cy="2149728"/>
            </a:xfrm>
            <a:custGeom>
              <a:avLst/>
              <a:gdLst/>
              <a:ahLst/>
              <a:cxnLst/>
              <a:rect l="l" t="t" r="r" b="b"/>
              <a:pathLst>
                <a:path w="29073" h="30817" extrusionOk="0">
                  <a:moveTo>
                    <a:pt x="185" y="0"/>
                  </a:moveTo>
                  <a:cubicBezTo>
                    <a:pt x="85" y="0"/>
                    <a:pt x="0" y="85"/>
                    <a:pt x="0" y="199"/>
                  </a:cubicBezTo>
                  <a:lnTo>
                    <a:pt x="0" y="30179"/>
                  </a:lnTo>
                  <a:cubicBezTo>
                    <a:pt x="0" y="30533"/>
                    <a:pt x="284" y="30816"/>
                    <a:pt x="624" y="30816"/>
                  </a:cubicBezTo>
                  <a:lnTo>
                    <a:pt x="28435" y="30816"/>
                  </a:lnTo>
                  <a:cubicBezTo>
                    <a:pt x="28789" y="30816"/>
                    <a:pt x="29073" y="30533"/>
                    <a:pt x="29073" y="30179"/>
                  </a:cubicBezTo>
                  <a:lnTo>
                    <a:pt x="29073" y="199"/>
                  </a:lnTo>
                  <a:cubicBezTo>
                    <a:pt x="29073" y="85"/>
                    <a:pt x="28988" y="0"/>
                    <a:pt x="28874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116;p13">
              <a:extLst>
                <a:ext uri="{FF2B5EF4-FFF2-40B4-BE49-F238E27FC236}">
                  <a16:creationId xmlns:a16="http://schemas.microsoft.com/office/drawing/2014/main" id="{081ECBD9-13EB-4F2A-7D30-93BB5D7D2A96}"/>
                </a:ext>
              </a:extLst>
            </p:cNvPr>
            <p:cNvSpPr/>
            <p:nvPr/>
          </p:nvSpPr>
          <p:spPr>
            <a:xfrm>
              <a:off x="9287089" y="2175156"/>
              <a:ext cx="1261691" cy="1261580"/>
            </a:xfrm>
            <a:custGeom>
              <a:avLst/>
              <a:gdLst/>
              <a:ahLst/>
              <a:cxnLst/>
              <a:rect l="l" t="t" r="r" b="b"/>
              <a:pathLst>
                <a:path w="22707" h="22705" extrusionOk="0">
                  <a:moveTo>
                    <a:pt x="11361" y="0"/>
                  </a:moveTo>
                  <a:cubicBezTo>
                    <a:pt x="5078" y="0"/>
                    <a:pt x="1" y="5077"/>
                    <a:pt x="1" y="11345"/>
                  </a:cubicBezTo>
                  <a:cubicBezTo>
                    <a:pt x="1" y="17614"/>
                    <a:pt x="5078" y="22704"/>
                    <a:pt x="11361" y="22704"/>
                  </a:cubicBezTo>
                  <a:cubicBezTo>
                    <a:pt x="17629" y="22704"/>
                    <a:pt x="22706" y="17614"/>
                    <a:pt x="22706" y="11345"/>
                  </a:cubicBezTo>
                  <a:cubicBezTo>
                    <a:pt x="22706" y="5077"/>
                    <a:pt x="17629" y="0"/>
                    <a:pt x="1136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118;p13">
              <a:extLst>
                <a:ext uri="{FF2B5EF4-FFF2-40B4-BE49-F238E27FC236}">
                  <a16:creationId xmlns:a16="http://schemas.microsoft.com/office/drawing/2014/main" id="{39F03876-05AD-C916-0193-A07BA12D4440}"/>
                </a:ext>
              </a:extLst>
            </p:cNvPr>
            <p:cNvSpPr/>
            <p:nvPr/>
          </p:nvSpPr>
          <p:spPr>
            <a:xfrm>
              <a:off x="9618749" y="4809203"/>
              <a:ext cx="598129" cy="597351"/>
            </a:xfrm>
            <a:custGeom>
              <a:avLst/>
              <a:gdLst/>
              <a:ahLst/>
              <a:cxnLst/>
              <a:rect l="l" t="t" r="r" b="b"/>
              <a:pathLst>
                <a:path w="10765" h="10751" extrusionOk="0">
                  <a:moveTo>
                    <a:pt x="5390" y="0"/>
                  </a:moveTo>
                  <a:cubicBezTo>
                    <a:pt x="2412" y="0"/>
                    <a:pt x="1" y="2411"/>
                    <a:pt x="1" y="5375"/>
                  </a:cubicBezTo>
                  <a:cubicBezTo>
                    <a:pt x="1" y="8353"/>
                    <a:pt x="2412" y="10750"/>
                    <a:pt x="5390" y="10750"/>
                  </a:cubicBezTo>
                  <a:cubicBezTo>
                    <a:pt x="8353" y="10750"/>
                    <a:pt x="10764" y="8353"/>
                    <a:pt x="10764" y="5375"/>
                  </a:cubicBezTo>
                  <a:cubicBezTo>
                    <a:pt x="10764" y="2411"/>
                    <a:pt x="8353" y="0"/>
                    <a:pt x="53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119;p13">
              <a:extLst>
                <a:ext uri="{FF2B5EF4-FFF2-40B4-BE49-F238E27FC236}">
                  <a16:creationId xmlns:a16="http://schemas.microsoft.com/office/drawing/2014/main" id="{0519D9EA-9164-4225-0727-9A88BCD7EAB5}"/>
                </a:ext>
              </a:extLst>
            </p:cNvPr>
            <p:cNvSpPr/>
            <p:nvPr/>
          </p:nvSpPr>
          <p:spPr>
            <a:xfrm>
              <a:off x="9886764" y="2056142"/>
              <a:ext cx="773062" cy="749447"/>
            </a:xfrm>
            <a:custGeom>
              <a:avLst/>
              <a:gdLst/>
              <a:ahLst/>
              <a:cxnLst/>
              <a:rect l="l" t="t" r="r" b="b"/>
              <a:pathLst>
                <a:path w="13913" h="13488" extrusionOk="0">
                  <a:moveTo>
                    <a:pt x="1" y="0"/>
                  </a:moveTo>
                  <a:lnTo>
                    <a:pt x="1" y="213"/>
                  </a:lnTo>
                  <a:cubicBezTo>
                    <a:pt x="7559" y="213"/>
                    <a:pt x="13700" y="6170"/>
                    <a:pt x="13700" y="13487"/>
                  </a:cubicBezTo>
                  <a:lnTo>
                    <a:pt x="13912" y="13487"/>
                  </a:lnTo>
                  <a:cubicBezTo>
                    <a:pt x="13912" y="6041"/>
                    <a:pt x="7672" y="0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121;p13">
              <a:extLst>
                <a:ext uri="{FF2B5EF4-FFF2-40B4-BE49-F238E27FC236}">
                  <a16:creationId xmlns:a16="http://schemas.microsoft.com/office/drawing/2014/main" id="{3E9E10EF-B7E2-4B68-6FFE-69339CD372B8}"/>
                </a:ext>
              </a:extLst>
            </p:cNvPr>
            <p:cNvSpPr txBox="1"/>
            <p:nvPr/>
          </p:nvSpPr>
          <p:spPr>
            <a:xfrm>
              <a:off x="9626668" y="4741496"/>
              <a:ext cx="583441" cy="4085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Georgia "/>
                <a:buNone/>
              </a:pPr>
              <a:r>
                <a:rPr lang="en-US" sz="3000" b="1" dirty="0">
                  <a:solidFill>
                    <a:srgbClr val="FFFFFF"/>
                  </a:solidFill>
                  <a:latin typeface="Georgia "/>
                  <a:ea typeface="Georgia "/>
                  <a:cs typeface="Georgia "/>
                  <a:sym typeface="Georgia "/>
                </a:rPr>
                <a:t>I</a:t>
              </a:r>
              <a:endParaRPr sz="3000" b="1" i="0" u="none" strike="noStrike" cap="none" dirty="0">
                <a:solidFill>
                  <a:srgbClr val="FFFFFF"/>
                </a:solidFill>
                <a:latin typeface="Georgia "/>
                <a:ea typeface="Georgia "/>
                <a:cs typeface="Georgia "/>
                <a:sym typeface="Georgia "/>
              </a:endParaRPr>
            </a:p>
          </p:txBody>
        </p:sp>
        <p:sp>
          <p:nvSpPr>
            <p:cNvPr id="63" name="Google Shape;117;p13">
              <a:extLst>
                <a:ext uri="{FF2B5EF4-FFF2-40B4-BE49-F238E27FC236}">
                  <a16:creationId xmlns:a16="http://schemas.microsoft.com/office/drawing/2014/main" id="{A53ACAA0-048F-93A9-91C6-893144C7D7EA}"/>
                </a:ext>
              </a:extLst>
            </p:cNvPr>
            <p:cNvSpPr/>
            <p:nvPr/>
          </p:nvSpPr>
          <p:spPr>
            <a:xfrm>
              <a:off x="9450881" y="2348308"/>
              <a:ext cx="933863" cy="904637"/>
            </a:xfrm>
            <a:custGeom>
              <a:avLst/>
              <a:gdLst/>
              <a:ahLst/>
              <a:cxnLst/>
              <a:rect l="l" t="t" r="r" b="b"/>
              <a:pathLst>
                <a:path w="16807" h="16281" extrusionOk="0">
                  <a:moveTo>
                    <a:pt x="8411" y="0"/>
                  </a:moveTo>
                  <a:cubicBezTo>
                    <a:pt x="3773" y="0"/>
                    <a:pt x="1" y="3644"/>
                    <a:pt x="1" y="8140"/>
                  </a:cubicBezTo>
                  <a:cubicBezTo>
                    <a:pt x="1" y="12635"/>
                    <a:pt x="3773" y="16281"/>
                    <a:pt x="8411" y="16281"/>
                  </a:cubicBezTo>
                  <a:cubicBezTo>
                    <a:pt x="13048" y="16281"/>
                    <a:pt x="16807" y="12635"/>
                    <a:pt x="16807" y="8140"/>
                  </a:cubicBezTo>
                  <a:cubicBezTo>
                    <a:pt x="16807" y="3644"/>
                    <a:pt x="13048" y="0"/>
                    <a:pt x="84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120;p13">
              <a:extLst>
                <a:ext uri="{FF2B5EF4-FFF2-40B4-BE49-F238E27FC236}">
                  <a16:creationId xmlns:a16="http://schemas.microsoft.com/office/drawing/2014/main" id="{375376C0-6316-1E7B-B48D-87ECD6B7B87F}"/>
                </a:ext>
              </a:extLst>
            </p:cNvPr>
            <p:cNvSpPr txBox="1"/>
            <p:nvPr/>
          </p:nvSpPr>
          <p:spPr>
            <a:xfrm>
              <a:off x="9100784" y="3397874"/>
              <a:ext cx="1615541" cy="3824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A35"/>
                </a:buClr>
                <a:buSzPts val="1800"/>
                <a:buFont typeface="Georgia "/>
                <a:buNone/>
              </a:pPr>
              <a:r>
                <a:rPr lang="en-US" sz="1800" b="0" i="0" u="none" strike="noStrike" cap="none" dirty="0">
                  <a:solidFill>
                    <a:srgbClr val="222A35"/>
                  </a:solidFill>
                  <a:latin typeface="Georgia "/>
                  <a:ea typeface="Georgia "/>
                  <a:cs typeface="Georgia "/>
                  <a:sym typeface="Georgia "/>
                </a:rPr>
                <a:t>Data integration</a:t>
              </a:r>
              <a:endParaRPr dirty="0"/>
            </a:p>
          </p:txBody>
        </p:sp>
        <p:sp>
          <p:nvSpPr>
            <p:cNvPr id="65" name="Google Shape;144;p13">
              <a:extLst>
                <a:ext uri="{FF2B5EF4-FFF2-40B4-BE49-F238E27FC236}">
                  <a16:creationId xmlns:a16="http://schemas.microsoft.com/office/drawing/2014/main" id="{D9914953-6B68-3950-BC86-41441D5B8072}"/>
                </a:ext>
              </a:extLst>
            </p:cNvPr>
            <p:cNvSpPr txBox="1"/>
            <p:nvPr/>
          </p:nvSpPr>
          <p:spPr>
            <a:xfrm>
              <a:off x="9071112" y="4233388"/>
              <a:ext cx="1673738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238"/>
                </a:buClr>
                <a:buSzPts val="1200"/>
                <a:buFont typeface="Geo"/>
                <a:buNone/>
              </a:pPr>
              <a:r>
                <a:rPr lang="en-US" sz="1200" b="0" i="0" u="none" strike="noStrike" cap="none" dirty="0" err="1">
                  <a:solidFill>
                    <a:srgbClr val="263238"/>
                  </a:solidFill>
                  <a:latin typeface="Geo"/>
                  <a:ea typeface="Geo"/>
                  <a:cs typeface="Geo"/>
                  <a:sym typeface="Geo"/>
                </a:rPr>
                <a:t>Epicollect</a:t>
              </a:r>
              <a:r>
                <a:rPr lang="en-US" sz="1200" b="0" i="0" u="none" strike="noStrike" cap="none" dirty="0">
                  <a:solidFill>
                    <a:srgbClr val="263238"/>
                  </a:solidFill>
                  <a:latin typeface="Geo"/>
                  <a:ea typeface="Geo"/>
                  <a:cs typeface="Geo"/>
                  <a:sym typeface="Geo"/>
                </a:rPr>
                <a:t>, </a:t>
              </a:r>
              <a:r>
                <a:rPr lang="en-US" sz="1200" b="0" i="0" u="none" strike="noStrike" cap="none" dirty="0" err="1">
                  <a:solidFill>
                    <a:srgbClr val="263238"/>
                  </a:solidFill>
                  <a:latin typeface="Geo"/>
                  <a:ea typeface="Geo"/>
                  <a:cs typeface="Geo"/>
                  <a:sym typeface="Geo"/>
                </a:rPr>
                <a:t>Microreact</a:t>
              </a: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6" name="Picture 4" descr="Microreact - Open data visualization and sharing for genomic epidemiology">
            <a:extLst>
              <a:ext uri="{FF2B5EF4-FFF2-40B4-BE49-F238E27FC236}">
                <a16:creationId xmlns:a16="http://schemas.microsoft.com/office/drawing/2014/main" id="{63AF27B6-2BC5-EA2D-621F-1B2717717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9086" y="2353676"/>
            <a:ext cx="599777" cy="599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Right Arrow 66">
            <a:extLst>
              <a:ext uri="{FF2B5EF4-FFF2-40B4-BE49-F238E27FC236}">
                <a16:creationId xmlns:a16="http://schemas.microsoft.com/office/drawing/2014/main" id="{7F61E776-8761-6558-3A2B-7AF8C0BD3C12}"/>
              </a:ext>
            </a:extLst>
          </p:cNvPr>
          <p:cNvSpPr/>
          <p:nvPr/>
        </p:nvSpPr>
        <p:spPr>
          <a:xfrm>
            <a:off x="2479894" y="4530079"/>
            <a:ext cx="1041514" cy="206087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Right Arrow 67">
            <a:extLst>
              <a:ext uri="{FF2B5EF4-FFF2-40B4-BE49-F238E27FC236}">
                <a16:creationId xmlns:a16="http://schemas.microsoft.com/office/drawing/2014/main" id="{559CB18D-EA4A-4FA5-F95D-0377150545BA}"/>
              </a:ext>
            </a:extLst>
          </p:cNvPr>
          <p:cNvSpPr/>
          <p:nvPr/>
        </p:nvSpPr>
        <p:spPr>
          <a:xfrm>
            <a:off x="4008998" y="4515224"/>
            <a:ext cx="1041514" cy="206087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Right Arrow 68">
            <a:extLst>
              <a:ext uri="{FF2B5EF4-FFF2-40B4-BE49-F238E27FC236}">
                <a16:creationId xmlns:a16="http://schemas.microsoft.com/office/drawing/2014/main" id="{2DDDF6EE-6499-237E-EADC-68287B72D41F}"/>
              </a:ext>
            </a:extLst>
          </p:cNvPr>
          <p:cNvSpPr/>
          <p:nvPr/>
        </p:nvSpPr>
        <p:spPr>
          <a:xfrm>
            <a:off x="5548194" y="4519313"/>
            <a:ext cx="1041514" cy="206087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Right Arrow 69">
            <a:extLst>
              <a:ext uri="{FF2B5EF4-FFF2-40B4-BE49-F238E27FC236}">
                <a16:creationId xmlns:a16="http://schemas.microsoft.com/office/drawing/2014/main" id="{E651293A-78B5-A074-E9AC-BCEF764B5099}"/>
              </a:ext>
            </a:extLst>
          </p:cNvPr>
          <p:cNvSpPr/>
          <p:nvPr/>
        </p:nvSpPr>
        <p:spPr>
          <a:xfrm>
            <a:off x="7078563" y="4515224"/>
            <a:ext cx="974514" cy="206087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Right Arrow 70">
            <a:extLst>
              <a:ext uri="{FF2B5EF4-FFF2-40B4-BE49-F238E27FC236}">
                <a16:creationId xmlns:a16="http://schemas.microsoft.com/office/drawing/2014/main" id="{62C8718D-A08E-DDE7-5A00-36AE5C9CE6A3}"/>
              </a:ext>
            </a:extLst>
          </p:cNvPr>
          <p:cNvSpPr/>
          <p:nvPr/>
        </p:nvSpPr>
        <p:spPr>
          <a:xfrm>
            <a:off x="8568798" y="4518741"/>
            <a:ext cx="974514" cy="206087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43422A4-33C6-942C-B1B8-E0FFE9A1648D}"/>
              </a:ext>
            </a:extLst>
          </p:cNvPr>
          <p:cNvSpPr txBox="1"/>
          <p:nvPr/>
        </p:nvSpPr>
        <p:spPr>
          <a:xfrm>
            <a:off x="7669212" y="4980555"/>
            <a:ext cx="1727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Georgia" panose="02040502050405020303" pitchFamily="18" charset="0"/>
              </a:rPr>
              <a:t>CP3, CP4, CP5,</a:t>
            </a:r>
          </a:p>
          <a:p>
            <a:r>
              <a:rPr lang="en-GB" sz="1400" b="1" dirty="0">
                <a:latin typeface="Georgia" panose="02040502050405020303" pitchFamily="18" charset="0"/>
              </a:rPr>
              <a:t>CP9, CP11</a:t>
            </a:r>
            <a:endParaRPr lang="en-GB" b="1" dirty="0">
              <a:latin typeface="Georgia" panose="02040502050405020303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9228374-5B5A-64DC-F522-C20C838A1009}"/>
              </a:ext>
            </a:extLst>
          </p:cNvPr>
          <p:cNvSpPr txBox="1"/>
          <p:nvPr/>
        </p:nvSpPr>
        <p:spPr>
          <a:xfrm>
            <a:off x="9268869" y="4975949"/>
            <a:ext cx="17271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Georgia" panose="02040502050405020303" pitchFamily="18" charset="0"/>
              </a:rPr>
              <a:t>CP10, GP</a:t>
            </a:r>
            <a:endParaRPr lang="en-GB" b="1" dirty="0">
              <a:latin typeface="Georgia" panose="020405020504050203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9E7BC8-10B8-FDDA-0F9F-4665FEDB428B}"/>
              </a:ext>
            </a:extLst>
          </p:cNvPr>
          <p:cNvSpPr/>
          <p:nvPr/>
        </p:nvSpPr>
        <p:spPr>
          <a:xfrm>
            <a:off x="6056811" y="1227907"/>
            <a:ext cx="1573212" cy="5159829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9362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0F16E55-1106-9F45-88E0-253CA4E1282B}"/>
              </a:ext>
            </a:extLst>
          </p:cNvPr>
          <p:cNvSpPr/>
          <p:nvPr/>
        </p:nvSpPr>
        <p:spPr>
          <a:xfrm>
            <a:off x="942529" y="1624663"/>
            <a:ext cx="551369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2000" dirty="0">
                <a:latin typeface="Corbel" panose="020B0503020204020204" pitchFamily="34" charset="0"/>
              </a:rPr>
              <a:t>AST is routinely performed using culture-based methods, such as disk diffusion, broth microdilution or gradient diffusion (the E-test). </a:t>
            </a:r>
          </a:p>
        </p:txBody>
      </p:sp>
      <p:pic>
        <p:nvPicPr>
          <p:cNvPr id="7" name="Picture 6" descr="A picture containing indoor, wheel&#10;&#10;Description automatically generated">
            <a:extLst>
              <a:ext uri="{FF2B5EF4-FFF2-40B4-BE49-F238E27FC236}">
                <a16:creationId xmlns:a16="http://schemas.microsoft.com/office/drawing/2014/main" id="{71801429-23BB-AC4A-9EBA-B72AE1C48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720" y="1624663"/>
            <a:ext cx="4485191" cy="1781456"/>
          </a:xfrm>
          <a:prstGeom prst="rect">
            <a:avLst/>
          </a:prstGeom>
        </p:spPr>
      </p:pic>
      <p:pic>
        <p:nvPicPr>
          <p:cNvPr id="5122" name="Picture 2" descr="Antimicrobial Susceptibility Testing – are we heading towards global  standardisation?">
            <a:extLst>
              <a:ext uri="{FF2B5EF4-FFF2-40B4-BE49-F238E27FC236}">
                <a16:creationId xmlns:a16="http://schemas.microsoft.com/office/drawing/2014/main" id="{AFD1417C-917F-3B45-A432-8D65BFF33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157" y="3368678"/>
            <a:ext cx="3475398" cy="2603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1CC0DD-64AA-7F4B-0EDF-8C2DE44BB03A}"/>
              </a:ext>
            </a:extLst>
          </p:cNvPr>
          <p:cNvSpPr txBox="1">
            <a:spLocks/>
          </p:cNvSpPr>
          <p:nvPr/>
        </p:nvSpPr>
        <p:spPr>
          <a:xfrm>
            <a:off x="896229" y="43207"/>
            <a:ext cx="1055554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700" kern="1200" baseline="0">
                <a:solidFill>
                  <a:srgbClr val="000000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r>
              <a:rPr lang="en-GB" sz="2800" b="1" dirty="0">
                <a:latin typeface="Corbel" panose="020B0503020204020204" pitchFamily="34" charset="0"/>
              </a:rPr>
              <a:t>Commercial phenotypic AMR detection assays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DCE58E-BC49-ABB2-0358-8DE83FD0A464}"/>
              </a:ext>
            </a:extLst>
          </p:cNvPr>
          <p:cNvSpPr txBox="1"/>
          <p:nvPr/>
        </p:nvSpPr>
        <p:spPr>
          <a:xfrm>
            <a:off x="942528" y="1013116"/>
            <a:ext cx="76063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latin typeface="Corbel" panose="020B0503020204020204" pitchFamily="34" charset="0"/>
              </a:rPr>
              <a:t>Routine culture-based AST</a:t>
            </a:r>
            <a:endParaRPr lang="en-GB" sz="2000" dirty="0">
              <a:effectLst/>
              <a:latin typeface="Corbel" panose="020B0503020204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30404E-78D4-1D90-7DA5-11C3C2460072}"/>
              </a:ext>
            </a:extLst>
          </p:cNvPr>
          <p:cNvSpPr/>
          <p:nvPr/>
        </p:nvSpPr>
        <p:spPr>
          <a:xfrm>
            <a:off x="9587842" y="5504377"/>
            <a:ext cx="2155371" cy="122464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orbel" panose="020B0503020204020204" pitchFamily="34" charset="0"/>
            </a:endParaRPr>
          </a:p>
        </p:txBody>
      </p: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AA7A046C-7894-974D-AE4E-57E699FD17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1517" y="3870338"/>
            <a:ext cx="5840394" cy="26876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20187F1-DC34-E203-A9CE-A60313C88985}"/>
              </a:ext>
            </a:extLst>
          </p:cNvPr>
          <p:cNvSpPr txBox="1"/>
          <p:nvPr/>
        </p:nvSpPr>
        <p:spPr>
          <a:xfrm>
            <a:off x="896229" y="60409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Corbel" panose="020B0503020204020204" pitchFamily="34" charset="0"/>
              </a:rPr>
              <a:t>Broth microdilution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BF6996-9CED-4023-43D7-A4EC07922DDF}"/>
              </a:ext>
            </a:extLst>
          </p:cNvPr>
          <p:cNvSpPr txBox="1"/>
          <p:nvPr/>
        </p:nvSpPr>
        <p:spPr>
          <a:xfrm>
            <a:off x="5355771" y="64197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Corbel" panose="020B0503020204020204" pitchFamily="34" charset="0"/>
              </a:rPr>
              <a:t>E-test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F36B40-09E6-9907-4F38-E9F2C377F7D4}"/>
              </a:ext>
            </a:extLst>
          </p:cNvPr>
          <p:cNvSpPr txBox="1"/>
          <p:nvPr/>
        </p:nvSpPr>
        <p:spPr>
          <a:xfrm>
            <a:off x="6616720" y="34674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Corbel" panose="020B0503020204020204" pitchFamily="34" charset="0"/>
              </a:rPr>
              <a:t>Disk diffusion</a:t>
            </a:r>
          </a:p>
        </p:txBody>
      </p:sp>
    </p:spTree>
    <p:extLst>
      <p:ext uri="{BB962C8B-B14F-4D97-AF65-F5344CB8AC3E}">
        <p14:creationId xmlns:p14="http://schemas.microsoft.com/office/powerpoint/2010/main" val="3719738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311"/>
    </mc:Choice>
    <mc:Fallback xmlns="">
      <p:transition spd="slow" advTm="6331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311DD-C532-BDDA-BAE9-9F71B11BC829}"/>
              </a:ext>
            </a:extLst>
          </p:cNvPr>
          <p:cNvSpPr txBox="1">
            <a:spLocks/>
          </p:cNvSpPr>
          <p:nvPr/>
        </p:nvSpPr>
        <p:spPr>
          <a:xfrm>
            <a:off x="896229" y="43207"/>
            <a:ext cx="1055554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700" kern="1200" baseline="0">
                <a:solidFill>
                  <a:srgbClr val="000000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r>
              <a:rPr lang="en-GB" sz="2800" b="1" dirty="0">
                <a:latin typeface="Corbel" panose="020B0503020204020204" pitchFamily="34" charset="0"/>
              </a:rPr>
              <a:t>Approaches for AMR genotypic determination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F3D4E7-2FA0-212B-80C1-8B0626F2DB91}"/>
              </a:ext>
            </a:extLst>
          </p:cNvPr>
          <p:cNvSpPr/>
          <p:nvPr/>
        </p:nvSpPr>
        <p:spPr>
          <a:xfrm>
            <a:off x="9587842" y="5504377"/>
            <a:ext cx="2155371" cy="122464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orbel" panose="020B0503020204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B2F4B1-17D1-82C9-800C-A864DA75F66A}"/>
              </a:ext>
            </a:extLst>
          </p:cNvPr>
          <p:cNvSpPr/>
          <p:nvPr/>
        </p:nvSpPr>
        <p:spPr>
          <a:xfrm>
            <a:off x="425857" y="1117859"/>
            <a:ext cx="1149628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03770" lvl="1" indent="-285750">
              <a:spcAft>
                <a:spcPts val="600"/>
              </a:spcAft>
              <a:buFont typeface="Wingdings" pitchFamily="2" charset="2"/>
              <a:buChar char="à"/>
            </a:pPr>
            <a:r>
              <a:rPr lang="en-GB" sz="2000" dirty="0">
                <a:latin typeface="Corbel" panose="020B0503020204020204" pitchFamily="34" charset="0"/>
                <a:cs typeface="Calibri" panose="020F0502020204030204" pitchFamily="34" charset="0"/>
                <a:sym typeface="Wingdings" pitchFamily="2" charset="2"/>
              </a:rPr>
              <a:t>Look-up table and rule-based approaches</a:t>
            </a:r>
          </a:p>
        </p:txBody>
      </p:sp>
      <p:pic>
        <p:nvPicPr>
          <p:cNvPr id="9" name="Picture 8" descr="Table&#10;&#10;Description automatically generated">
            <a:extLst>
              <a:ext uri="{FF2B5EF4-FFF2-40B4-BE49-F238E27FC236}">
                <a16:creationId xmlns:a16="http://schemas.microsoft.com/office/drawing/2014/main" id="{D88CD2D7-940F-89CD-4A9F-547574169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865" y="1479662"/>
            <a:ext cx="5324348" cy="3171075"/>
          </a:xfrm>
          <a:prstGeom prst="rect">
            <a:avLst/>
          </a:prstGeom>
        </p:spPr>
      </p:pic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0C4228F4-CA5A-83EC-8DD6-ACF9DC026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599" y="3906451"/>
            <a:ext cx="5420329" cy="226548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227032B-37C0-7F27-7816-4133796D72BC}"/>
              </a:ext>
            </a:extLst>
          </p:cNvPr>
          <p:cNvSpPr/>
          <p:nvPr/>
        </p:nvSpPr>
        <p:spPr>
          <a:xfrm>
            <a:off x="888599" y="6300616"/>
            <a:ext cx="113034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latin typeface="Corbel" panose="020B0503020204020204" pitchFamily="34" charset="0"/>
                <a:sym typeface="Wingdings"/>
              </a:rPr>
              <a:t>Gordon, N. C. </a:t>
            </a:r>
            <a:r>
              <a:rPr lang="en-GB" sz="1400" i="1" dirty="0">
                <a:latin typeface="Corbel" panose="020B0503020204020204" pitchFamily="34" charset="0"/>
                <a:sym typeface="Wingdings"/>
              </a:rPr>
              <a:t>et al. </a:t>
            </a:r>
            <a:r>
              <a:rPr lang="en-GB" sz="1400" dirty="0">
                <a:latin typeface="Corbel" panose="020B0503020204020204" pitchFamily="34" charset="0"/>
                <a:sym typeface="Wingdings"/>
              </a:rPr>
              <a:t>Prediction of </a:t>
            </a:r>
            <a:r>
              <a:rPr lang="en-GB" sz="1400" i="1" dirty="0">
                <a:latin typeface="Corbel" panose="020B0503020204020204" pitchFamily="34" charset="0"/>
                <a:sym typeface="Wingdings"/>
              </a:rPr>
              <a:t>Staphylococcus aureus </a:t>
            </a:r>
            <a:r>
              <a:rPr lang="en-GB" sz="1400" dirty="0">
                <a:latin typeface="Corbel" panose="020B0503020204020204" pitchFamily="34" charset="0"/>
                <a:sym typeface="Wingdings"/>
              </a:rPr>
              <a:t>Antimicrobial Resistance by Whole-Genome Sequencing. Journal of Clinical Microbiology 52, 1182–1191 (2014).</a:t>
            </a:r>
          </a:p>
        </p:txBody>
      </p:sp>
      <p:pic>
        <p:nvPicPr>
          <p:cNvPr id="4" name="Picture 3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62121336-362F-4C99-EE3C-C4B121F291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986" y="1620798"/>
            <a:ext cx="5102750" cy="2150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563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955"/>
    </mc:Choice>
    <mc:Fallback xmlns="">
      <p:transition spd="slow" advTm="7095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311DD-C532-BDDA-BAE9-9F71B11BC829}"/>
              </a:ext>
            </a:extLst>
          </p:cNvPr>
          <p:cNvSpPr txBox="1">
            <a:spLocks/>
          </p:cNvSpPr>
          <p:nvPr/>
        </p:nvSpPr>
        <p:spPr>
          <a:xfrm>
            <a:off x="896229" y="43207"/>
            <a:ext cx="1055554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700" kern="1200" baseline="0">
                <a:solidFill>
                  <a:srgbClr val="000000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r>
              <a:rPr lang="en-GB" sz="2800" b="1" dirty="0">
                <a:latin typeface="Corbel" panose="020B0503020204020204" pitchFamily="34" charset="0"/>
              </a:rPr>
              <a:t>Available databases and tools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F3D4E7-2FA0-212B-80C1-8B0626F2DB91}"/>
              </a:ext>
            </a:extLst>
          </p:cNvPr>
          <p:cNvSpPr/>
          <p:nvPr/>
        </p:nvSpPr>
        <p:spPr>
          <a:xfrm>
            <a:off x="9587842" y="5504377"/>
            <a:ext cx="2155371" cy="122464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orbel" panose="020B0503020204020204" pitchFamily="34" charset="0"/>
            </a:endParaRPr>
          </a:p>
        </p:txBody>
      </p:sp>
      <p:pic>
        <p:nvPicPr>
          <p:cNvPr id="1026" name="Picture 2" descr="GitHub - arpcard/rgi: Resistance Gene Identifier (RGI). Software to predict  resistomes from protein or nucleotide data, including metagenomics data,  based on homology and SNP models.">
            <a:extLst>
              <a:ext uri="{FF2B5EF4-FFF2-40B4-BE49-F238E27FC236}">
                <a16:creationId xmlns:a16="http://schemas.microsoft.com/office/drawing/2014/main" id="{AB3443B5-C3E3-607F-FFAB-7BB0E97E86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74"/>
          <a:stretch/>
        </p:blipFill>
        <p:spPr bwMode="auto">
          <a:xfrm>
            <a:off x="896229" y="896178"/>
            <a:ext cx="4529689" cy="2070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B2BDC7-5338-84C4-D3C7-CCEB3E594BAA}"/>
              </a:ext>
            </a:extLst>
          </p:cNvPr>
          <p:cNvSpPr txBox="1"/>
          <p:nvPr/>
        </p:nvSpPr>
        <p:spPr>
          <a:xfrm>
            <a:off x="1046922" y="30994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Corbel" panose="020B0503020204020204" pitchFamily="34" charset="0"/>
                <a:hlinkClick r:id="rId4"/>
              </a:rPr>
              <a:t>https://github.com/arpcard/rgi</a:t>
            </a:r>
            <a:r>
              <a:rPr lang="en-GB" dirty="0">
                <a:latin typeface="Corbel" panose="020B0503020204020204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1EFBC3-DF56-0BE7-E113-C9465622C9E5}"/>
              </a:ext>
            </a:extLst>
          </p:cNvPr>
          <p:cNvSpPr txBox="1"/>
          <p:nvPr/>
        </p:nvSpPr>
        <p:spPr>
          <a:xfrm>
            <a:off x="5939967" y="31042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Corbel" panose="020B0503020204020204" pitchFamily="34" charset="0"/>
                <a:hlinkClick r:id="rId5"/>
              </a:rPr>
              <a:t>https://github.com/ncbi/amr</a:t>
            </a:r>
            <a:r>
              <a:rPr lang="en-GB" dirty="0">
                <a:latin typeface="Corbel" panose="020B0503020204020204" pitchFamily="34" charset="0"/>
              </a:rPr>
              <a:t> (</a:t>
            </a:r>
            <a:r>
              <a:rPr lang="en-GB" dirty="0" err="1">
                <a:latin typeface="Corbel" panose="020B0503020204020204" pitchFamily="34" charset="0"/>
              </a:rPr>
              <a:t>AMRFinderPlus</a:t>
            </a:r>
            <a:r>
              <a:rPr lang="en-GB" dirty="0">
                <a:latin typeface="Corbel" panose="020B0503020204020204" pitchFamily="34" charset="0"/>
              </a:rPr>
              <a:t>)</a:t>
            </a:r>
          </a:p>
        </p:txBody>
      </p:sp>
      <p:pic>
        <p:nvPicPr>
          <p:cNvPr id="1028" name="Picture 4" descr="amr/amrfinder_update.cpp at master · ncbi/amr · GitHub">
            <a:extLst>
              <a:ext uri="{FF2B5EF4-FFF2-40B4-BE49-F238E27FC236}">
                <a16:creationId xmlns:a16="http://schemas.microsoft.com/office/drawing/2014/main" id="{1BAA54B8-4E3F-6B69-18FE-8B8DC2A914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14" b="6250"/>
          <a:stretch/>
        </p:blipFill>
        <p:spPr bwMode="auto">
          <a:xfrm>
            <a:off x="5966471" y="1045656"/>
            <a:ext cx="4529689" cy="2018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itHub - cadms/resfinder">
            <a:extLst>
              <a:ext uri="{FF2B5EF4-FFF2-40B4-BE49-F238E27FC236}">
                <a16:creationId xmlns:a16="http://schemas.microsoft.com/office/drawing/2014/main" id="{BD889916-1F52-4088-93A3-3563811875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42"/>
          <a:stretch/>
        </p:blipFill>
        <p:spPr bwMode="auto">
          <a:xfrm>
            <a:off x="908913" y="3633154"/>
            <a:ext cx="4285371" cy="197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EE29A46-C111-D77B-8219-FDDD838C9D3E}"/>
              </a:ext>
            </a:extLst>
          </p:cNvPr>
          <p:cNvSpPr txBox="1"/>
          <p:nvPr/>
        </p:nvSpPr>
        <p:spPr>
          <a:xfrm>
            <a:off x="993914" y="562767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Corbel" panose="020B0503020204020204" pitchFamily="34" charset="0"/>
                <a:hlinkClick r:id="rId8"/>
              </a:rPr>
              <a:t>https://github.com/cadms/resfinder</a:t>
            </a:r>
            <a:r>
              <a:rPr lang="en-GB" dirty="0">
                <a:latin typeface="Corbel" panose="020B0503020204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47920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955"/>
    </mc:Choice>
    <mc:Fallback xmlns="">
      <p:transition spd="slow" advTm="7095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311DD-C532-BDDA-BAE9-9F71B11BC829}"/>
              </a:ext>
            </a:extLst>
          </p:cNvPr>
          <p:cNvSpPr txBox="1">
            <a:spLocks/>
          </p:cNvSpPr>
          <p:nvPr/>
        </p:nvSpPr>
        <p:spPr>
          <a:xfrm>
            <a:off x="896229" y="43207"/>
            <a:ext cx="1055554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700" kern="1200" baseline="0">
                <a:solidFill>
                  <a:srgbClr val="000000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r>
              <a:rPr lang="en-GB" sz="2800" b="1" dirty="0">
                <a:latin typeface="Corbel" panose="020B0503020204020204" pitchFamily="34" charset="0"/>
              </a:rPr>
              <a:t>Outbreak strains genomes to analyse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0FF309-64EB-0073-0581-29EA7CE85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056" y="1172760"/>
            <a:ext cx="10697808" cy="411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969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955"/>
    </mc:Choice>
    <mc:Fallback xmlns="">
      <p:transition spd="slow" advTm="7095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8653E-4145-8233-F1A1-E52157B97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0922D-C774-8094-2144-C71DB3FFEEAB}"/>
              </a:ext>
            </a:extLst>
          </p:cNvPr>
          <p:cNvSpPr txBox="1">
            <a:spLocks/>
          </p:cNvSpPr>
          <p:nvPr/>
        </p:nvSpPr>
        <p:spPr>
          <a:xfrm>
            <a:off x="896229" y="43207"/>
            <a:ext cx="1055554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700" kern="1200" baseline="0">
                <a:solidFill>
                  <a:srgbClr val="000000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r>
              <a:rPr lang="en-GB" sz="2800" b="1" dirty="0">
                <a:latin typeface="Corbel" panose="020B0503020204020204" pitchFamily="34" charset="0"/>
              </a:rPr>
              <a:t>Outbreak strains genomes to analyse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A6638F-F05F-AF0C-D375-49E32556D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056" y="1172760"/>
            <a:ext cx="10697808" cy="41119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80AF24-21F5-D843-114D-0207A15000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016" r="1466"/>
          <a:stretch>
            <a:fillRect/>
          </a:stretch>
        </p:blipFill>
        <p:spPr>
          <a:xfrm>
            <a:off x="970056" y="3536577"/>
            <a:ext cx="10697808" cy="333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210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955"/>
    </mc:Choice>
    <mc:Fallback xmlns="">
      <p:transition spd="slow" advTm="7095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323049-DBD4-1468-8712-3848D3D87367}"/>
              </a:ext>
            </a:extLst>
          </p:cNvPr>
          <p:cNvSpPr txBox="1"/>
          <p:nvPr/>
        </p:nvSpPr>
        <p:spPr>
          <a:xfrm>
            <a:off x="447040" y="836638"/>
            <a:ext cx="116433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https://</a:t>
            </a:r>
            <a:r>
              <a:rPr lang="en-GB" sz="2800" dirty="0" err="1"/>
              <a:t>github.com</a:t>
            </a:r>
            <a:r>
              <a:rPr lang="en-GB" sz="2800" dirty="0"/>
              <a:t>/</a:t>
            </a:r>
            <a:r>
              <a:rPr lang="en-GB" sz="2800" dirty="0" err="1"/>
              <a:t>WCSCourses</a:t>
            </a:r>
            <a:r>
              <a:rPr lang="en-GB" sz="2800" dirty="0"/>
              <a:t>/AMR_2026/tree/main/course_modules_2026/</a:t>
            </a:r>
            <a:r>
              <a:rPr lang="en-GB" sz="2800" dirty="0" err="1"/>
              <a:t>Detecting_resistance</a:t>
            </a:r>
            <a:r>
              <a:rPr lang="en-GB" sz="2800" dirty="0"/>
              <a:t>/</a:t>
            </a:r>
            <a:endParaRPr lang="en-GB" sz="2800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D094AD-957F-0B9A-AA78-1BE7A0272D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664"/>
          <a:stretch>
            <a:fillRect/>
          </a:stretch>
        </p:blipFill>
        <p:spPr>
          <a:xfrm>
            <a:off x="527722" y="1888909"/>
            <a:ext cx="10327341" cy="4637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650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311DD-C532-BDDA-BAE9-9F71B11BC829}"/>
              </a:ext>
            </a:extLst>
          </p:cNvPr>
          <p:cNvSpPr txBox="1">
            <a:spLocks/>
          </p:cNvSpPr>
          <p:nvPr/>
        </p:nvSpPr>
        <p:spPr>
          <a:xfrm>
            <a:off x="896229" y="43207"/>
            <a:ext cx="1055554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700" kern="1200" baseline="0">
                <a:solidFill>
                  <a:srgbClr val="000000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r>
              <a:rPr lang="en-GB" sz="2800" b="1" dirty="0">
                <a:latin typeface="Corbel" panose="020B0503020204020204" pitchFamily="34" charset="0"/>
              </a:rPr>
              <a:t>When interpreting the results: link antibiotic to antibiotic class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A35F1010-2689-A52C-A762-F4E2C26EEC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359" t="15551" r="8781" b="9155"/>
          <a:stretch/>
        </p:blipFill>
        <p:spPr>
          <a:xfrm>
            <a:off x="954158" y="1046922"/>
            <a:ext cx="7633251" cy="52934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43B3DF-DAC1-828C-1DEB-7EDD3C420974}"/>
              </a:ext>
            </a:extLst>
          </p:cNvPr>
          <p:cNvSpPr txBox="1"/>
          <p:nvPr/>
        </p:nvSpPr>
        <p:spPr>
          <a:xfrm>
            <a:off x="896229" y="63596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https://</a:t>
            </a:r>
            <a:r>
              <a:rPr lang="en-GB" dirty="0" err="1"/>
              <a:t>en.wikipedia.org</a:t>
            </a:r>
            <a:r>
              <a:rPr lang="en-GB" dirty="0"/>
              <a:t>/wiki/Ciprofloxacin</a:t>
            </a:r>
          </a:p>
        </p:txBody>
      </p:sp>
    </p:spTree>
    <p:extLst>
      <p:ext uri="{BB962C8B-B14F-4D97-AF65-F5344CB8AC3E}">
        <p14:creationId xmlns:p14="http://schemas.microsoft.com/office/powerpoint/2010/main" val="3323246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955"/>
    </mc:Choice>
    <mc:Fallback xmlns="">
      <p:transition spd="slow" advTm="70955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343</Words>
  <Application>Microsoft Macintosh PowerPoint</Application>
  <PresentationFormat>Widescreen</PresentationFormat>
  <Paragraphs>85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</vt:lpstr>
      <vt:lpstr>Calibri</vt:lpstr>
      <vt:lpstr>Calibri Light</vt:lpstr>
      <vt:lpstr>Constantia</vt:lpstr>
      <vt:lpstr>Corbel</vt:lpstr>
      <vt:lpstr>Geo</vt:lpstr>
      <vt:lpstr>Georgia</vt:lpstr>
      <vt:lpstr>Georgia 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Francesc Coll I Cerezo</dc:creator>
  <cp:lastModifiedBy>Francesc Coll</cp:lastModifiedBy>
  <cp:revision>21</cp:revision>
  <dcterms:created xsi:type="dcterms:W3CDTF">2023-02-20T22:32:14Z</dcterms:created>
  <dcterms:modified xsi:type="dcterms:W3CDTF">2026-03-10T06:38:22Z</dcterms:modified>
</cp:coreProperties>
</file>